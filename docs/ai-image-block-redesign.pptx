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71" r:id="rId3"/>
    <p:sldId id="257" r:id="rId4"/>
    <p:sldId id="258" r:id="rId5"/>
    <p:sldId id="259" r:id="rId6"/>
    <p:sldId id="270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FAA424D-5B58-0045-911B-D344DE47C9EF}" v="14" dt="2026-08-21T08:56:34.64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6301"/>
  </p:normalViewPr>
  <p:slideViewPr>
    <p:cSldViewPr snapToGrid="0" snapToObjects="1">
      <p:cViewPr varScale="1">
        <p:scale>
          <a:sx n="127" d="100"/>
          <a:sy n="127" d="100"/>
        </p:scale>
        <p:origin x="53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ranck Sevin" userId="82d950c0-7bb5-4310-a4fc-a877d4bbe588" providerId="ADAL" clId="{EB9E244D-3F8B-59DF-801C-03BB392BC6F1}"/>
    <pc:docChg chg="custSel addSld modSld">
      <pc:chgData name="Franck Sevin" userId="82d950c0-7bb5-4310-a4fc-a877d4bbe588" providerId="ADAL" clId="{EB9E244D-3F8B-59DF-801C-03BB392BC6F1}" dt="2026-08-21T08:56:44.603" v="185" actId="113"/>
      <pc:docMkLst>
        <pc:docMk/>
      </pc:docMkLst>
      <pc:sldChg chg="modSp mod">
        <pc:chgData name="Franck Sevin" userId="82d950c0-7bb5-4310-a4fc-a877d4bbe588" providerId="ADAL" clId="{EB9E244D-3F8B-59DF-801C-03BB392BC6F1}" dt="2026-08-21T08:51:18.407" v="6" actId="27636"/>
        <pc:sldMkLst>
          <pc:docMk/>
          <pc:sldMk cId="0" sldId="264"/>
        </pc:sldMkLst>
        <pc:spChg chg="mod">
          <ac:chgData name="Franck Sevin" userId="82d950c0-7bb5-4310-a4fc-a877d4bbe588" providerId="ADAL" clId="{EB9E244D-3F8B-59DF-801C-03BB392BC6F1}" dt="2026-08-21T08:51:18.407" v="6" actId="27636"/>
          <ac:spMkLst>
            <pc:docMk/>
            <pc:sldMk cId="0" sldId="264"/>
            <ac:spMk id="39" creationId="{00000000-0000-0000-0000-000000000000}"/>
          </ac:spMkLst>
        </pc:spChg>
      </pc:sldChg>
      <pc:sldChg chg="modSp mod">
        <pc:chgData name="Franck Sevin" userId="82d950c0-7bb5-4310-a4fc-a877d4bbe588" providerId="ADAL" clId="{EB9E244D-3F8B-59DF-801C-03BB392BC6F1}" dt="2026-08-21T08:51:18.410" v="7" actId="27636"/>
        <pc:sldMkLst>
          <pc:docMk/>
          <pc:sldMk cId="0" sldId="266"/>
        </pc:sldMkLst>
        <pc:spChg chg="mod">
          <ac:chgData name="Franck Sevin" userId="82d950c0-7bb5-4310-a4fc-a877d4bbe588" providerId="ADAL" clId="{EB9E244D-3F8B-59DF-801C-03BB392BC6F1}" dt="2026-08-21T08:51:18.410" v="7" actId="27636"/>
          <ac:spMkLst>
            <pc:docMk/>
            <pc:sldMk cId="0" sldId="266"/>
            <ac:spMk id="25" creationId="{00000000-0000-0000-0000-000000000000}"/>
          </ac:spMkLst>
        </pc:spChg>
      </pc:sldChg>
      <pc:sldChg chg="modSp mod">
        <pc:chgData name="Franck Sevin" userId="82d950c0-7bb5-4310-a4fc-a877d4bbe588" providerId="ADAL" clId="{EB9E244D-3F8B-59DF-801C-03BB392BC6F1}" dt="2026-08-21T08:51:18.413" v="8" actId="27636"/>
        <pc:sldMkLst>
          <pc:docMk/>
          <pc:sldMk cId="0" sldId="267"/>
        </pc:sldMkLst>
        <pc:spChg chg="mod">
          <ac:chgData name="Franck Sevin" userId="82d950c0-7bb5-4310-a4fc-a877d4bbe588" providerId="ADAL" clId="{EB9E244D-3F8B-59DF-801C-03BB392BC6F1}" dt="2026-08-21T08:51:18.413" v="8" actId="27636"/>
          <ac:spMkLst>
            <pc:docMk/>
            <pc:sldMk cId="0" sldId="267"/>
            <ac:spMk id="23" creationId="{00000000-0000-0000-0000-000000000000}"/>
          </ac:spMkLst>
        </pc:spChg>
      </pc:sldChg>
      <pc:sldChg chg="addSp modSp new mod">
        <pc:chgData name="Franck Sevin" userId="82d950c0-7bb5-4310-a4fc-a877d4bbe588" providerId="ADAL" clId="{EB9E244D-3F8B-59DF-801C-03BB392BC6F1}" dt="2026-08-20T06:48:59.223" v="3" actId="14100"/>
        <pc:sldMkLst>
          <pc:docMk/>
          <pc:sldMk cId="3686168367" sldId="270"/>
        </pc:sldMkLst>
        <pc:picChg chg="add mod">
          <ac:chgData name="Franck Sevin" userId="82d950c0-7bb5-4310-a4fc-a877d4bbe588" providerId="ADAL" clId="{EB9E244D-3F8B-59DF-801C-03BB392BC6F1}" dt="2026-08-20T06:48:59.223" v="3" actId="14100"/>
          <ac:picMkLst>
            <pc:docMk/>
            <pc:sldMk cId="3686168367" sldId="270"/>
            <ac:picMk id="3" creationId="{A1593456-1BD8-554C-DC28-4E0A73111263}"/>
          </ac:picMkLst>
        </pc:picChg>
      </pc:sldChg>
      <pc:sldChg chg="addSp modSp new mod">
        <pc:chgData name="Franck Sevin" userId="82d950c0-7bb5-4310-a4fc-a877d4bbe588" providerId="ADAL" clId="{EB9E244D-3F8B-59DF-801C-03BB392BC6F1}" dt="2026-08-21T08:56:44.603" v="185" actId="113"/>
        <pc:sldMkLst>
          <pc:docMk/>
          <pc:sldMk cId="3244134365" sldId="271"/>
        </pc:sldMkLst>
        <pc:spChg chg="add mod">
          <ac:chgData name="Franck Sevin" userId="82d950c0-7bb5-4310-a4fc-a877d4bbe588" providerId="ADAL" clId="{EB9E244D-3F8B-59DF-801C-03BB392BC6F1}" dt="2026-08-21T08:56:44.603" v="185" actId="113"/>
          <ac:spMkLst>
            <pc:docMk/>
            <pc:sldMk cId="3244134365" sldId="271"/>
            <ac:spMk id="2" creationId="{FD09D4F8-A76C-4BDB-6BE3-D3AF82BB11AE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031339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svg"/><Relationship Id="rId5" Type="http://schemas.openxmlformats.org/officeDocument/2006/relationships/image" Target="../media/image3.svg"/><Relationship Id="rId4" Type="http://schemas.openxmlformats.org/officeDocument/2006/relationships/image" Target="../media/image2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author-p42808-e1367915.adobeaemcloud.com/ui#/aem/" TargetMode="External"/><Relationship Id="rId7" Type="http://schemas.openxmlformats.org/officeDocument/2006/relationships/hyperlink" Target="https://main--myeds-xwalk--fsevin.aem.live/demo-tn" TargetMode="External"/><Relationship Id="rId2" Type="http://schemas.openxmlformats.org/officeDocument/2006/relationships/hyperlink" Target="https://experience.adobe.com/#/@emeaaem/cloud-manager/home.html/program/42808" TargetMode="Externa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dash.cloudflare.com/0579dbc1b9f0cdcaef70870e5c585897/workers/services/view/myeds-xwalk-api/production" TargetMode="External"/><Relationship Id="rId5" Type="http://schemas.openxmlformats.org/officeDocument/2006/relationships/hyperlink" Target="https://developer.adobe.com/console/projects/916550/4566206088345730291/overview" TargetMode="External"/><Relationship Id="rId4" Type="http://schemas.openxmlformats.org/officeDocument/2006/relationships/hyperlink" Target="https://github.com/fsevin/myeds-xwalk" TargetMode="Externa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7" Type="http://schemas.openxmlformats.org/officeDocument/2006/relationships/image" Target="../media/image11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svg"/><Relationship Id="rId5" Type="http://schemas.openxmlformats.org/officeDocument/2006/relationships/image" Target="../media/image9.svg"/><Relationship Id="rId4" Type="http://schemas.openxmlformats.org/officeDocument/2006/relationships/image" Target="../media/image8.sv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7.svg"/><Relationship Id="rId4" Type="http://schemas.openxmlformats.org/officeDocument/2006/relationships/image" Target="../media/image2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49808" y="667512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Adobe Experience Manager</a:t>
            </a:r>
            <a:endParaRPr lang="en-US" sz="1400" dirty="0"/>
          </a:p>
        </p:txBody>
      </p:sp>
      <p:sp>
        <p:nvSpPr>
          <p:cNvPr id="4" name="Text 1"/>
          <p:cNvSpPr/>
          <p:nvPr/>
        </p:nvSpPr>
        <p:spPr>
          <a:xfrm>
            <a:off x="749808" y="1783080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</a:rPr>
              <a:t>The ai-image Block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749808" y="2505456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0F0"/>
                </a:solidFill>
              </a:rPr>
              <a:t>Author-generated, DAM-persisted Firefly images in Universal Editor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749808" y="297180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E5E2"/>
                </a:solidFill>
              </a:rPr>
              <a:t>Illustrated redesign for an Adobe team share-out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749808" y="3456432"/>
            <a:ext cx="1280160" cy="27432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749808" y="3461004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1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Author once</a:t>
            </a:r>
            <a:endParaRPr lang="en-US" sz="850" dirty="0"/>
          </a:p>
        </p:txBody>
      </p:sp>
      <p:sp>
        <p:nvSpPr>
          <p:cNvPr id="9" name="Shape 6"/>
          <p:cNvSpPr/>
          <p:nvPr/>
        </p:nvSpPr>
        <p:spPr>
          <a:xfrm>
            <a:off x="2157984" y="3456432"/>
            <a:ext cx="1371600" cy="27432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2157984" y="346100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1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Persist in DAM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3657600" y="3456432"/>
            <a:ext cx="1691640" cy="27432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3657600" y="3461004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1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Render zero-API</a:t>
            </a:r>
            <a:endParaRPr lang="en-US" sz="850" dirty="0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229600" y="914400"/>
            <a:ext cx="1371600" cy="1371600"/>
          </a:xfrm>
          <a:prstGeom prst="rect">
            <a:avLst/>
          </a:prstGeom>
        </p:spPr>
      </p:pic>
      <p:pic>
        <p:nvPicPr>
          <p:cNvPr id="14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183880" y="2331720"/>
            <a:ext cx="2011680" cy="1280160"/>
          </a:xfrm>
          <a:prstGeom prst="rect">
            <a:avLst/>
          </a:prstGeom>
        </p:spPr>
      </p:pic>
      <p:pic>
        <p:nvPicPr>
          <p:cNvPr id="15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281160" y="4069080"/>
            <a:ext cx="1737360" cy="1234440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7178040" y="580644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FFFFFF"/>
                </a:solidFill>
              </a:rPr>
              <a:t>Designed to feel polished, visual, and ready to present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D09D4F8-A76C-4BDB-6BE3-D3AF82BB11AE}"/>
              </a:ext>
            </a:extLst>
          </p:cNvPr>
          <p:cNvSpPr txBox="1"/>
          <p:nvPr/>
        </p:nvSpPr>
        <p:spPr>
          <a:xfrm>
            <a:off x="150725" y="462225"/>
            <a:ext cx="12162304" cy="563231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Org </a:t>
            </a:r>
          </a:p>
          <a:p>
            <a:r>
              <a:rPr lang="en-US" b="1" dirty="0"/>
              <a:t>EMEA Consulting</a:t>
            </a:r>
          </a:p>
          <a:p>
            <a:endParaRPr lang="en-US" dirty="0"/>
          </a:p>
          <a:p>
            <a:r>
              <a:rPr lang="en-US" b="1" dirty="0"/>
              <a:t>Cloud Manager</a:t>
            </a:r>
          </a:p>
          <a:p>
            <a:r>
              <a:rPr lang="en-US" dirty="0">
                <a:hlinkClick r:id="rId2"/>
              </a:rPr>
              <a:t>https://experience.adobe.com/#/@emeaaem/cloud-manager/home.html/program/42808</a:t>
            </a:r>
            <a:endParaRPr lang="en-US" dirty="0"/>
          </a:p>
          <a:p>
            <a:endParaRPr lang="en-US" dirty="0"/>
          </a:p>
          <a:p>
            <a:r>
              <a:rPr lang="en-US" b="1" dirty="0" err="1"/>
              <a:t>AEMaaCS</a:t>
            </a:r>
            <a:r>
              <a:rPr lang="en-US" b="1" dirty="0"/>
              <a:t> Author Prod</a:t>
            </a:r>
          </a:p>
          <a:p>
            <a:r>
              <a:rPr lang="en-US" dirty="0">
                <a:hlinkClick r:id="rId3"/>
              </a:rPr>
              <a:t>https://author-p42808-e1367915.adobeaemcloud.com/ui#/aem/</a:t>
            </a:r>
            <a:endParaRPr lang="en-US" dirty="0"/>
          </a:p>
          <a:p>
            <a:endParaRPr lang="en-US" dirty="0"/>
          </a:p>
          <a:p>
            <a:r>
              <a:rPr lang="en-US" b="1" dirty="0"/>
              <a:t>Git Repo</a:t>
            </a:r>
          </a:p>
          <a:p>
            <a:r>
              <a:rPr lang="en-US" dirty="0">
                <a:hlinkClick r:id="rId4"/>
              </a:rPr>
              <a:t>https://github.com/fsevin/myeds-xwalk</a:t>
            </a:r>
            <a:r>
              <a:rPr lang="en-US" dirty="0"/>
              <a:t> </a:t>
            </a:r>
          </a:p>
          <a:p>
            <a:endParaRPr lang="en-US" dirty="0"/>
          </a:p>
          <a:p>
            <a:r>
              <a:rPr lang="en-US" b="1" dirty="0"/>
              <a:t>Console (Project 45)</a:t>
            </a:r>
          </a:p>
          <a:p>
            <a:r>
              <a:rPr lang="en-US" dirty="0">
                <a:hlinkClick r:id="rId5"/>
              </a:rPr>
              <a:t>https://developer.adobe.com/console/projects/916550/4566206088345730291/overview</a:t>
            </a:r>
            <a:endParaRPr lang="en-US" dirty="0"/>
          </a:p>
          <a:p>
            <a:endParaRPr lang="en-US" dirty="0"/>
          </a:p>
          <a:p>
            <a:r>
              <a:rPr lang="en-US" b="1" dirty="0" err="1"/>
              <a:t>CloudFlare</a:t>
            </a:r>
            <a:endParaRPr lang="en-US" b="1" dirty="0"/>
          </a:p>
          <a:p>
            <a:r>
              <a:rPr lang="en-US" dirty="0">
                <a:hlinkClick r:id="rId6"/>
              </a:rPr>
              <a:t>https://dash.cloudflare.com/0579dbc1b9f0cdcaef70870e5c585897/workers/services/view/myeds-xwalk-api/production</a:t>
            </a:r>
            <a:endParaRPr lang="en-US" dirty="0"/>
          </a:p>
          <a:p>
            <a:endParaRPr lang="en-US" dirty="0"/>
          </a:p>
          <a:p>
            <a:r>
              <a:rPr lang="en-US" b="1" dirty="0"/>
              <a:t>EDS Live</a:t>
            </a:r>
          </a:p>
          <a:p>
            <a:r>
              <a:rPr lang="en-US" dirty="0">
                <a:hlinkClick r:id="rId7"/>
              </a:rPr>
              <a:t>https://main--myeds-xwalk--fsevin.aem.live/demo-tn</a:t>
            </a:r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2441343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82880"/>
          </a:xfrm>
          <a:prstGeom prst="rect">
            <a:avLst/>
          </a:prstGeom>
          <a:solidFill>
            <a:srgbClr val="FF1500"/>
          </a:solidFill>
          <a:ln w="12700">
            <a:solidFill>
              <a:srgbClr val="FF15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11480" y="219456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1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Agenda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11480" y="676656"/>
            <a:ext cx="11155680" cy="0"/>
          </a:xfrm>
          <a:prstGeom prst="line">
            <a:avLst/>
          </a:prstGeom>
          <a:noFill/>
          <a:ln w="12700">
            <a:solidFill>
              <a:srgbClr val="D8D3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29768" y="749808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visual walkthrough of the ai-image block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411480" y="6419088"/>
            <a:ext cx="1920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Adobe Confidential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1475720" y="6345936"/>
            <a:ext cx="2743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A7A7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548640" y="1170432"/>
            <a:ext cx="3346704" cy="118872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12700">
            <a:solidFill>
              <a:srgbClr val="E4DFD8"/>
            </a:solidFill>
            <a:prstDash val="solid"/>
          </a:ln>
          <a:effectLst>
            <a:outerShdw blurRad="19050" dist="12700" dir="27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694944" y="1316736"/>
            <a:ext cx="384048" cy="384048"/>
          </a:xfrm>
          <a:prstGeom prst="ellipse">
            <a:avLst/>
          </a:prstGeom>
          <a:solidFill>
            <a:srgbClr val="FF1500"/>
          </a:solidFill>
          <a:ln w="12700">
            <a:solidFill>
              <a:srgbClr val="FF15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94944" y="1344168"/>
            <a:ext cx="3840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207008" y="13716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separate from Firefly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207008" y="1682496"/>
            <a:ext cx="2331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66666"/>
                </a:solidFill>
              </a:rPr>
              <a:t>Why separate from Firefly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2971800" y="1993392"/>
            <a:ext cx="749808" cy="219456"/>
          </a:xfrm>
          <a:prstGeom prst="roundRect">
            <a:avLst>
              <a:gd name="adj" fmla="val 33333"/>
            </a:avLst>
          </a:prstGeom>
          <a:solidFill>
            <a:srgbClr val="FF1500"/>
          </a:solidFill>
          <a:ln w="12700">
            <a:solidFill>
              <a:srgbClr val="FF15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2971800" y="1997964"/>
            <a:ext cx="7498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4361688" y="1170432"/>
            <a:ext cx="3346704" cy="118872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12700">
            <a:solidFill>
              <a:srgbClr val="E4DFD8"/>
            </a:solidFill>
            <a:prstDash val="solid"/>
          </a:ln>
          <a:effectLst>
            <a:outerShdw blurRad="19050" dist="12700" dir="27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4507992" y="1316736"/>
            <a:ext cx="384048" cy="384048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507992" y="1344168"/>
            <a:ext cx="3840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020056" y="13716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 overview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020056" y="1682496"/>
            <a:ext cx="2331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66666"/>
                </a:solidFill>
              </a:rPr>
              <a:t>Architecture overview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6784848" y="1993392"/>
            <a:ext cx="749808" cy="219456"/>
          </a:xfrm>
          <a:prstGeom prst="roundRect">
            <a:avLst>
              <a:gd name="adj" fmla="val 33333"/>
            </a:avLst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6784848" y="1997964"/>
            <a:ext cx="7498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750" dirty="0"/>
          </a:p>
        </p:txBody>
      </p:sp>
      <p:sp>
        <p:nvSpPr>
          <p:cNvPr id="22" name="Shape 20"/>
          <p:cNvSpPr/>
          <p:nvPr/>
        </p:nvSpPr>
        <p:spPr>
          <a:xfrm>
            <a:off x="8174736" y="1170432"/>
            <a:ext cx="3346704" cy="118872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12700">
            <a:solidFill>
              <a:srgbClr val="E4DFD8"/>
            </a:solidFill>
            <a:prstDash val="solid"/>
          </a:ln>
          <a:effectLst>
            <a:outerShdw blurRad="19050" dist="12700" dir="27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8321040" y="1316736"/>
            <a:ext cx="384048" cy="384048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8321040" y="1344168"/>
            <a:ext cx="3840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8833104" y="13716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Authoring model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8833104" y="1682496"/>
            <a:ext cx="2331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66666"/>
                </a:solidFill>
              </a:rPr>
              <a:t>Authoring model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10597896" y="1993392"/>
            <a:ext cx="749808" cy="219456"/>
          </a:xfrm>
          <a:prstGeom prst="roundRect">
            <a:avLst>
              <a:gd name="adj" fmla="val 33333"/>
            </a:avLst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10597896" y="1997964"/>
            <a:ext cx="7498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750" dirty="0"/>
          </a:p>
        </p:txBody>
      </p:sp>
      <p:sp>
        <p:nvSpPr>
          <p:cNvPr id="29" name="Shape 27"/>
          <p:cNvSpPr/>
          <p:nvPr/>
        </p:nvSpPr>
        <p:spPr>
          <a:xfrm>
            <a:off x="548640" y="2660904"/>
            <a:ext cx="3346704" cy="118872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12700">
            <a:solidFill>
              <a:srgbClr val="E4DFD8"/>
            </a:solidFill>
            <a:prstDash val="solid"/>
          </a:ln>
          <a:effectLst>
            <a:outerShdw blurRad="19050" dist="12700" dir="27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694944" y="2807208"/>
            <a:ext cx="384048" cy="384048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694944" y="2834640"/>
            <a:ext cx="3840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1207008" y="286207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Edge Worker byte streaming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1207008" y="3172968"/>
            <a:ext cx="2331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66666"/>
                </a:solidFill>
              </a:rPr>
              <a:t>Edge Worker byte streaming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2971800" y="3483864"/>
            <a:ext cx="749808" cy="219456"/>
          </a:xfrm>
          <a:prstGeom prst="roundRect">
            <a:avLst>
              <a:gd name="adj" fmla="val 33333"/>
            </a:avLst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2971800" y="3488436"/>
            <a:ext cx="7498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750" dirty="0"/>
          </a:p>
        </p:txBody>
      </p:sp>
      <p:sp>
        <p:nvSpPr>
          <p:cNvPr id="36" name="Shape 34"/>
          <p:cNvSpPr/>
          <p:nvPr/>
        </p:nvSpPr>
        <p:spPr>
          <a:xfrm>
            <a:off x="4361688" y="2660904"/>
            <a:ext cx="3346704" cy="118872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12700">
            <a:solidFill>
              <a:srgbClr val="E4DFD8"/>
            </a:solidFill>
            <a:prstDash val="solid"/>
          </a:ln>
          <a:effectLst>
            <a:outerShdw blurRad="19050" dist="12700" dir="27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4507992" y="2807208"/>
            <a:ext cx="384048" cy="38404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4507992" y="2834640"/>
            <a:ext cx="3840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5020056" y="286207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Universal Editor context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5020056" y="3172968"/>
            <a:ext cx="2331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66666"/>
                </a:solidFill>
              </a:rPr>
              <a:t>Universal Editor context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6784848" y="3483864"/>
            <a:ext cx="749808" cy="219456"/>
          </a:xfrm>
          <a:prstGeom prst="roundRect">
            <a:avLst>
              <a:gd name="adj" fmla="val 33333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6784848" y="3488436"/>
            <a:ext cx="7498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750" dirty="0"/>
          </a:p>
        </p:txBody>
      </p:sp>
      <p:sp>
        <p:nvSpPr>
          <p:cNvPr id="43" name="Shape 41"/>
          <p:cNvSpPr/>
          <p:nvPr/>
        </p:nvSpPr>
        <p:spPr>
          <a:xfrm>
            <a:off x="8174736" y="2660904"/>
            <a:ext cx="3346704" cy="118872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12700">
            <a:solidFill>
              <a:srgbClr val="E4DFD8"/>
            </a:solidFill>
            <a:prstDash val="solid"/>
          </a:ln>
          <a:effectLst>
            <a:outerShdw blurRad="19050" dist="12700" dir="27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4" name="Shape 42"/>
          <p:cNvSpPr/>
          <p:nvPr/>
        </p:nvSpPr>
        <p:spPr>
          <a:xfrm>
            <a:off x="8321040" y="2807208"/>
            <a:ext cx="384048" cy="38404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8321040" y="2834640"/>
            <a:ext cx="3840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8833104" y="286207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Auto-generate flow</a:t>
            </a:r>
            <a:endParaRPr lang="en-US" sz="1400" dirty="0"/>
          </a:p>
        </p:txBody>
      </p:sp>
      <p:sp>
        <p:nvSpPr>
          <p:cNvPr id="47" name="Text 45"/>
          <p:cNvSpPr/>
          <p:nvPr/>
        </p:nvSpPr>
        <p:spPr>
          <a:xfrm>
            <a:off x="8833104" y="3172968"/>
            <a:ext cx="2331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66666"/>
                </a:solidFill>
              </a:rPr>
              <a:t>Auto-generate flow</a:t>
            </a:r>
            <a:endParaRPr lang="en-US" sz="850" dirty="0"/>
          </a:p>
        </p:txBody>
      </p:sp>
      <p:sp>
        <p:nvSpPr>
          <p:cNvPr id="48" name="Shape 46"/>
          <p:cNvSpPr/>
          <p:nvPr/>
        </p:nvSpPr>
        <p:spPr>
          <a:xfrm>
            <a:off x="10597896" y="3483864"/>
            <a:ext cx="749808" cy="219456"/>
          </a:xfrm>
          <a:prstGeom prst="roundRect">
            <a:avLst>
              <a:gd name="adj" fmla="val 33333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47"/>
          <p:cNvSpPr/>
          <p:nvPr/>
        </p:nvSpPr>
        <p:spPr>
          <a:xfrm>
            <a:off x="10597896" y="3488436"/>
            <a:ext cx="7498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750" dirty="0"/>
          </a:p>
        </p:txBody>
      </p:sp>
      <p:sp>
        <p:nvSpPr>
          <p:cNvPr id="50" name="Shape 48"/>
          <p:cNvSpPr/>
          <p:nvPr/>
        </p:nvSpPr>
        <p:spPr>
          <a:xfrm>
            <a:off x="548640" y="4151376"/>
            <a:ext cx="3346704" cy="118872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12700">
            <a:solidFill>
              <a:srgbClr val="E4DFD8"/>
            </a:solidFill>
            <a:prstDash val="solid"/>
          </a:ln>
          <a:effectLst>
            <a:outerShdw blurRad="19050" dist="12700" dir="27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1" name="Shape 49"/>
          <p:cNvSpPr/>
          <p:nvPr/>
        </p:nvSpPr>
        <p:spPr>
          <a:xfrm>
            <a:off x="694944" y="4297680"/>
            <a:ext cx="384048" cy="384048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Text 50"/>
          <p:cNvSpPr/>
          <p:nvPr/>
        </p:nvSpPr>
        <p:spPr>
          <a:xfrm>
            <a:off x="694944" y="4325112"/>
            <a:ext cx="3840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100" dirty="0"/>
          </a:p>
        </p:txBody>
      </p:sp>
      <p:sp>
        <p:nvSpPr>
          <p:cNvPr id="53" name="Text 51"/>
          <p:cNvSpPr/>
          <p:nvPr/>
        </p:nvSpPr>
        <p:spPr>
          <a:xfrm>
            <a:off x="1207008" y="4352544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AEM DAM upload</a:t>
            </a:r>
            <a:endParaRPr lang="en-US" sz="1400" dirty="0"/>
          </a:p>
        </p:txBody>
      </p:sp>
      <p:sp>
        <p:nvSpPr>
          <p:cNvPr id="54" name="Text 52"/>
          <p:cNvSpPr/>
          <p:nvPr/>
        </p:nvSpPr>
        <p:spPr>
          <a:xfrm>
            <a:off x="1207008" y="4663440"/>
            <a:ext cx="2331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66666"/>
                </a:solidFill>
              </a:rPr>
              <a:t>AEM DAM upload</a:t>
            </a:r>
            <a:endParaRPr lang="en-US" sz="850" dirty="0"/>
          </a:p>
        </p:txBody>
      </p:sp>
      <p:sp>
        <p:nvSpPr>
          <p:cNvPr id="55" name="Shape 53"/>
          <p:cNvSpPr/>
          <p:nvPr/>
        </p:nvSpPr>
        <p:spPr>
          <a:xfrm>
            <a:off x="2971800" y="4974336"/>
            <a:ext cx="749808" cy="219456"/>
          </a:xfrm>
          <a:prstGeom prst="roundRect">
            <a:avLst>
              <a:gd name="adj" fmla="val 33333"/>
            </a:avLst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Text 54"/>
          <p:cNvSpPr/>
          <p:nvPr/>
        </p:nvSpPr>
        <p:spPr>
          <a:xfrm>
            <a:off x="2971800" y="4978908"/>
            <a:ext cx="7498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750" dirty="0"/>
          </a:p>
        </p:txBody>
      </p:sp>
      <p:sp>
        <p:nvSpPr>
          <p:cNvPr id="57" name="Shape 55"/>
          <p:cNvSpPr/>
          <p:nvPr/>
        </p:nvSpPr>
        <p:spPr>
          <a:xfrm>
            <a:off x="4361688" y="4151376"/>
            <a:ext cx="3346704" cy="118872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12700">
            <a:solidFill>
              <a:srgbClr val="E4DFD8"/>
            </a:solidFill>
            <a:prstDash val="solid"/>
          </a:ln>
          <a:effectLst>
            <a:outerShdw blurRad="19050" dist="12700" dir="27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8" name="Shape 56"/>
          <p:cNvSpPr/>
          <p:nvPr/>
        </p:nvSpPr>
        <p:spPr>
          <a:xfrm>
            <a:off x="4507992" y="4297680"/>
            <a:ext cx="384048" cy="384048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9" name="Text 57"/>
          <p:cNvSpPr/>
          <p:nvPr/>
        </p:nvSpPr>
        <p:spPr>
          <a:xfrm>
            <a:off x="4507992" y="4325112"/>
            <a:ext cx="3840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100" dirty="0"/>
          </a:p>
        </p:txBody>
      </p:sp>
      <p:sp>
        <p:nvSpPr>
          <p:cNvPr id="60" name="Text 58"/>
          <p:cNvSpPr/>
          <p:nvPr/>
        </p:nvSpPr>
        <p:spPr>
          <a:xfrm>
            <a:off x="5020056" y="4352544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Patch the content node</a:t>
            </a:r>
            <a:endParaRPr lang="en-US" sz="1400" dirty="0"/>
          </a:p>
        </p:txBody>
      </p:sp>
      <p:sp>
        <p:nvSpPr>
          <p:cNvPr id="61" name="Text 59"/>
          <p:cNvSpPr/>
          <p:nvPr/>
        </p:nvSpPr>
        <p:spPr>
          <a:xfrm>
            <a:off x="5020056" y="4663440"/>
            <a:ext cx="2331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66666"/>
                </a:solidFill>
              </a:rPr>
              <a:t>Patch the content node</a:t>
            </a:r>
            <a:endParaRPr lang="en-US" sz="850" dirty="0"/>
          </a:p>
        </p:txBody>
      </p:sp>
      <p:sp>
        <p:nvSpPr>
          <p:cNvPr id="62" name="Shape 60"/>
          <p:cNvSpPr/>
          <p:nvPr/>
        </p:nvSpPr>
        <p:spPr>
          <a:xfrm>
            <a:off x="6784848" y="4974336"/>
            <a:ext cx="749808" cy="219456"/>
          </a:xfrm>
          <a:prstGeom prst="roundRect">
            <a:avLst>
              <a:gd name="adj" fmla="val 33333"/>
            </a:avLst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3" name="Text 61"/>
          <p:cNvSpPr/>
          <p:nvPr/>
        </p:nvSpPr>
        <p:spPr>
          <a:xfrm>
            <a:off x="6784848" y="4978908"/>
            <a:ext cx="7498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750" dirty="0"/>
          </a:p>
        </p:txBody>
      </p:sp>
      <p:sp>
        <p:nvSpPr>
          <p:cNvPr id="64" name="Shape 62"/>
          <p:cNvSpPr/>
          <p:nvPr/>
        </p:nvSpPr>
        <p:spPr>
          <a:xfrm>
            <a:off x="8174736" y="4151376"/>
            <a:ext cx="3346704" cy="118872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12700">
            <a:solidFill>
              <a:srgbClr val="E4DFD8"/>
            </a:solidFill>
            <a:prstDash val="solid"/>
          </a:ln>
          <a:effectLst>
            <a:outerShdw blurRad="19050" dist="12700" dir="27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5" name="Shape 63"/>
          <p:cNvSpPr/>
          <p:nvPr/>
        </p:nvSpPr>
        <p:spPr>
          <a:xfrm>
            <a:off x="8321040" y="4297680"/>
            <a:ext cx="384048" cy="384048"/>
          </a:xfrm>
          <a:prstGeom prst="ellipse">
            <a:avLst/>
          </a:prstGeom>
          <a:solidFill>
            <a:srgbClr val="FF1500"/>
          </a:solidFill>
          <a:ln w="12700">
            <a:solidFill>
              <a:srgbClr val="FF15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6" name="Text 64"/>
          <p:cNvSpPr/>
          <p:nvPr/>
        </p:nvSpPr>
        <p:spPr>
          <a:xfrm>
            <a:off x="8321040" y="4325112"/>
            <a:ext cx="3840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100" dirty="0"/>
          </a:p>
        </p:txBody>
      </p:sp>
      <p:sp>
        <p:nvSpPr>
          <p:cNvPr id="67" name="Text 65"/>
          <p:cNvSpPr/>
          <p:nvPr/>
        </p:nvSpPr>
        <p:spPr>
          <a:xfrm>
            <a:off x="8833104" y="4352544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Bugs, status, best practices</a:t>
            </a:r>
            <a:endParaRPr lang="en-US" sz="1400" dirty="0"/>
          </a:p>
        </p:txBody>
      </p:sp>
      <p:sp>
        <p:nvSpPr>
          <p:cNvPr id="68" name="Text 66"/>
          <p:cNvSpPr/>
          <p:nvPr/>
        </p:nvSpPr>
        <p:spPr>
          <a:xfrm>
            <a:off x="8833104" y="4663440"/>
            <a:ext cx="2331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66666"/>
                </a:solidFill>
              </a:rPr>
              <a:t>Bugs, status, best practices</a:t>
            </a:r>
            <a:endParaRPr lang="en-US" sz="850" dirty="0"/>
          </a:p>
        </p:txBody>
      </p:sp>
      <p:sp>
        <p:nvSpPr>
          <p:cNvPr id="69" name="Shape 67"/>
          <p:cNvSpPr/>
          <p:nvPr/>
        </p:nvSpPr>
        <p:spPr>
          <a:xfrm>
            <a:off x="10597896" y="4974336"/>
            <a:ext cx="749808" cy="219456"/>
          </a:xfrm>
          <a:prstGeom prst="roundRect">
            <a:avLst>
              <a:gd name="adj" fmla="val 33333"/>
            </a:avLst>
          </a:prstGeom>
          <a:solidFill>
            <a:srgbClr val="FF1500"/>
          </a:solidFill>
          <a:ln w="12700">
            <a:solidFill>
              <a:srgbClr val="FF15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0" name="Text 68"/>
          <p:cNvSpPr/>
          <p:nvPr/>
        </p:nvSpPr>
        <p:spPr>
          <a:xfrm>
            <a:off x="10597896" y="4978908"/>
            <a:ext cx="7498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82880"/>
          </a:xfrm>
          <a:prstGeom prst="rect">
            <a:avLst/>
          </a:prstGeom>
          <a:solidFill>
            <a:srgbClr val="FF1500"/>
          </a:solidFill>
          <a:ln w="12700">
            <a:solidFill>
              <a:srgbClr val="FF15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11480" y="219456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1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a Separate Block From Firefly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11480" y="676656"/>
            <a:ext cx="11155680" cy="0"/>
          </a:xfrm>
          <a:prstGeom prst="line">
            <a:avLst/>
          </a:prstGeom>
          <a:noFill/>
          <a:ln w="12700">
            <a:solidFill>
              <a:srgbClr val="D8D3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29768" y="749808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Generate once in the editor, then render a persisted asset on every later view.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411480" y="6419088"/>
            <a:ext cx="1920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Adobe Confidential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1475720" y="6345936"/>
            <a:ext cx="2743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A7A7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502920" y="1051560"/>
            <a:ext cx="5440680" cy="4983480"/>
          </a:xfrm>
          <a:prstGeom prst="roundRect">
            <a:avLst>
              <a:gd name="adj" fmla="val 2202"/>
            </a:avLst>
          </a:prstGeom>
          <a:solidFill>
            <a:srgbClr val="FFF7F6"/>
          </a:solidFill>
          <a:ln w="12700">
            <a:solidFill>
              <a:srgbClr val="FFDED9"/>
            </a:solidFill>
            <a:prstDash val="solid"/>
          </a:ln>
          <a:effectLst>
            <a:outerShdw blurRad="19050" dist="12700" dir="27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6355080" y="1051560"/>
            <a:ext cx="5321808" cy="4983480"/>
          </a:xfrm>
          <a:prstGeom prst="roundRect">
            <a:avLst>
              <a:gd name="adj" fmla="val 2202"/>
            </a:avLst>
          </a:prstGeom>
          <a:solidFill>
            <a:srgbClr val="F8FBFF"/>
          </a:solidFill>
          <a:ln w="12700">
            <a:solidFill>
              <a:srgbClr val="DDE8FF"/>
            </a:solidFill>
            <a:prstDash val="solid"/>
          </a:ln>
          <a:effectLst>
            <a:outerShdw blurRad="19050" dist="12700" dir="27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777240" y="128016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1500"/>
                </a:solidFill>
              </a:rPr>
              <a:t>Original Firefly block</a:t>
            </a:r>
            <a:endParaRPr lang="en-US" sz="1600" dirty="0"/>
          </a:p>
        </p:txBody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49808" y="1673352"/>
            <a:ext cx="502920" cy="50292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1371600" y="1673352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20" b="1" dirty="0">
                <a:solidFill>
                  <a:srgbClr val="FF1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220" dirty="0"/>
          </a:p>
        </p:txBody>
      </p:sp>
      <p:sp>
        <p:nvSpPr>
          <p:cNvPr id="13" name="Text 10"/>
          <p:cNvSpPr/>
          <p:nvPr/>
        </p:nvSpPr>
        <p:spPr>
          <a:xfrm>
            <a:off x="1572768" y="1664208"/>
            <a:ext cx="3913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20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Calls Firefly on every render</a:t>
            </a:r>
            <a:endParaRPr lang="en-US" sz="1120" dirty="0"/>
          </a:p>
        </p:txBody>
      </p:sp>
      <p:sp>
        <p:nvSpPr>
          <p:cNvPr id="14" name="Text 11"/>
          <p:cNvSpPr/>
          <p:nvPr/>
        </p:nvSpPr>
        <p:spPr>
          <a:xfrm>
            <a:off x="1371600" y="2331720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20" b="1" dirty="0">
                <a:solidFill>
                  <a:srgbClr val="FF1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220" dirty="0"/>
          </a:p>
        </p:txBody>
      </p:sp>
      <p:sp>
        <p:nvSpPr>
          <p:cNvPr id="15" name="Text 12"/>
          <p:cNvSpPr/>
          <p:nvPr/>
        </p:nvSpPr>
        <p:spPr>
          <a:xfrm>
            <a:off x="1572768" y="2322576"/>
            <a:ext cx="3913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20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Consumes a credit per page view</a:t>
            </a:r>
            <a:endParaRPr lang="en-US" sz="1120" dirty="0"/>
          </a:p>
        </p:txBody>
      </p:sp>
      <p:sp>
        <p:nvSpPr>
          <p:cNvPr id="16" name="Text 13"/>
          <p:cNvSpPr/>
          <p:nvPr/>
        </p:nvSpPr>
        <p:spPr>
          <a:xfrm>
            <a:off x="1371600" y="2990088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20" b="1" dirty="0">
                <a:solidFill>
                  <a:srgbClr val="FF1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220" dirty="0"/>
          </a:p>
        </p:txBody>
      </p:sp>
      <p:sp>
        <p:nvSpPr>
          <p:cNvPr id="17" name="Text 14"/>
          <p:cNvSpPr/>
          <p:nvPr/>
        </p:nvSpPr>
        <p:spPr>
          <a:xfrm>
            <a:off x="1572768" y="2980944"/>
            <a:ext cx="3913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20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Produces a different image each time</a:t>
            </a:r>
            <a:endParaRPr lang="en-US" sz="1120" dirty="0"/>
          </a:p>
        </p:txBody>
      </p:sp>
      <p:sp>
        <p:nvSpPr>
          <p:cNvPr id="18" name="Text 15"/>
          <p:cNvSpPr/>
          <p:nvPr/>
        </p:nvSpPr>
        <p:spPr>
          <a:xfrm>
            <a:off x="1371600" y="3648456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20" b="1" dirty="0">
                <a:solidFill>
                  <a:srgbClr val="FF1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220" dirty="0"/>
          </a:p>
        </p:txBody>
      </p:sp>
      <p:sp>
        <p:nvSpPr>
          <p:cNvPr id="19" name="Text 16"/>
          <p:cNvSpPr/>
          <p:nvPr/>
        </p:nvSpPr>
        <p:spPr>
          <a:xfrm>
            <a:off x="1572768" y="3639312"/>
            <a:ext cx="3913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20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Returns a presigned S3 URL that expires quickly</a:t>
            </a:r>
            <a:endParaRPr lang="en-US" sz="1120" dirty="0"/>
          </a:p>
        </p:txBody>
      </p:sp>
      <p:sp>
        <p:nvSpPr>
          <p:cNvPr id="20" name="Text 17"/>
          <p:cNvSpPr/>
          <p:nvPr/>
        </p:nvSpPr>
        <p:spPr>
          <a:xfrm>
            <a:off x="6629400" y="128016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B82F6"/>
                </a:solidFill>
              </a:rPr>
              <a:t>ai-image block</a:t>
            </a:r>
            <a:endParaRPr lang="en-US" sz="1600" dirty="0"/>
          </a:p>
        </p:txBody>
      </p:sp>
      <p:pic>
        <p:nvPicPr>
          <p:cNvPr id="21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01968" y="1673352"/>
            <a:ext cx="502920" cy="502920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7223760" y="1673352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20" b="1" dirty="0">
                <a:solidFill>
                  <a:srgbClr val="FF1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220" dirty="0"/>
          </a:p>
        </p:txBody>
      </p:sp>
      <p:sp>
        <p:nvSpPr>
          <p:cNvPr id="23" name="Text 19"/>
          <p:cNvSpPr/>
          <p:nvPr/>
        </p:nvSpPr>
        <p:spPr>
          <a:xfrm>
            <a:off x="7424928" y="1664208"/>
            <a:ext cx="38221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20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Generates once in Universal Editor</a:t>
            </a:r>
            <a:endParaRPr lang="en-US" sz="1120" dirty="0"/>
          </a:p>
        </p:txBody>
      </p:sp>
      <p:sp>
        <p:nvSpPr>
          <p:cNvPr id="24" name="Text 20"/>
          <p:cNvSpPr/>
          <p:nvPr/>
        </p:nvSpPr>
        <p:spPr>
          <a:xfrm>
            <a:off x="7223760" y="2331720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20" b="1" dirty="0">
                <a:solidFill>
                  <a:srgbClr val="FF1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220" dirty="0"/>
          </a:p>
        </p:txBody>
      </p:sp>
      <p:sp>
        <p:nvSpPr>
          <p:cNvPr id="25" name="Text 21"/>
          <p:cNvSpPr/>
          <p:nvPr/>
        </p:nvSpPr>
        <p:spPr>
          <a:xfrm>
            <a:off x="7424928" y="2322576"/>
            <a:ext cx="38221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20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Persists the result as a real AEM DAM asset</a:t>
            </a:r>
            <a:endParaRPr lang="en-US" sz="1120" dirty="0"/>
          </a:p>
        </p:txBody>
      </p:sp>
      <p:sp>
        <p:nvSpPr>
          <p:cNvPr id="26" name="Text 22"/>
          <p:cNvSpPr/>
          <p:nvPr/>
        </p:nvSpPr>
        <p:spPr>
          <a:xfrm>
            <a:off x="7223760" y="2990088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20" b="1" dirty="0">
                <a:solidFill>
                  <a:srgbClr val="FF1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220" dirty="0"/>
          </a:p>
        </p:txBody>
      </p:sp>
      <p:sp>
        <p:nvSpPr>
          <p:cNvPr id="27" name="Text 23"/>
          <p:cNvSpPr/>
          <p:nvPr/>
        </p:nvSpPr>
        <p:spPr>
          <a:xfrm>
            <a:off x="7424928" y="2980944"/>
            <a:ext cx="38221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20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Published pages render the stored asset with zero API calls</a:t>
            </a:r>
            <a:endParaRPr lang="en-US" sz="1120" dirty="0"/>
          </a:p>
        </p:txBody>
      </p:sp>
      <p:sp>
        <p:nvSpPr>
          <p:cNvPr id="28" name="Text 24"/>
          <p:cNvSpPr/>
          <p:nvPr/>
        </p:nvSpPr>
        <p:spPr>
          <a:xfrm>
            <a:off x="7223760" y="3648456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20" b="1" dirty="0">
                <a:solidFill>
                  <a:srgbClr val="FF1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220" dirty="0"/>
          </a:p>
        </p:txBody>
      </p:sp>
      <p:sp>
        <p:nvSpPr>
          <p:cNvPr id="29" name="Text 25"/>
          <p:cNvSpPr/>
          <p:nvPr/>
        </p:nvSpPr>
        <p:spPr>
          <a:xfrm>
            <a:off x="7424928" y="3639312"/>
            <a:ext cx="38221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20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Keeps the original Firefly block untouched</a:t>
            </a:r>
            <a:endParaRPr lang="en-US" sz="1120" dirty="0"/>
          </a:p>
        </p:txBody>
      </p:sp>
      <p:sp>
        <p:nvSpPr>
          <p:cNvPr id="30" name="Shape 26"/>
          <p:cNvSpPr/>
          <p:nvPr/>
        </p:nvSpPr>
        <p:spPr>
          <a:xfrm>
            <a:off x="5760720" y="2962656"/>
            <a:ext cx="365760" cy="384048"/>
          </a:xfrm>
          <a:prstGeom prst="chevron">
            <a:avLst/>
          </a:prstGeom>
          <a:solidFill>
            <a:srgbClr val="FF1500">
              <a:alpha val="85000"/>
            </a:srgbClr>
          </a:solidFill>
          <a:ln w="12700">
            <a:solidFill>
              <a:srgbClr val="FF15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7"/>
          <p:cNvSpPr/>
          <p:nvPr/>
        </p:nvSpPr>
        <p:spPr>
          <a:xfrm>
            <a:off x="5120640" y="3767328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1500"/>
                </a:solidFill>
              </a:rPr>
              <a:t>Persist once</a:t>
            </a:r>
            <a:endParaRPr lang="en-US" sz="1050" dirty="0"/>
          </a:p>
        </p:txBody>
      </p:sp>
      <p:sp>
        <p:nvSpPr>
          <p:cNvPr id="32" name="Text 28"/>
          <p:cNvSpPr/>
          <p:nvPr/>
        </p:nvSpPr>
        <p:spPr>
          <a:xfrm>
            <a:off x="5074920" y="4005072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3B82F6"/>
                </a:solidFill>
              </a:rPr>
              <a:t>render many</a:t>
            </a:r>
            <a:endParaRPr lang="en-US" sz="1050" dirty="0"/>
          </a:p>
        </p:txBody>
      </p:sp>
      <p:sp>
        <p:nvSpPr>
          <p:cNvPr id="33" name="Shape 29"/>
          <p:cNvSpPr/>
          <p:nvPr/>
        </p:nvSpPr>
        <p:spPr>
          <a:xfrm>
            <a:off x="868680" y="5349240"/>
            <a:ext cx="10287000" cy="0"/>
          </a:xfrm>
          <a:prstGeom prst="line">
            <a:avLst/>
          </a:prstGeom>
          <a:noFill/>
          <a:ln w="12700">
            <a:solidFill>
              <a:srgbClr val="E7E1D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0"/>
          <p:cNvSpPr/>
          <p:nvPr/>
        </p:nvSpPr>
        <p:spPr>
          <a:xfrm>
            <a:off x="777240" y="5532120"/>
            <a:ext cx="10058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66666"/>
                </a:solidFill>
              </a:rPr>
              <a:t>A new folder keeps the existing Firefly block unchanged while this version stores assets inside DAM.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82880"/>
          </a:xfrm>
          <a:prstGeom prst="rect">
            <a:avLst/>
          </a:prstGeom>
          <a:solidFill>
            <a:srgbClr val="FF1500"/>
          </a:solidFill>
          <a:ln w="12700">
            <a:solidFill>
              <a:srgbClr val="FF15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11480" y="219456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1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 Overview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11480" y="676656"/>
            <a:ext cx="11155680" cy="0"/>
          </a:xfrm>
          <a:prstGeom prst="line">
            <a:avLst/>
          </a:prstGeom>
          <a:noFill/>
          <a:ln w="12700">
            <a:solidFill>
              <a:srgbClr val="D8D3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29768" y="749808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request path is short: authoring -&gt; byte stream -&gt; preview -&gt; DAM upload -&gt; persisted render.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411480" y="6419088"/>
            <a:ext cx="1920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Adobe Confidential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1475720" y="6345936"/>
            <a:ext cx="2743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A7A7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457200" y="1115568"/>
            <a:ext cx="11292840" cy="5102352"/>
          </a:xfrm>
          <a:prstGeom prst="roundRect">
            <a:avLst>
              <a:gd name="adj" fmla="val 2151"/>
            </a:avLst>
          </a:prstGeom>
          <a:solidFill>
            <a:srgbClr val="FFFFFF"/>
          </a:solidFill>
          <a:ln w="12700">
            <a:solidFill>
              <a:srgbClr val="E4DFD8"/>
            </a:solidFill>
            <a:prstDash val="solid"/>
          </a:ln>
          <a:effectLst>
            <a:outerShdw blurRad="19050" dist="12700" dir="27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868680" y="1901952"/>
            <a:ext cx="1078992" cy="1225296"/>
          </a:xfrm>
          <a:prstGeom prst="roundRect">
            <a:avLst>
              <a:gd name="adj" fmla="val 10169"/>
            </a:avLst>
          </a:prstGeom>
          <a:solidFill>
            <a:srgbClr val="FFF9F8"/>
          </a:solidFill>
          <a:ln w="12700">
            <a:solidFill>
              <a:srgbClr val="FFD9D4"/>
            </a:solidFill>
            <a:prstDash val="solid"/>
          </a:ln>
          <a:effectLst>
            <a:outerShdw blurRad="19050" dist="12700" dir="27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1216152" y="2039112"/>
            <a:ext cx="384048" cy="384048"/>
          </a:xfrm>
          <a:prstGeom prst="ellipse">
            <a:avLst/>
          </a:prstGeom>
          <a:solidFill>
            <a:srgbClr val="FF1500"/>
          </a:solidFill>
          <a:ln w="12700">
            <a:solidFill>
              <a:srgbClr val="FF15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1216152" y="2066544"/>
            <a:ext cx="3840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978408" y="2487168"/>
            <a:ext cx="8595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C1C1E"/>
                </a:solidFill>
              </a:rPr>
              <a:t>Author types prompt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2423160" y="1901952"/>
            <a:ext cx="1078992" cy="1225296"/>
          </a:xfrm>
          <a:prstGeom prst="roundRect">
            <a:avLst>
              <a:gd name="adj" fmla="val 10169"/>
            </a:avLst>
          </a:prstGeom>
          <a:solidFill>
            <a:srgbClr val="F7FBFF"/>
          </a:solidFill>
          <a:ln w="12700">
            <a:solidFill>
              <a:srgbClr val="DDE8FF"/>
            </a:solidFill>
            <a:prstDash val="solid"/>
          </a:ln>
          <a:effectLst>
            <a:outerShdw blurRad="19050" dist="12700" dir="27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2770632" y="2039112"/>
            <a:ext cx="384048" cy="384048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2770632" y="2066544"/>
            <a:ext cx="3840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532888" y="2487168"/>
            <a:ext cx="8595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C1C1E"/>
                </a:solidFill>
              </a:rPr>
              <a:t>ai-image.js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977640" y="1901952"/>
            <a:ext cx="1078992" cy="1225296"/>
          </a:xfrm>
          <a:prstGeom prst="roundRect">
            <a:avLst>
              <a:gd name="adj" fmla="val 10169"/>
            </a:avLst>
          </a:prstGeom>
          <a:solidFill>
            <a:srgbClr val="FFF9F8"/>
          </a:solidFill>
          <a:ln w="12700">
            <a:solidFill>
              <a:srgbClr val="FFD9D4"/>
            </a:solidFill>
            <a:prstDash val="solid"/>
          </a:ln>
          <a:effectLst>
            <a:outerShdw blurRad="19050" dist="12700" dir="27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4325112" y="2039112"/>
            <a:ext cx="384048" cy="384048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325112" y="2066544"/>
            <a:ext cx="3840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087368" y="2487168"/>
            <a:ext cx="8595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C1C1E"/>
                </a:solidFill>
              </a:rPr>
              <a:t>Edge Worker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5532120" y="1901952"/>
            <a:ext cx="1078992" cy="1225296"/>
          </a:xfrm>
          <a:prstGeom prst="roundRect">
            <a:avLst>
              <a:gd name="adj" fmla="val 10169"/>
            </a:avLst>
          </a:prstGeom>
          <a:solidFill>
            <a:srgbClr val="F7FBFF"/>
          </a:solidFill>
          <a:ln w="12700">
            <a:solidFill>
              <a:srgbClr val="DDE8FF"/>
            </a:solidFill>
            <a:prstDash val="solid"/>
          </a:ln>
          <a:effectLst>
            <a:outerShdw blurRad="19050" dist="12700" dir="27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5879592" y="2039112"/>
            <a:ext cx="384048" cy="38404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5879592" y="2066544"/>
            <a:ext cx="3840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641848" y="2487168"/>
            <a:ext cx="8595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C1C1E"/>
                </a:solidFill>
              </a:rPr>
              <a:t>Inline preview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7086600" y="1901952"/>
            <a:ext cx="1078992" cy="1225296"/>
          </a:xfrm>
          <a:prstGeom prst="roundRect">
            <a:avLst>
              <a:gd name="adj" fmla="val 10169"/>
            </a:avLst>
          </a:prstGeom>
          <a:solidFill>
            <a:srgbClr val="FFF9F8"/>
          </a:solidFill>
          <a:ln w="12700">
            <a:solidFill>
              <a:srgbClr val="FFD9D4"/>
            </a:solidFill>
            <a:prstDash val="solid"/>
          </a:ln>
          <a:effectLst>
            <a:outerShdw blurRad="19050" dist="12700" dir="27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7434072" y="2039112"/>
            <a:ext cx="384048" cy="384048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7434072" y="2066544"/>
            <a:ext cx="3840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7196328" y="2487168"/>
            <a:ext cx="8595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C1C1E"/>
                </a:solidFill>
              </a:rPr>
              <a:t>DAM upload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8641080" y="1901952"/>
            <a:ext cx="1078992" cy="1225296"/>
          </a:xfrm>
          <a:prstGeom prst="roundRect">
            <a:avLst>
              <a:gd name="adj" fmla="val 10169"/>
            </a:avLst>
          </a:prstGeom>
          <a:solidFill>
            <a:srgbClr val="F7FBFF"/>
          </a:solidFill>
          <a:ln w="12700">
            <a:solidFill>
              <a:srgbClr val="DDE8FF"/>
            </a:solidFill>
            <a:prstDash val="solid"/>
          </a:ln>
          <a:effectLst>
            <a:outerShdw blurRad="19050" dist="12700" dir="27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8988552" y="2039112"/>
            <a:ext cx="384048" cy="38404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8988552" y="2066544"/>
            <a:ext cx="3840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8750808" y="2487168"/>
            <a:ext cx="8595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C1C1E"/>
                </a:solidFill>
              </a:rPr>
              <a:t>Patch block node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10195560" y="1901952"/>
            <a:ext cx="1078992" cy="1225296"/>
          </a:xfrm>
          <a:prstGeom prst="roundRect">
            <a:avLst>
              <a:gd name="adj" fmla="val 10169"/>
            </a:avLst>
          </a:prstGeom>
          <a:solidFill>
            <a:srgbClr val="FFF9F8"/>
          </a:solidFill>
          <a:ln w="12700">
            <a:solidFill>
              <a:srgbClr val="FFD9D4"/>
            </a:solidFill>
            <a:prstDash val="solid"/>
          </a:ln>
          <a:effectLst>
            <a:outerShdw blurRad="19050" dist="12700" dir="27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10543032" y="2039112"/>
            <a:ext cx="384048" cy="384048"/>
          </a:xfrm>
          <a:prstGeom prst="ellipse">
            <a:avLst/>
          </a:prstGeom>
          <a:solidFill>
            <a:srgbClr val="FF1500"/>
          </a:solidFill>
          <a:ln w="12700">
            <a:solidFill>
              <a:srgbClr val="FF15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10543032" y="2066544"/>
            <a:ext cx="3840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10305288" y="2487168"/>
            <a:ext cx="8595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C1C1E"/>
                </a:solidFill>
              </a:rPr>
              <a:t>Reload and render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1911096" y="2350008"/>
            <a:ext cx="365760" cy="155448"/>
          </a:xfrm>
          <a:prstGeom prst="chevron">
            <a:avLst/>
          </a:prstGeom>
          <a:solidFill>
            <a:srgbClr val="C9C3BC"/>
          </a:solidFill>
          <a:ln w="12700">
            <a:solidFill>
              <a:srgbClr val="C9C3B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Shape 36"/>
          <p:cNvSpPr/>
          <p:nvPr/>
        </p:nvSpPr>
        <p:spPr>
          <a:xfrm>
            <a:off x="3465576" y="2350008"/>
            <a:ext cx="365760" cy="155448"/>
          </a:xfrm>
          <a:prstGeom prst="chevron">
            <a:avLst/>
          </a:prstGeom>
          <a:solidFill>
            <a:srgbClr val="C9C3BC"/>
          </a:solidFill>
          <a:ln w="12700">
            <a:solidFill>
              <a:srgbClr val="C9C3B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Shape 37"/>
          <p:cNvSpPr/>
          <p:nvPr/>
        </p:nvSpPr>
        <p:spPr>
          <a:xfrm>
            <a:off x="5020056" y="2350008"/>
            <a:ext cx="365760" cy="155448"/>
          </a:xfrm>
          <a:prstGeom prst="chevron">
            <a:avLst/>
          </a:prstGeom>
          <a:solidFill>
            <a:srgbClr val="C9C3BC"/>
          </a:solidFill>
          <a:ln w="12700">
            <a:solidFill>
              <a:srgbClr val="C9C3B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Shape 38"/>
          <p:cNvSpPr/>
          <p:nvPr/>
        </p:nvSpPr>
        <p:spPr>
          <a:xfrm>
            <a:off x="6574536" y="2350008"/>
            <a:ext cx="365760" cy="155448"/>
          </a:xfrm>
          <a:prstGeom prst="chevron">
            <a:avLst/>
          </a:prstGeom>
          <a:solidFill>
            <a:srgbClr val="C9C3BC"/>
          </a:solidFill>
          <a:ln w="12700">
            <a:solidFill>
              <a:srgbClr val="C9C3B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Shape 39"/>
          <p:cNvSpPr/>
          <p:nvPr/>
        </p:nvSpPr>
        <p:spPr>
          <a:xfrm>
            <a:off x="8129016" y="2350008"/>
            <a:ext cx="365760" cy="155448"/>
          </a:xfrm>
          <a:prstGeom prst="chevron">
            <a:avLst/>
          </a:prstGeom>
          <a:solidFill>
            <a:srgbClr val="C9C3BC"/>
          </a:solidFill>
          <a:ln w="12700">
            <a:solidFill>
              <a:srgbClr val="C9C3B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Shape 40"/>
          <p:cNvSpPr/>
          <p:nvPr/>
        </p:nvSpPr>
        <p:spPr>
          <a:xfrm>
            <a:off x="9683496" y="2350008"/>
            <a:ext cx="365760" cy="155448"/>
          </a:xfrm>
          <a:prstGeom prst="chevron">
            <a:avLst/>
          </a:prstGeom>
          <a:solidFill>
            <a:srgbClr val="C9C3BC"/>
          </a:solidFill>
          <a:ln w="12700">
            <a:solidFill>
              <a:srgbClr val="C9C3B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3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41248" y="3749040"/>
            <a:ext cx="1554480" cy="1051560"/>
          </a:xfrm>
          <a:prstGeom prst="rect">
            <a:avLst/>
          </a:prstGeom>
        </p:spPr>
      </p:pic>
      <p:pic>
        <p:nvPicPr>
          <p:cNvPr id="44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798064" y="3813048"/>
            <a:ext cx="1828800" cy="914400"/>
          </a:xfrm>
          <a:prstGeom prst="rect">
            <a:avLst/>
          </a:prstGeom>
        </p:spPr>
      </p:pic>
      <p:pic>
        <p:nvPicPr>
          <p:cNvPr id="45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303520" y="3703320"/>
            <a:ext cx="1143000" cy="1097280"/>
          </a:xfrm>
          <a:prstGeom prst="rect">
            <a:avLst/>
          </a:prstGeom>
        </p:spPr>
      </p:pic>
      <p:pic>
        <p:nvPicPr>
          <p:cNvPr id="46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223760" y="3685032"/>
            <a:ext cx="1143000" cy="1097280"/>
          </a:xfrm>
          <a:prstGeom prst="rect">
            <a:avLst/>
          </a:prstGeom>
        </p:spPr>
      </p:pic>
      <p:pic>
        <p:nvPicPr>
          <p:cNvPr id="47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144000" y="3730752"/>
            <a:ext cx="1097280" cy="1005840"/>
          </a:xfrm>
          <a:prstGeom prst="rect">
            <a:avLst/>
          </a:prstGeom>
        </p:spPr>
      </p:pic>
      <p:sp>
        <p:nvSpPr>
          <p:cNvPr id="48" name="Text 41"/>
          <p:cNvSpPr/>
          <p:nvPr/>
        </p:nvSpPr>
        <p:spPr>
          <a:xfrm>
            <a:off x="1078992" y="4773168"/>
            <a:ext cx="10012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C1C1E"/>
                </a:solidFill>
              </a:rPr>
              <a:t>The block streams image bytes from the Worker, uploads them to AEM DAM, then writes the DAM path back onto its own content node.</a:t>
            </a:r>
            <a:endParaRPr lang="en-US" sz="1200" dirty="0"/>
          </a:p>
        </p:txBody>
      </p:sp>
      <p:sp>
        <p:nvSpPr>
          <p:cNvPr id="49" name="Text 42"/>
          <p:cNvSpPr/>
          <p:nvPr/>
        </p:nvSpPr>
        <p:spPr>
          <a:xfrm>
            <a:off x="1508760" y="5102352"/>
            <a:ext cx="9144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66666"/>
                </a:solidFill>
              </a:rPr>
              <a:t>Later renders simply detect the persisted &lt;picture&gt; and exit early — no Firefly call is needed.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1593456-1BD8-554C-DC28-4E0A731112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1986054" cy="67421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61683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82880"/>
          </a:xfrm>
          <a:prstGeom prst="rect">
            <a:avLst/>
          </a:prstGeom>
          <a:solidFill>
            <a:srgbClr val="FF1500"/>
          </a:solidFill>
          <a:ln w="12700">
            <a:solidFill>
              <a:srgbClr val="FF15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11480" y="219456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1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1 — Authoring Model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11480" y="676656"/>
            <a:ext cx="11155680" cy="0"/>
          </a:xfrm>
          <a:prstGeom prst="line">
            <a:avLst/>
          </a:prstGeom>
          <a:noFill/>
          <a:ln w="12700">
            <a:solidFill>
              <a:srgbClr val="D8D3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29768" y="749808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prompt + aspect ratio shape as the original block, with a writable image reference field.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411480" y="6419088"/>
            <a:ext cx="1920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Adobe Confidential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1475720" y="6345936"/>
            <a:ext cx="2743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A7A7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502920" y="1078992"/>
            <a:ext cx="3977640" cy="498348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 w="12700">
            <a:solidFill>
              <a:srgbClr val="E4DFD8"/>
            </a:solidFill>
            <a:prstDash val="solid"/>
          </a:ln>
          <a:effectLst>
            <a:outerShdw blurRad="19050" dist="12700" dir="27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709160" y="1078992"/>
            <a:ext cx="6949440" cy="4983480"/>
          </a:xfrm>
          <a:prstGeom prst="roundRect">
            <a:avLst>
              <a:gd name="adj" fmla="val 2202"/>
            </a:avLst>
          </a:prstGeom>
          <a:solidFill>
            <a:srgbClr val="FBFBFC"/>
          </a:solidFill>
          <a:ln w="12700">
            <a:solidFill>
              <a:srgbClr val="E4DFD8"/>
            </a:solidFill>
            <a:prstDash val="solid"/>
          </a:ln>
          <a:effectLst>
            <a:outerShdw blurRad="19050" dist="12700" dir="27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22960" y="1389888"/>
            <a:ext cx="914400" cy="86868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828800" y="1389888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C1C1E"/>
                </a:solidFill>
              </a:rPr>
              <a:t>Model fields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841248" y="1965960"/>
            <a:ext cx="3310128" cy="512064"/>
          </a:xfrm>
          <a:prstGeom prst="roundRect">
            <a:avLst>
              <a:gd name="adj" fmla="val 21429"/>
            </a:avLst>
          </a:prstGeom>
          <a:solidFill>
            <a:srgbClr val="F7F7F8"/>
          </a:solidFill>
          <a:ln w="12700">
            <a:solidFill>
              <a:srgbClr val="E4E0DB"/>
            </a:solidFill>
            <a:prstDash val="solid"/>
          </a:ln>
          <a:effectLst>
            <a:outerShdw blurRad="19050" dist="12700" dir="27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987552" y="2075688"/>
            <a:ext cx="841248" cy="201168"/>
          </a:xfrm>
          <a:prstGeom prst="roundRect">
            <a:avLst>
              <a:gd name="adj" fmla="val 36364"/>
            </a:avLst>
          </a:prstGeom>
          <a:solidFill>
            <a:srgbClr val="1C1C1E"/>
          </a:solidFill>
          <a:ln w="12700">
            <a:solidFill>
              <a:srgbClr val="1C1C1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987552" y="2080260"/>
            <a:ext cx="8412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</a:t>
            </a:r>
            <a:endParaRPr lang="en-US" sz="750" dirty="0"/>
          </a:p>
        </p:txBody>
      </p:sp>
      <p:sp>
        <p:nvSpPr>
          <p:cNvPr id="15" name="Text 12"/>
          <p:cNvSpPr/>
          <p:nvPr/>
        </p:nvSpPr>
        <p:spPr>
          <a:xfrm>
            <a:off x="1965960" y="2066544"/>
            <a:ext cx="1783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C1C1E"/>
                </a:solidFill>
              </a:rPr>
              <a:t>Prompt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1965960" y="2249424"/>
            <a:ext cx="17373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666666"/>
                </a:solidFill>
              </a:rPr>
              <a:t>required</a:t>
            </a:r>
            <a:endParaRPr lang="en-US" sz="780" dirty="0"/>
          </a:p>
        </p:txBody>
      </p:sp>
      <p:sp>
        <p:nvSpPr>
          <p:cNvPr id="17" name="Shape 14"/>
          <p:cNvSpPr/>
          <p:nvPr/>
        </p:nvSpPr>
        <p:spPr>
          <a:xfrm>
            <a:off x="841248" y="2615184"/>
            <a:ext cx="3310128" cy="512064"/>
          </a:xfrm>
          <a:prstGeom prst="roundRect">
            <a:avLst>
              <a:gd name="adj" fmla="val 21429"/>
            </a:avLst>
          </a:prstGeom>
          <a:solidFill>
            <a:srgbClr val="F7F7F8"/>
          </a:solidFill>
          <a:ln w="12700">
            <a:solidFill>
              <a:srgbClr val="E4E0DB"/>
            </a:solidFill>
            <a:prstDash val="solid"/>
          </a:ln>
          <a:effectLst>
            <a:outerShdw blurRad="19050" dist="12700" dir="27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5"/>
          <p:cNvSpPr/>
          <p:nvPr/>
        </p:nvSpPr>
        <p:spPr>
          <a:xfrm>
            <a:off x="987552" y="2724912"/>
            <a:ext cx="841248" cy="201168"/>
          </a:xfrm>
          <a:prstGeom prst="roundRect">
            <a:avLst>
              <a:gd name="adj" fmla="val 36364"/>
            </a:avLst>
          </a:prstGeom>
          <a:solidFill>
            <a:srgbClr val="1C1C1E"/>
          </a:solidFill>
          <a:ln w="12700">
            <a:solidFill>
              <a:srgbClr val="1C1C1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987552" y="2729484"/>
            <a:ext cx="8412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aspectRatio</a:t>
            </a:r>
            <a:endParaRPr lang="en-US" sz="750" dirty="0"/>
          </a:p>
        </p:txBody>
      </p:sp>
      <p:sp>
        <p:nvSpPr>
          <p:cNvPr id="20" name="Text 17"/>
          <p:cNvSpPr/>
          <p:nvPr/>
        </p:nvSpPr>
        <p:spPr>
          <a:xfrm>
            <a:off x="1965960" y="2715768"/>
            <a:ext cx="1783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C1C1E"/>
                </a:solidFill>
              </a:rPr>
              <a:t>Aspect ratio</a:t>
            </a:r>
            <a:endParaRPr lang="en-US" sz="1050" dirty="0"/>
          </a:p>
        </p:txBody>
      </p:sp>
      <p:sp>
        <p:nvSpPr>
          <p:cNvPr id="21" name="Text 18"/>
          <p:cNvSpPr/>
          <p:nvPr/>
        </p:nvSpPr>
        <p:spPr>
          <a:xfrm>
            <a:off x="1965960" y="2898648"/>
            <a:ext cx="17373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666666"/>
                </a:solidFill>
              </a:rPr>
              <a:t>1024x1024 | 1344x768 | 768x1344</a:t>
            </a:r>
            <a:endParaRPr lang="en-US" sz="780" dirty="0"/>
          </a:p>
        </p:txBody>
      </p:sp>
      <p:sp>
        <p:nvSpPr>
          <p:cNvPr id="22" name="Shape 19"/>
          <p:cNvSpPr/>
          <p:nvPr/>
        </p:nvSpPr>
        <p:spPr>
          <a:xfrm>
            <a:off x="841248" y="3264408"/>
            <a:ext cx="3310128" cy="512064"/>
          </a:xfrm>
          <a:prstGeom prst="roundRect">
            <a:avLst>
              <a:gd name="adj" fmla="val 21429"/>
            </a:avLst>
          </a:prstGeom>
          <a:solidFill>
            <a:srgbClr val="FFF7F6"/>
          </a:solidFill>
          <a:ln w="12700">
            <a:solidFill>
              <a:srgbClr val="FFD4CF"/>
            </a:solidFill>
            <a:prstDash val="solid"/>
          </a:ln>
          <a:effectLst>
            <a:outerShdw blurRad="19050" dist="12700" dir="27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20"/>
          <p:cNvSpPr/>
          <p:nvPr/>
        </p:nvSpPr>
        <p:spPr>
          <a:xfrm>
            <a:off x="987552" y="3374136"/>
            <a:ext cx="841248" cy="201168"/>
          </a:xfrm>
          <a:prstGeom prst="roundRect">
            <a:avLst>
              <a:gd name="adj" fmla="val 36364"/>
            </a:avLst>
          </a:prstGeom>
          <a:solidFill>
            <a:srgbClr val="FF1500"/>
          </a:solidFill>
          <a:ln w="12700">
            <a:solidFill>
              <a:srgbClr val="FF15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1"/>
          <p:cNvSpPr/>
          <p:nvPr/>
        </p:nvSpPr>
        <p:spPr>
          <a:xfrm>
            <a:off x="987552" y="3378708"/>
            <a:ext cx="8412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image</a:t>
            </a:r>
            <a:endParaRPr lang="en-US" sz="750" dirty="0"/>
          </a:p>
        </p:txBody>
      </p:sp>
      <p:sp>
        <p:nvSpPr>
          <p:cNvPr id="25" name="Text 22"/>
          <p:cNvSpPr/>
          <p:nvPr/>
        </p:nvSpPr>
        <p:spPr>
          <a:xfrm>
            <a:off x="1965960" y="3364992"/>
            <a:ext cx="1783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C1C1E"/>
                </a:solidFill>
              </a:rPr>
              <a:t>Generated image</a:t>
            </a:r>
            <a:endParaRPr lang="en-US" sz="1050" dirty="0"/>
          </a:p>
        </p:txBody>
      </p:sp>
      <p:sp>
        <p:nvSpPr>
          <p:cNvPr id="26" name="Text 23"/>
          <p:cNvSpPr/>
          <p:nvPr/>
        </p:nvSpPr>
        <p:spPr>
          <a:xfrm>
            <a:off x="1965960" y="3547872"/>
            <a:ext cx="17373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666666"/>
                </a:solidFill>
              </a:rPr>
              <a:t>reference field</a:t>
            </a:r>
            <a:endParaRPr lang="en-US" sz="780" dirty="0"/>
          </a:p>
        </p:txBody>
      </p:sp>
      <p:sp>
        <p:nvSpPr>
          <p:cNvPr id="27" name="Text 24"/>
          <p:cNvSpPr/>
          <p:nvPr/>
        </p:nvSpPr>
        <p:spPr>
          <a:xfrm>
            <a:off x="841248" y="4069080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20" i="1" dirty="0">
                <a:solidFill>
                  <a:srgbClr val="666666"/>
                </a:solidFill>
              </a:rPr>
              <a:t>Written programmatically, but still manually overridable in the asset picker UI.</a:t>
            </a:r>
            <a:endParaRPr lang="en-US" sz="920" dirty="0"/>
          </a:p>
        </p:txBody>
      </p:sp>
      <p:sp>
        <p:nvSpPr>
          <p:cNvPr id="28" name="Shape 25"/>
          <p:cNvSpPr/>
          <p:nvPr/>
        </p:nvSpPr>
        <p:spPr>
          <a:xfrm>
            <a:off x="5029200" y="1417320"/>
            <a:ext cx="6263640" cy="3566160"/>
          </a:xfrm>
          <a:prstGeom prst="roundRect">
            <a:avLst>
              <a:gd name="adj" fmla="val 2051"/>
            </a:avLst>
          </a:prstGeom>
          <a:solidFill>
            <a:srgbClr val="F6F4F1"/>
          </a:solidFill>
          <a:ln w="12700">
            <a:solidFill>
              <a:srgbClr val="D9D4CD"/>
            </a:solidFill>
            <a:prstDash val="solid"/>
          </a:ln>
          <a:effectLst>
            <a:outerShdw blurRad="12700" dist="12700" dir="27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9" name="Text 26"/>
          <p:cNvSpPr/>
          <p:nvPr/>
        </p:nvSpPr>
        <p:spPr>
          <a:xfrm>
            <a:off x="5175504" y="1527048"/>
            <a:ext cx="5971032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810" dirty="0">
                <a:solidFill>
                  <a:srgbClr val="4444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blocks/ai-image/_ai-image.json</a:t>
            </a:r>
            <a:endParaRPr lang="en-US" sz="810" dirty="0"/>
          </a:p>
          <a:p>
            <a:pPr marL="0" indent="0">
              <a:buNone/>
            </a:pPr>
            <a:r>
              <a:rPr lang="en-US" sz="810" dirty="0">
                <a:solidFill>
                  <a:srgbClr val="4444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810" dirty="0"/>
          </a:p>
          <a:p>
            <a:pPr marL="0" indent="0">
              <a:buNone/>
            </a:pPr>
            <a:r>
              <a:rPr lang="en-US" sz="810" dirty="0">
                <a:solidFill>
                  <a:srgbClr val="4444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"models": [{</a:t>
            </a:r>
            <a:endParaRPr lang="en-US" sz="810" dirty="0"/>
          </a:p>
          <a:p>
            <a:pPr marL="0" indent="0">
              <a:buNone/>
            </a:pPr>
            <a:r>
              <a:rPr lang="en-US" sz="810" dirty="0">
                <a:solidFill>
                  <a:srgbClr val="4444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"id": "ai-image",</a:t>
            </a:r>
            <a:endParaRPr lang="en-US" sz="810" dirty="0"/>
          </a:p>
          <a:p>
            <a:pPr marL="0" indent="0">
              <a:buNone/>
            </a:pPr>
            <a:r>
              <a:rPr lang="en-US" sz="810" dirty="0">
                <a:solidFill>
                  <a:srgbClr val="4444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"fields": [</a:t>
            </a:r>
            <a:endParaRPr lang="en-US" sz="810" dirty="0"/>
          </a:p>
          <a:p>
            <a:pPr marL="0" indent="0">
              <a:buNone/>
            </a:pPr>
            <a:r>
              <a:rPr lang="en-US" sz="810" dirty="0">
                <a:solidFill>
                  <a:srgbClr val="4444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{ "component": "richtext", "name": "prompt", "label": "Prompt" },</a:t>
            </a:r>
            <a:endParaRPr lang="en-US" sz="810" dirty="0"/>
          </a:p>
          <a:p>
            <a:pPr marL="0" indent="0">
              <a:buNone/>
            </a:pPr>
            <a:r>
              <a:rPr lang="en-US" sz="810" dirty="0">
                <a:solidFill>
                  <a:srgbClr val="4444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{ "component": "select", "name": "aspectRatio", "label": "Aspect ratio" },</a:t>
            </a:r>
            <a:endParaRPr lang="en-US" sz="810" dirty="0"/>
          </a:p>
          <a:p>
            <a:pPr marL="0" indent="0">
              <a:buNone/>
            </a:pPr>
            <a:r>
              <a:rPr lang="en-US" sz="810" dirty="0">
                <a:solidFill>
                  <a:srgbClr val="4444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{ "component": "reference", "name": "image", "label": "Generated image" }</a:t>
            </a:r>
            <a:endParaRPr lang="en-US" sz="810" dirty="0"/>
          </a:p>
          <a:p>
            <a:pPr marL="0" indent="0">
              <a:buNone/>
            </a:pPr>
            <a:r>
              <a:rPr lang="en-US" sz="810" dirty="0">
                <a:solidFill>
                  <a:srgbClr val="4444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]</a:t>
            </a:r>
            <a:endParaRPr lang="en-US" sz="810" dirty="0"/>
          </a:p>
          <a:p>
            <a:pPr marL="0" indent="0">
              <a:buNone/>
            </a:pPr>
            <a:r>
              <a:rPr lang="en-US" sz="810" dirty="0">
                <a:solidFill>
                  <a:srgbClr val="4444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}]</a:t>
            </a:r>
            <a:endParaRPr lang="en-US" sz="810" dirty="0"/>
          </a:p>
          <a:p>
            <a:pPr marL="0" indent="0">
              <a:buNone/>
            </a:pPr>
            <a:r>
              <a:rPr lang="en-US" sz="810" dirty="0">
                <a:solidFill>
                  <a:srgbClr val="4444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810" dirty="0"/>
          </a:p>
        </p:txBody>
      </p:sp>
      <p:sp>
        <p:nvSpPr>
          <p:cNvPr id="30" name="Shape 27"/>
          <p:cNvSpPr/>
          <p:nvPr/>
        </p:nvSpPr>
        <p:spPr>
          <a:xfrm>
            <a:off x="5029200" y="5166360"/>
            <a:ext cx="626364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E7E1D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8"/>
          <p:cNvSpPr/>
          <p:nvPr/>
        </p:nvSpPr>
        <p:spPr>
          <a:xfrm>
            <a:off x="5230368" y="5376672"/>
            <a:ext cx="5806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20" dirty="0">
                <a:solidFill>
                  <a:srgbClr val="1C1C1E"/>
                </a:solidFill>
              </a:rPr>
              <a:t>The model stays close to the original Firefly block, with the image asset slot added for persistence.</a:t>
            </a:r>
            <a:endParaRPr lang="en-US" sz="102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82880"/>
          </a:xfrm>
          <a:prstGeom prst="rect">
            <a:avLst/>
          </a:prstGeom>
          <a:solidFill>
            <a:srgbClr val="FF1500"/>
          </a:solidFill>
          <a:ln w="12700">
            <a:solidFill>
              <a:srgbClr val="FF15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11480" y="219456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1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2 — Edge Worker: Stream Image Bytes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11480" y="676656"/>
            <a:ext cx="11155680" cy="0"/>
          </a:xfrm>
          <a:prstGeom prst="line">
            <a:avLst/>
          </a:prstGeom>
          <a:noFill/>
          <a:ln w="12700">
            <a:solidFill>
              <a:srgbClr val="D8D3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29768" y="749808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Reuse the same IMS auth, but return the image bytes directly rather than a presigned URL.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411480" y="6419088"/>
            <a:ext cx="1920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Adobe Confidential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1475720" y="6345936"/>
            <a:ext cx="2743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A7A7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502920" y="1097280"/>
            <a:ext cx="4572000" cy="498348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12700">
            <a:solidFill>
              <a:srgbClr val="E4DFD8"/>
            </a:solidFill>
            <a:prstDash val="solid"/>
          </a:ln>
          <a:effectLst>
            <a:outerShdw blurRad="19050" dist="12700" dir="27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5303520" y="1097280"/>
            <a:ext cx="6355080" cy="4983480"/>
          </a:xfrm>
          <a:prstGeom prst="roundRect">
            <a:avLst>
              <a:gd name="adj" fmla="val 2202"/>
            </a:avLst>
          </a:prstGeom>
          <a:solidFill>
            <a:srgbClr val="FBFBFC"/>
          </a:solidFill>
          <a:ln w="12700">
            <a:solidFill>
              <a:srgbClr val="E4DFD8"/>
            </a:solidFill>
            <a:prstDash val="solid"/>
          </a:ln>
          <a:effectLst>
            <a:outerShdw blurRad="19050" dist="12700" dir="27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41248" y="1508760"/>
            <a:ext cx="1280160" cy="73152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2194560" y="1490472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C1C1E"/>
                </a:solidFill>
              </a:rPr>
              <a:t>Shared auth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914400" y="2029968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80" b="1" dirty="0">
                <a:solidFill>
                  <a:srgbClr val="FF1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180" dirty="0"/>
          </a:p>
        </p:txBody>
      </p:sp>
      <p:sp>
        <p:nvSpPr>
          <p:cNvPr id="13" name="Text 10"/>
          <p:cNvSpPr/>
          <p:nvPr/>
        </p:nvSpPr>
        <p:spPr>
          <a:xfrm>
            <a:off x="1115568" y="2020824"/>
            <a:ext cx="3456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80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Uses the same getFireflyToken helper as the original block</a:t>
            </a:r>
            <a:endParaRPr lang="en-US" sz="1080" dirty="0"/>
          </a:p>
        </p:txBody>
      </p:sp>
      <p:sp>
        <p:nvSpPr>
          <p:cNvPr id="14" name="Text 11"/>
          <p:cNvSpPr/>
          <p:nvPr/>
        </p:nvSpPr>
        <p:spPr>
          <a:xfrm>
            <a:off x="914400" y="2578608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80" b="1" dirty="0">
                <a:solidFill>
                  <a:srgbClr val="FF1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180" dirty="0"/>
          </a:p>
        </p:txBody>
      </p:sp>
      <p:sp>
        <p:nvSpPr>
          <p:cNvPr id="15" name="Text 12"/>
          <p:cNvSpPr/>
          <p:nvPr/>
        </p:nvSpPr>
        <p:spPr>
          <a:xfrm>
            <a:off x="1115568" y="2569464"/>
            <a:ext cx="3456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80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Token is cached in-isolate</a:t>
            </a:r>
            <a:endParaRPr lang="en-US" sz="1080" dirty="0"/>
          </a:p>
        </p:txBody>
      </p:sp>
      <p:sp>
        <p:nvSpPr>
          <p:cNvPr id="16" name="Text 13"/>
          <p:cNvSpPr/>
          <p:nvPr/>
        </p:nvSpPr>
        <p:spPr>
          <a:xfrm>
            <a:off x="914400" y="3127248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80" b="1" dirty="0">
                <a:solidFill>
                  <a:srgbClr val="FF1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180" dirty="0"/>
          </a:p>
        </p:txBody>
      </p:sp>
      <p:sp>
        <p:nvSpPr>
          <p:cNvPr id="17" name="Text 14"/>
          <p:cNvSpPr/>
          <p:nvPr/>
        </p:nvSpPr>
        <p:spPr>
          <a:xfrm>
            <a:off x="1115568" y="3118104"/>
            <a:ext cx="3456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80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duplicated auth logic</a:t>
            </a:r>
            <a:endParaRPr lang="en-US" sz="1080" dirty="0"/>
          </a:p>
        </p:txBody>
      </p:sp>
      <p:sp>
        <p:nvSpPr>
          <p:cNvPr id="18" name="Text 15"/>
          <p:cNvSpPr/>
          <p:nvPr/>
        </p:nvSpPr>
        <p:spPr>
          <a:xfrm>
            <a:off x="877824" y="3931920"/>
            <a:ext cx="731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1500"/>
                </a:solidFill>
              </a:rPr>
              <a:t>Route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1353312" y="3895344"/>
            <a:ext cx="2267712" cy="237744"/>
          </a:xfrm>
          <a:prstGeom prst="roundRect">
            <a:avLst>
              <a:gd name="adj" fmla="val 30769"/>
            </a:avLst>
          </a:prstGeom>
          <a:solidFill>
            <a:srgbClr val="FF1500"/>
          </a:solidFill>
          <a:ln w="12700">
            <a:solidFill>
              <a:srgbClr val="FF15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1353312" y="3899916"/>
            <a:ext cx="22677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3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 /api/firefly/generate-image</a:t>
            </a:r>
            <a:endParaRPr lang="en-US" sz="830" dirty="0"/>
          </a:p>
        </p:txBody>
      </p:sp>
      <p:sp>
        <p:nvSpPr>
          <p:cNvPr id="21" name="Shape 18"/>
          <p:cNvSpPr/>
          <p:nvPr/>
        </p:nvSpPr>
        <p:spPr>
          <a:xfrm>
            <a:off x="5623560" y="1417320"/>
            <a:ext cx="5577840" cy="3703320"/>
          </a:xfrm>
          <a:prstGeom prst="roundRect">
            <a:avLst>
              <a:gd name="adj" fmla="val 1975"/>
            </a:avLst>
          </a:prstGeom>
          <a:solidFill>
            <a:srgbClr val="F6F4F1"/>
          </a:solidFill>
          <a:ln w="12700">
            <a:solidFill>
              <a:srgbClr val="D9D4CD"/>
            </a:solidFill>
            <a:prstDash val="solid"/>
          </a:ln>
          <a:effectLst>
            <a:outerShdw blurRad="12700" dist="12700" dir="27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/>
          <p:nvPr/>
        </p:nvSpPr>
        <p:spPr>
          <a:xfrm>
            <a:off x="5769864" y="1527048"/>
            <a:ext cx="5285232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820" dirty="0">
                <a:solidFill>
                  <a:srgbClr val="4444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async function handleFireflyGenerateImage(request, env, cors) {</a:t>
            </a:r>
            <a:endParaRPr lang="en-US" sz="820" dirty="0"/>
          </a:p>
          <a:p>
            <a:pPr marL="0" indent="0">
              <a:buNone/>
            </a:pPr>
            <a:r>
              <a:rPr lang="en-US" sz="820" dirty="0">
                <a:solidFill>
                  <a:srgbClr val="4444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{ prompt, size } = parsePromptAndSize(await request.json());</a:t>
            </a:r>
            <a:endParaRPr lang="en-US" sz="820" dirty="0"/>
          </a:p>
          <a:p>
            <a:pPr marL="0" indent="0">
              <a:buNone/>
            </a:pPr>
            <a:r>
              <a:rPr lang="en-US" sz="820" dirty="0">
                <a:solidFill>
                  <a:srgbClr val="4444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url = await fireflyGenerate(prompt, size, env);</a:t>
            </a:r>
            <a:endParaRPr lang="en-US" sz="820" dirty="0"/>
          </a:p>
          <a:p>
            <a:pPr marL="0" indent="0">
              <a:buNone/>
            </a:pPr>
            <a:r>
              <a:rPr lang="en-US" sz="820" dirty="0">
                <a:solidFill>
                  <a:srgbClr val="4444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imageRes = await fetch(url);</a:t>
            </a:r>
            <a:endParaRPr lang="en-US" sz="820" dirty="0"/>
          </a:p>
          <a:p>
            <a:pPr marL="0" indent="0">
              <a:buNone/>
            </a:pPr>
            <a:r>
              <a:rPr lang="en-US" sz="820" dirty="0">
                <a:solidFill>
                  <a:srgbClr val="4444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new Response(imageRes.body, {</a:t>
            </a:r>
            <a:endParaRPr lang="en-US" sz="820" dirty="0"/>
          </a:p>
          <a:p>
            <a:pPr marL="0" indent="0">
              <a:buNone/>
            </a:pPr>
            <a:r>
              <a:rPr lang="en-US" sz="820" dirty="0">
                <a:solidFill>
                  <a:srgbClr val="4444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status: 200,</a:t>
            </a:r>
            <a:endParaRPr lang="en-US" sz="820" dirty="0"/>
          </a:p>
          <a:p>
            <a:pPr marL="0" indent="0">
              <a:buNone/>
            </a:pPr>
            <a:r>
              <a:rPr lang="en-US" sz="820" dirty="0">
                <a:solidFill>
                  <a:srgbClr val="4444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headers: { 'Content-Type': imageRes.headers.get('Content-Type') || 'image/png', ...cors },</a:t>
            </a:r>
            <a:endParaRPr lang="en-US" sz="820" dirty="0"/>
          </a:p>
          <a:p>
            <a:pPr marL="0" indent="0">
              <a:buNone/>
            </a:pPr>
            <a:r>
              <a:rPr lang="en-US" sz="820" dirty="0">
                <a:solidFill>
                  <a:srgbClr val="4444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});</a:t>
            </a:r>
            <a:endParaRPr lang="en-US" sz="820" dirty="0"/>
          </a:p>
          <a:p>
            <a:pPr marL="0" indent="0">
              <a:buNone/>
            </a:pPr>
            <a:r>
              <a:rPr lang="en-US" sz="820" dirty="0">
                <a:solidFill>
                  <a:srgbClr val="4444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820" dirty="0"/>
          </a:p>
        </p:txBody>
      </p:sp>
      <p:sp>
        <p:nvSpPr>
          <p:cNvPr id="23" name="Text 20"/>
          <p:cNvSpPr/>
          <p:nvPr/>
        </p:nvSpPr>
        <p:spPr>
          <a:xfrm>
            <a:off x="5742432" y="5394960"/>
            <a:ext cx="5166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80" dirty="0">
                <a:solidFill>
                  <a:srgbClr val="666666"/>
                </a:solidFill>
              </a:rPr>
              <a:t>The Worker fetches the image server-side, which avoids S3 CORS uncertainty and the presigned URL expiry window.</a:t>
            </a:r>
            <a:endParaRPr lang="en-US" sz="98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82880"/>
          </a:xfrm>
          <a:prstGeom prst="rect">
            <a:avLst/>
          </a:prstGeom>
          <a:solidFill>
            <a:srgbClr val="FF1500"/>
          </a:solidFill>
          <a:ln w="12700">
            <a:solidFill>
              <a:srgbClr val="FF15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11480" y="219456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1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3 — Detecting Universal Editor Context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11480" y="676656"/>
            <a:ext cx="11155680" cy="0"/>
          </a:xfrm>
          <a:prstGeom prst="line">
            <a:avLst/>
          </a:prstGeom>
          <a:noFill/>
          <a:ln w="12700">
            <a:solidFill>
              <a:srgbClr val="D8D3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29768" y="749808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the block wrapper attribute; do not guess by hostname or page type.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411480" y="6419088"/>
            <a:ext cx="1920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Adobe Confidential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1475720" y="6345936"/>
            <a:ext cx="2743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A7A7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502920" y="1097280"/>
            <a:ext cx="5029200" cy="4983480"/>
          </a:xfrm>
          <a:prstGeom prst="roundRect">
            <a:avLst>
              <a:gd name="adj" fmla="val 2202"/>
            </a:avLst>
          </a:prstGeom>
          <a:solidFill>
            <a:srgbClr val="FFFFFF"/>
          </a:solidFill>
          <a:ln w="12700">
            <a:solidFill>
              <a:srgbClr val="E4DFD8"/>
            </a:solidFill>
            <a:prstDash val="solid"/>
          </a:ln>
          <a:effectLst>
            <a:outerShdw blurRad="19050" dist="12700" dir="27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5715000" y="1097280"/>
            <a:ext cx="5943600" cy="4983480"/>
          </a:xfrm>
          <a:prstGeom prst="roundRect">
            <a:avLst>
              <a:gd name="adj" fmla="val 2202"/>
            </a:avLst>
          </a:prstGeom>
          <a:solidFill>
            <a:srgbClr val="FBFBFC"/>
          </a:solidFill>
          <a:ln w="12700">
            <a:solidFill>
              <a:srgbClr val="E4DFD8"/>
            </a:solidFill>
            <a:prstDash val="solid"/>
          </a:ln>
          <a:effectLst>
            <a:outerShdw blurRad="19050" dist="12700" dir="27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04672" y="1417320"/>
            <a:ext cx="1554480" cy="100584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2542032" y="1426464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C1C1E"/>
                </a:solidFill>
              </a:rPr>
              <a:t>Universal Editor canvas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896112" y="2560320"/>
            <a:ext cx="2103120" cy="274320"/>
          </a:xfrm>
          <a:prstGeom prst="roundRect">
            <a:avLst>
              <a:gd name="adj" fmla="val 26667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896112" y="256489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3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data-aue-resource present</a:t>
            </a:r>
            <a:endParaRPr lang="en-US" sz="830" dirty="0"/>
          </a:p>
        </p:txBody>
      </p:sp>
      <p:sp>
        <p:nvSpPr>
          <p:cNvPr id="14" name="Shape 11"/>
          <p:cNvSpPr/>
          <p:nvPr/>
        </p:nvSpPr>
        <p:spPr>
          <a:xfrm>
            <a:off x="3108960" y="2560320"/>
            <a:ext cx="1508760" cy="274320"/>
          </a:xfrm>
          <a:prstGeom prst="roundRect">
            <a:avLst>
              <a:gd name="adj" fmla="val 26667"/>
            </a:avLst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3108960" y="2564892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3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author canvas</a:t>
            </a:r>
            <a:endParaRPr lang="en-US" sz="830" dirty="0"/>
          </a:p>
        </p:txBody>
      </p:sp>
      <p:sp>
        <p:nvSpPr>
          <p:cNvPr id="16" name="Text 13"/>
          <p:cNvSpPr/>
          <p:nvPr/>
        </p:nvSpPr>
        <p:spPr>
          <a:xfrm>
            <a:off x="868680" y="2999232"/>
            <a:ext cx="431596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20" dirty="0">
                <a:solidFill>
                  <a:srgbClr val="1C1C1E"/>
                </a:solidFill>
              </a:rPr>
              <a:t>If the attribute exists, strip the urn prefix to get the Sling resource path that later gets patched.</a:t>
            </a:r>
            <a:endParaRPr lang="en-US" sz="1120" dirty="0"/>
          </a:p>
        </p:txBody>
      </p:sp>
      <p:sp>
        <p:nvSpPr>
          <p:cNvPr id="17" name="Shape 14"/>
          <p:cNvSpPr/>
          <p:nvPr/>
        </p:nvSpPr>
        <p:spPr>
          <a:xfrm>
            <a:off x="868680" y="3657600"/>
            <a:ext cx="4297680" cy="1828800"/>
          </a:xfrm>
          <a:prstGeom prst="roundRect">
            <a:avLst>
              <a:gd name="adj" fmla="val 4000"/>
            </a:avLst>
          </a:prstGeom>
          <a:solidFill>
            <a:srgbClr val="F6F4F1"/>
          </a:solidFill>
          <a:ln w="12700">
            <a:solidFill>
              <a:srgbClr val="D9D4CD"/>
            </a:solidFill>
            <a:prstDash val="solid"/>
          </a:ln>
          <a:effectLst>
            <a:outerShdw blurRad="12700" dist="12700" dir="27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1014984" y="3767328"/>
            <a:ext cx="4005072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770" dirty="0">
                <a:solidFill>
                  <a:srgbClr val="4444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resource = block.getAttribute('data-aue-resource');</a:t>
            </a:r>
            <a:endParaRPr lang="en-US" sz="770" dirty="0"/>
          </a:p>
          <a:p>
            <a:pPr marL="0" indent="0">
              <a:buNone/>
            </a:pPr>
            <a:endParaRPr lang="en-US" sz="770" dirty="0"/>
          </a:p>
          <a:p>
            <a:pPr marL="0" indent="0">
              <a:buNone/>
            </a:pPr>
            <a:r>
              <a:rPr lang="en-US" sz="770" dirty="0">
                <a:solidFill>
                  <a:srgbClr val="4444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Published page: absent -&gt; return immediately.</a:t>
            </a:r>
            <a:endParaRPr lang="en-US" sz="770" dirty="0"/>
          </a:p>
          <a:p>
            <a:pPr marL="0" indent="0">
              <a:buNone/>
            </a:pPr>
            <a:r>
              <a:rPr lang="en-US" sz="770" dirty="0">
                <a:solidFill>
                  <a:srgbClr val="4444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(!resource) return;</a:t>
            </a:r>
            <a:endParaRPr lang="en-US" sz="770" dirty="0"/>
          </a:p>
          <a:p>
            <a:pPr marL="0" indent="0">
              <a:buNone/>
            </a:pPr>
            <a:endParaRPr lang="en-US" sz="770" dirty="0"/>
          </a:p>
          <a:p>
            <a:pPr marL="0" indent="0">
              <a:buNone/>
            </a:pPr>
            <a:r>
              <a:rPr lang="en-US" sz="770" dirty="0">
                <a:solidFill>
                  <a:srgbClr val="4444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resourcePath = resource.replace('urn:aemconnection:', '');</a:t>
            </a:r>
            <a:endParaRPr lang="en-US" sz="770" dirty="0"/>
          </a:p>
          <a:p>
            <a:pPr marL="0" indent="0">
              <a:buNone/>
            </a:pPr>
            <a:r>
              <a:rPr lang="en-US" sz="770" dirty="0">
                <a:solidFill>
                  <a:srgbClr val="4444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→ /content/.../jcr:content/root/.../firefly</a:t>
            </a:r>
            <a:endParaRPr lang="en-US" sz="770" dirty="0"/>
          </a:p>
        </p:txBody>
      </p:sp>
      <p:pic>
        <p:nvPicPr>
          <p:cNvPr id="19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989320" y="1481328"/>
            <a:ext cx="1005840" cy="1005840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7223760" y="1481328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C1C1E"/>
                </a:solidFill>
              </a:rPr>
              <a:t>Published page behavior</a:t>
            </a:r>
            <a:endParaRPr lang="en-US" sz="1500" dirty="0"/>
          </a:p>
        </p:txBody>
      </p:sp>
      <p:sp>
        <p:nvSpPr>
          <p:cNvPr id="21" name="Text 17"/>
          <p:cNvSpPr/>
          <p:nvPr/>
        </p:nvSpPr>
        <p:spPr>
          <a:xfrm>
            <a:off x="6035040" y="2039112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1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200" dirty="0"/>
          </a:p>
        </p:txBody>
      </p:sp>
      <p:sp>
        <p:nvSpPr>
          <p:cNvPr id="22" name="Text 18"/>
          <p:cNvSpPr/>
          <p:nvPr/>
        </p:nvSpPr>
        <p:spPr>
          <a:xfrm>
            <a:off x="6236208" y="2029968"/>
            <a:ext cx="4828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attribute is absent entirely on published pages</a:t>
            </a:r>
            <a:endParaRPr lang="en-US" sz="1100" dirty="0"/>
          </a:p>
        </p:txBody>
      </p:sp>
      <p:sp>
        <p:nvSpPr>
          <p:cNvPr id="23" name="Text 19"/>
          <p:cNvSpPr/>
          <p:nvPr/>
        </p:nvSpPr>
        <p:spPr>
          <a:xfrm>
            <a:off x="6035040" y="2660904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1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200" dirty="0"/>
          </a:p>
        </p:txBody>
      </p:sp>
      <p:sp>
        <p:nvSpPr>
          <p:cNvPr id="24" name="Text 20"/>
          <p:cNvSpPr/>
          <p:nvPr/>
        </p:nvSpPr>
        <p:spPr>
          <a:xfrm>
            <a:off x="6236208" y="2651760"/>
            <a:ext cx="4828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Never call Firefly there</a:t>
            </a:r>
            <a:endParaRPr lang="en-US" sz="1100" dirty="0"/>
          </a:p>
        </p:txBody>
      </p:sp>
      <p:sp>
        <p:nvSpPr>
          <p:cNvPr id="25" name="Text 21"/>
          <p:cNvSpPr/>
          <p:nvPr/>
        </p:nvSpPr>
        <p:spPr>
          <a:xfrm>
            <a:off x="6035040" y="3282696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1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200" dirty="0"/>
          </a:p>
        </p:txBody>
      </p:sp>
      <p:sp>
        <p:nvSpPr>
          <p:cNvPr id="26" name="Text 22"/>
          <p:cNvSpPr/>
          <p:nvPr/>
        </p:nvSpPr>
        <p:spPr>
          <a:xfrm>
            <a:off x="6236208" y="3273552"/>
            <a:ext cx="4828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Only render an already-persisted &lt;picture&gt;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82880"/>
          </a:xfrm>
          <a:prstGeom prst="rect">
            <a:avLst/>
          </a:prstGeom>
          <a:solidFill>
            <a:srgbClr val="FF1500"/>
          </a:solidFill>
          <a:ln w="12700">
            <a:solidFill>
              <a:srgbClr val="FF15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11480" y="219456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1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4 — Auto-Generate on Prompt Entry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11480" y="676656"/>
            <a:ext cx="11155680" cy="0"/>
          </a:xfrm>
          <a:prstGeom prst="line">
            <a:avLst/>
          </a:prstGeom>
          <a:noFill/>
          <a:ln w="12700">
            <a:solidFill>
              <a:srgbClr val="D8D3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29768" y="749808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1.2s debounce keeps the authoring flow responsive while preventing redundant requests.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411480" y="6419088"/>
            <a:ext cx="1920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Adobe Confidential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1475720" y="6345936"/>
            <a:ext cx="2743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A7A7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502920" y="1097280"/>
            <a:ext cx="5486400" cy="4983480"/>
          </a:xfrm>
          <a:prstGeom prst="roundRect">
            <a:avLst>
              <a:gd name="adj" fmla="val 2202"/>
            </a:avLst>
          </a:prstGeom>
          <a:solidFill>
            <a:srgbClr val="FFFFFF"/>
          </a:solidFill>
          <a:ln w="12700">
            <a:solidFill>
              <a:srgbClr val="E4DFD8"/>
            </a:solidFill>
            <a:prstDash val="solid"/>
          </a:ln>
          <a:effectLst>
            <a:outerShdw blurRad="19050" dist="12700" dir="27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6217920" y="1097280"/>
            <a:ext cx="5440680" cy="4983480"/>
          </a:xfrm>
          <a:prstGeom prst="roundRect">
            <a:avLst>
              <a:gd name="adj" fmla="val 2202"/>
            </a:avLst>
          </a:prstGeom>
          <a:solidFill>
            <a:srgbClr val="FBFBFC"/>
          </a:solidFill>
          <a:ln w="12700">
            <a:solidFill>
              <a:srgbClr val="E4DFD8"/>
            </a:solidFill>
            <a:prstDash val="solid"/>
          </a:ln>
          <a:effectLst>
            <a:outerShdw blurRad="19050" dist="12700" dir="27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22960" y="1481328"/>
            <a:ext cx="914400" cy="91440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965960" y="1481328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C1C1E"/>
                </a:solidFill>
              </a:rPr>
              <a:t>No Generate button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914400" y="2011680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80" b="1" dirty="0">
                <a:solidFill>
                  <a:srgbClr val="FF1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180" dirty="0"/>
          </a:p>
        </p:txBody>
      </p:sp>
      <p:sp>
        <p:nvSpPr>
          <p:cNvPr id="13" name="Text 10"/>
          <p:cNvSpPr/>
          <p:nvPr/>
        </p:nvSpPr>
        <p:spPr>
          <a:xfrm>
            <a:off x="1115568" y="2002536"/>
            <a:ext cx="42793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80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 version had a button, but it felt clunky for this flow</a:t>
            </a:r>
            <a:endParaRPr lang="en-US" sz="1080" dirty="0"/>
          </a:p>
        </p:txBody>
      </p:sp>
      <p:sp>
        <p:nvSpPr>
          <p:cNvPr id="14" name="Text 11"/>
          <p:cNvSpPr/>
          <p:nvPr/>
        </p:nvSpPr>
        <p:spPr>
          <a:xfrm>
            <a:off x="914400" y="2670048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80" b="1" dirty="0">
                <a:solidFill>
                  <a:srgbClr val="FF1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180" dirty="0"/>
          </a:p>
        </p:txBody>
      </p:sp>
      <p:sp>
        <p:nvSpPr>
          <p:cNvPr id="15" name="Text 12"/>
          <p:cNvSpPr/>
          <p:nvPr/>
        </p:nvSpPr>
        <p:spPr>
          <a:xfrm>
            <a:off x="1115568" y="2660904"/>
            <a:ext cx="42793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80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decorate() reruns on each properties-rail edit</a:t>
            </a:r>
            <a:endParaRPr lang="en-US" sz="1080" dirty="0"/>
          </a:p>
        </p:txBody>
      </p:sp>
      <p:sp>
        <p:nvSpPr>
          <p:cNvPr id="16" name="Text 13"/>
          <p:cNvSpPr/>
          <p:nvPr/>
        </p:nvSpPr>
        <p:spPr>
          <a:xfrm>
            <a:off x="914400" y="3328416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80" b="1" dirty="0">
                <a:solidFill>
                  <a:srgbClr val="FF1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180" dirty="0"/>
          </a:p>
        </p:txBody>
      </p:sp>
      <p:sp>
        <p:nvSpPr>
          <p:cNvPr id="17" name="Text 14"/>
          <p:cNvSpPr/>
          <p:nvPr/>
        </p:nvSpPr>
        <p:spPr>
          <a:xfrm>
            <a:off x="1115568" y="3319272"/>
            <a:ext cx="42793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80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Without debounce, a single prompt would trigger many Firefly calls</a:t>
            </a:r>
            <a:endParaRPr lang="en-US" sz="1080" dirty="0"/>
          </a:p>
        </p:txBody>
      </p:sp>
      <p:sp>
        <p:nvSpPr>
          <p:cNvPr id="18" name="Shape 15"/>
          <p:cNvSpPr/>
          <p:nvPr/>
        </p:nvSpPr>
        <p:spPr>
          <a:xfrm>
            <a:off x="868680" y="3931920"/>
            <a:ext cx="4526280" cy="694944"/>
          </a:xfrm>
          <a:prstGeom prst="roundRect">
            <a:avLst>
              <a:gd name="adj" fmla="val 10526"/>
            </a:avLst>
          </a:prstGeom>
          <a:solidFill>
            <a:srgbClr val="FFF8EB"/>
          </a:solidFill>
          <a:ln w="12700">
            <a:solidFill>
              <a:srgbClr val="F3D6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1051560" y="4142232"/>
            <a:ext cx="4160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20" b="1" dirty="0">
                <a:solidFill>
                  <a:srgbClr val="A76800"/>
                </a:solidFill>
              </a:rPr>
              <a:t>1.2 seconds after the last edit, generation starts.</a:t>
            </a:r>
            <a:endParaRPr lang="en-US" sz="1120" dirty="0"/>
          </a:p>
        </p:txBody>
      </p:sp>
      <p:sp>
        <p:nvSpPr>
          <p:cNvPr id="20" name="Shape 17"/>
          <p:cNvSpPr/>
          <p:nvPr/>
        </p:nvSpPr>
        <p:spPr>
          <a:xfrm>
            <a:off x="6382512" y="1417320"/>
            <a:ext cx="5120640" cy="3566160"/>
          </a:xfrm>
          <a:prstGeom prst="roundRect">
            <a:avLst>
              <a:gd name="adj" fmla="val 2051"/>
            </a:avLst>
          </a:prstGeom>
          <a:solidFill>
            <a:srgbClr val="F6F4F1"/>
          </a:solidFill>
          <a:ln w="12700">
            <a:solidFill>
              <a:srgbClr val="D9D4CD"/>
            </a:solidFill>
            <a:prstDash val="solid"/>
          </a:ln>
          <a:effectLst>
            <a:outerShdw blurRad="12700" dist="12700" dir="27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/>
          <p:nvPr/>
        </p:nvSpPr>
        <p:spPr>
          <a:xfrm>
            <a:off x="6528816" y="1527048"/>
            <a:ext cx="4828032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780" dirty="0">
                <a:solidFill>
                  <a:srgbClr val="4444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pendingTimers = new Map();</a:t>
            </a:r>
            <a:endParaRPr lang="en-US" sz="780" dirty="0"/>
          </a:p>
          <a:p>
            <a:pPr marL="0" indent="0">
              <a:buNone/>
            </a:pPr>
            <a:r>
              <a:rPr lang="en-US" sz="780" dirty="0">
                <a:solidFill>
                  <a:srgbClr val="4444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inFlight = new Set();</a:t>
            </a:r>
            <a:endParaRPr lang="en-US" sz="780" dirty="0"/>
          </a:p>
          <a:p>
            <a:pPr marL="0" indent="0">
              <a:buNone/>
            </a:pPr>
            <a:r>
              <a:rPr lang="en-US" sz="780" dirty="0">
                <a:solidFill>
                  <a:srgbClr val="4444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DEBOUNCE_MS = 1200;</a:t>
            </a:r>
            <a:endParaRPr lang="en-US" sz="780" dirty="0"/>
          </a:p>
          <a:p>
            <a:pPr marL="0" indent="0">
              <a:buNone/>
            </a:pPr>
            <a:endParaRPr lang="en-US" sz="780" dirty="0"/>
          </a:p>
          <a:p>
            <a:pPr marL="0" indent="0">
              <a:buNone/>
            </a:pPr>
            <a:r>
              <a:rPr lang="en-US" sz="780" dirty="0">
                <a:solidFill>
                  <a:srgbClr val="4444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(pendingTimers.has(resource)) clearTimeout(pendingTimers.get(resource));</a:t>
            </a:r>
            <a:endParaRPr lang="en-US" sz="780" dirty="0"/>
          </a:p>
          <a:p>
            <a:pPr marL="0" indent="0">
              <a:buNone/>
            </a:pPr>
            <a:r>
              <a:rPr lang="en-US" sz="780" dirty="0">
                <a:solidFill>
                  <a:srgbClr val="4444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(inFlight.has(resource)) return;</a:t>
            </a:r>
            <a:endParaRPr lang="en-US" sz="780" dirty="0"/>
          </a:p>
          <a:p>
            <a:pPr marL="0" indent="0">
              <a:buNone/>
            </a:pPr>
            <a:endParaRPr lang="en-US" sz="780" dirty="0"/>
          </a:p>
          <a:p>
            <a:pPr marL="0" indent="0">
              <a:buNone/>
            </a:pPr>
            <a:r>
              <a:rPr lang="en-US" sz="780" dirty="0">
                <a:solidFill>
                  <a:srgbClr val="4444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timerId = setTimeout(async () =&gt; {</a:t>
            </a:r>
            <a:endParaRPr lang="en-US" sz="780" dirty="0"/>
          </a:p>
          <a:p>
            <a:pPr marL="0" indent="0">
              <a:buNone/>
            </a:pPr>
            <a:r>
              <a:rPr lang="en-US" sz="780" dirty="0">
                <a:solidFill>
                  <a:srgbClr val="4444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inFlight.add(resource);</a:t>
            </a:r>
            <a:endParaRPr lang="en-US" sz="780" dirty="0"/>
          </a:p>
          <a:p>
            <a:pPr marL="0" indent="0">
              <a:buNone/>
            </a:pPr>
            <a:r>
              <a:rPr lang="en-US" sz="780" dirty="0">
                <a:solidFill>
                  <a:srgbClr val="4444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await generateAndPersist(preview, prompt, aspectRatio, resource);</a:t>
            </a:r>
            <a:endParaRPr lang="en-US" sz="780" dirty="0"/>
          </a:p>
          <a:p>
            <a:pPr marL="0" indent="0">
              <a:buNone/>
            </a:pPr>
            <a:r>
              <a:rPr lang="en-US" sz="780" dirty="0">
                <a:solidFill>
                  <a:srgbClr val="4444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window.location.reload();</a:t>
            </a:r>
            <a:endParaRPr lang="en-US" sz="780" dirty="0"/>
          </a:p>
          <a:p>
            <a:pPr marL="0" indent="0">
              <a:buNone/>
            </a:pPr>
            <a:r>
              <a:rPr lang="en-US" sz="780" dirty="0">
                <a:solidFill>
                  <a:srgbClr val="4444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}, DEBOUNCE_MS);</a:t>
            </a:r>
            <a:endParaRPr lang="en-US" sz="780" dirty="0"/>
          </a:p>
        </p:txBody>
      </p:sp>
      <p:sp>
        <p:nvSpPr>
          <p:cNvPr id="22" name="Shape 19"/>
          <p:cNvSpPr/>
          <p:nvPr/>
        </p:nvSpPr>
        <p:spPr>
          <a:xfrm>
            <a:off x="6400800" y="5230368"/>
            <a:ext cx="1097280" cy="256032"/>
          </a:xfrm>
          <a:prstGeom prst="roundRect">
            <a:avLst>
              <a:gd name="adj" fmla="val 28571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0"/>
          <p:cNvSpPr/>
          <p:nvPr/>
        </p:nvSpPr>
        <p:spPr>
          <a:xfrm>
            <a:off x="6400800" y="523494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debounce</a:t>
            </a:r>
            <a:endParaRPr lang="en-US" sz="800" dirty="0"/>
          </a:p>
        </p:txBody>
      </p:sp>
      <p:sp>
        <p:nvSpPr>
          <p:cNvPr id="24" name="Shape 21"/>
          <p:cNvSpPr/>
          <p:nvPr/>
        </p:nvSpPr>
        <p:spPr>
          <a:xfrm>
            <a:off x="7616952" y="5230368"/>
            <a:ext cx="1234440" cy="256032"/>
          </a:xfrm>
          <a:prstGeom prst="roundRect">
            <a:avLst>
              <a:gd name="adj" fmla="val 28571"/>
            </a:avLst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2"/>
          <p:cNvSpPr/>
          <p:nvPr/>
        </p:nvSpPr>
        <p:spPr>
          <a:xfrm>
            <a:off x="7616952" y="5234940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in-flight guard</a:t>
            </a:r>
            <a:endParaRPr lang="en-US" sz="800" dirty="0"/>
          </a:p>
        </p:txBody>
      </p:sp>
      <p:sp>
        <p:nvSpPr>
          <p:cNvPr id="26" name="Shape 23"/>
          <p:cNvSpPr/>
          <p:nvPr/>
        </p:nvSpPr>
        <p:spPr>
          <a:xfrm>
            <a:off x="8979408" y="5230368"/>
            <a:ext cx="1298448" cy="256032"/>
          </a:xfrm>
          <a:prstGeom prst="roundRect">
            <a:avLst>
              <a:gd name="adj" fmla="val 28571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4"/>
          <p:cNvSpPr/>
          <p:nvPr/>
        </p:nvSpPr>
        <p:spPr>
          <a:xfrm>
            <a:off x="8979408" y="5234940"/>
            <a:ext cx="12984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reload once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82880"/>
          </a:xfrm>
          <a:prstGeom prst="rect">
            <a:avLst/>
          </a:prstGeom>
          <a:solidFill>
            <a:srgbClr val="FF1500"/>
          </a:solidFill>
          <a:ln w="12700">
            <a:solidFill>
              <a:srgbClr val="FF15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11480" y="219456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1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5 — Upload to AEM DAM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11480" y="676656"/>
            <a:ext cx="11155680" cy="0"/>
          </a:xfrm>
          <a:prstGeom prst="line">
            <a:avLst/>
          </a:prstGeom>
          <a:noFill/>
          <a:ln w="12700">
            <a:solidFill>
              <a:srgbClr val="D8D3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29768" y="749808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the supported 3-step direct binary upload flow with CSRF and same-origin credentials.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411480" y="6419088"/>
            <a:ext cx="1920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Adobe Confidential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1475720" y="6345936"/>
            <a:ext cx="2743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A7A7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502920" y="1078992"/>
            <a:ext cx="11109960" cy="5001768"/>
          </a:xfrm>
          <a:prstGeom prst="roundRect">
            <a:avLst>
              <a:gd name="adj" fmla="val 2194"/>
            </a:avLst>
          </a:prstGeom>
          <a:solidFill>
            <a:srgbClr val="FFFFFF"/>
          </a:solidFill>
          <a:ln w="12700">
            <a:solidFill>
              <a:srgbClr val="E4DFD8"/>
            </a:solidFill>
            <a:prstDash val="solid"/>
          </a:ln>
          <a:effectLst>
            <a:outerShdw blurRad="19050" dist="12700" dir="27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22960" y="1371600"/>
            <a:ext cx="914400" cy="91440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828800" y="1389888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C1C1E"/>
                </a:solidFill>
              </a:rPr>
              <a:t>3-step flow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868680" y="1965960"/>
            <a:ext cx="2423160" cy="1920240"/>
          </a:xfrm>
          <a:prstGeom prst="roundRect">
            <a:avLst>
              <a:gd name="adj" fmla="val 5714"/>
            </a:avLst>
          </a:prstGeom>
          <a:solidFill>
            <a:srgbClr val="FFFDFC"/>
          </a:solidFill>
          <a:ln w="12700">
            <a:solidFill>
              <a:srgbClr val="E7E1DA"/>
            </a:solidFill>
            <a:prstDash val="solid"/>
          </a:ln>
          <a:effectLst>
            <a:outerShdw blurRad="19050" dist="12700" dir="27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987552" y="2084832"/>
            <a:ext cx="384048" cy="384048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987552" y="2112264"/>
            <a:ext cx="3840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1463040" y="2103120"/>
            <a:ext cx="1554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C1C1E"/>
                </a:solidFill>
              </a:rPr>
              <a:t>initiateUpload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1033272" y="2542032"/>
            <a:ext cx="2057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40" dirty="0">
                <a:solidFill>
                  <a:srgbClr val="666666"/>
                </a:solidFill>
              </a:rPr>
              <a:t>Create the upload record and get a token</a:t>
            </a:r>
            <a:endParaRPr lang="en-US" sz="1040" dirty="0"/>
          </a:p>
        </p:txBody>
      </p:sp>
      <p:sp>
        <p:nvSpPr>
          <p:cNvPr id="16" name="Shape 13"/>
          <p:cNvSpPr/>
          <p:nvPr/>
        </p:nvSpPr>
        <p:spPr>
          <a:xfrm>
            <a:off x="3355848" y="2697480"/>
            <a:ext cx="384048" cy="256032"/>
          </a:xfrm>
          <a:prstGeom prst="chevron">
            <a:avLst/>
          </a:prstGeom>
          <a:solidFill>
            <a:srgbClr val="C9C3BC"/>
          </a:solidFill>
          <a:ln w="12700">
            <a:solidFill>
              <a:srgbClr val="C9C3B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4"/>
          <p:cNvSpPr/>
          <p:nvPr/>
        </p:nvSpPr>
        <p:spPr>
          <a:xfrm>
            <a:off x="4069080" y="1965960"/>
            <a:ext cx="2423160" cy="1920240"/>
          </a:xfrm>
          <a:prstGeom prst="roundRect">
            <a:avLst>
              <a:gd name="adj" fmla="val 5714"/>
            </a:avLst>
          </a:prstGeom>
          <a:solidFill>
            <a:srgbClr val="F7FCFD"/>
          </a:solidFill>
          <a:ln w="12700">
            <a:solidFill>
              <a:srgbClr val="D4EFF3"/>
            </a:solidFill>
            <a:prstDash val="solid"/>
          </a:ln>
          <a:effectLst>
            <a:outerShdw blurRad="19050" dist="12700" dir="27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5"/>
          <p:cNvSpPr/>
          <p:nvPr/>
        </p:nvSpPr>
        <p:spPr>
          <a:xfrm>
            <a:off x="4187952" y="2084832"/>
            <a:ext cx="384048" cy="384048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4187952" y="2112264"/>
            <a:ext cx="3840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4663440" y="2103120"/>
            <a:ext cx="1554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C1C1E"/>
                </a:solidFill>
              </a:rPr>
              <a:t>PUT blob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4233672" y="2542032"/>
            <a:ext cx="2057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40" dirty="0">
                <a:solidFill>
                  <a:srgbClr val="666666"/>
                </a:solidFill>
              </a:rPr>
              <a:t>Upload the bytes to blob storage</a:t>
            </a:r>
            <a:endParaRPr lang="en-US" sz="1040" dirty="0"/>
          </a:p>
        </p:txBody>
      </p:sp>
      <p:sp>
        <p:nvSpPr>
          <p:cNvPr id="22" name="Shape 19"/>
          <p:cNvSpPr/>
          <p:nvPr/>
        </p:nvSpPr>
        <p:spPr>
          <a:xfrm>
            <a:off x="6556248" y="2697480"/>
            <a:ext cx="384048" cy="256032"/>
          </a:xfrm>
          <a:prstGeom prst="chevron">
            <a:avLst/>
          </a:prstGeom>
          <a:solidFill>
            <a:srgbClr val="C9C3BC"/>
          </a:solidFill>
          <a:ln w="12700">
            <a:solidFill>
              <a:srgbClr val="C9C3B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0"/>
          <p:cNvSpPr/>
          <p:nvPr/>
        </p:nvSpPr>
        <p:spPr>
          <a:xfrm>
            <a:off x="7269480" y="1965960"/>
            <a:ext cx="2423160" cy="1920240"/>
          </a:xfrm>
          <a:prstGeom prst="roundRect">
            <a:avLst>
              <a:gd name="adj" fmla="val 5714"/>
            </a:avLst>
          </a:prstGeom>
          <a:solidFill>
            <a:srgbClr val="FFFDFC"/>
          </a:solidFill>
          <a:ln w="12700">
            <a:solidFill>
              <a:srgbClr val="E7E1DA"/>
            </a:solidFill>
            <a:prstDash val="solid"/>
          </a:ln>
          <a:effectLst>
            <a:outerShdw blurRad="19050" dist="12700" dir="27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Shape 21"/>
          <p:cNvSpPr/>
          <p:nvPr/>
        </p:nvSpPr>
        <p:spPr>
          <a:xfrm>
            <a:off x="7388352" y="2084832"/>
            <a:ext cx="384048" cy="384048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2"/>
          <p:cNvSpPr/>
          <p:nvPr/>
        </p:nvSpPr>
        <p:spPr>
          <a:xfrm>
            <a:off x="7388352" y="2112264"/>
            <a:ext cx="3840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7863840" y="2103120"/>
            <a:ext cx="1554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C1C1E"/>
                </a:solidFill>
              </a:rPr>
              <a:t>completeUpload</a:t>
            </a:r>
            <a:endParaRPr lang="en-US" sz="1400" dirty="0"/>
          </a:p>
        </p:txBody>
      </p:sp>
      <p:sp>
        <p:nvSpPr>
          <p:cNvPr id="27" name="Text 24"/>
          <p:cNvSpPr/>
          <p:nvPr/>
        </p:nvSpPr>
        <p:spPr>
          <a:xfrm>
            <a:off x="7434072" y="2542032"/>
            <a:ext cx="2057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40" dirty="0">
                <a:solidFill>
                  <a:srgbClr val="666666"/>
                </a:solidFill>
              </a:rPr>
              <a:t>Finalize the asset and attach metadata</a:t>
            </a:r>
            <a:endParaRPr lang="en-US" sz="1040" dirty="0"/>
          </a:p>
        </p:txBody>
      </p:sp>
      <p:sp>
        <p:nvSpPr>
          <p:cNvPr id="28" name="Shape 25"/>
          <p:cNvSpPr/>
          <p:nvPr/>
        </p:nvSpPr>
        <p:spPr>
          <a:xfrm>
            <a:off x="868680" y="4251960"/>
            <a:ext cx="10378440" cy="1143000"/>
          </a:xfrm>
          <a:prstGeom prst="roundRect">
            <a:avLst>
              <a:gd name="adj" fmla="val 6400"/>
            </a:avLst>
          </a:prstGeom>
          <a:solidFill>
            <a:srgbClr val="FBFBFB"/>
          </a:solidFill>
          <a:ln w="12700">
            <a:solidFill>
              <a:srgbClr val="E7E1D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6"/>
          <p:cNvSpPr/>
          <p:nvPr/>
        </p:nvSpPr>
        <p:spPr>
          <a:xfrm>
            <a:off x="1097280" y="4535424"/>
            <a:ext cx="1371600" cy="256032"/>
          </a:xfrm>
          <a:prstGeom prst="roundRect">
            <a:avLst>
              <a:gd name="adj" fmla="val 28571"/>
            </a:avLst>
          </a:prstGeom>
          <a:solidFill>
            <a:srgbClr val="FF1500"/>
          </a:solidFill>
          <a:ln w="12700">
            <a:solidFill>
              <a:srgbClr val="FF15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7"/>
          <p:cNvSpPr/>
          <p:nvPr/>
        </p:nvSpPr>
        <p:spPr>
          <a:xfrm>
            <a:off x="1097280" y="4539996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credentials: 'include'</a:t>
            </a:r>
            <a:endParaRPr lang="en-US" sz="800" dirty="0"/>
          </a:p>
        </p:txBody>
      </p:sp>
      <p:sp>
        <p:nvSpPr>
          <p:cNvPr id="31" name="Shape 28"/>
          <p:cNvSpPr/>
          <p:nvPr/>
        </p:nvSpPr>
        <p:spPr>
          <a:xfrm>
            <a:off x="2651760" y="4535424"/>
            <a:ext cx="1188720" cy="256032"/>
          </a:xfrm>
          <a:prstGeom prst="roundRect">
            <a:avLst>
              <a:gd name="adj" fmla="val 28571"/>
            </a:avLst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29"/>
          <p:cNvSpPr/>
          <p:nvPr/>
        </p:nvSpPr>
        <p:spPr>
          <a:xfrm>
            <a:off x="2651760" y="4539996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CSRF token</a:t>
            </a:r>
            <a:endParaRPr lang="en-US" sz="800" dirty="0"/>
          </a:p>
        </p:txBody>
      </p:sp>
      <p:sp>
        <p:nvSpPr>
          <p:cNvPr id="33" name="Shape 30"/>
          <p:cNvSpPr/>
          <p:nvPr/>
        </p:nvSpPr>
        <p:spPr>
          <a:xfrm>
            <a:off x="3968496" y="4535424"/>
            <a:ext cx="1554480" cy="256032"/>
          </a:xfrm>
          <a:prstGeom prst="roundRect">
            <a:avLst>
              <a:gd name="adj" fmla="val 28571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1"/>
          <p:cNvSpPr/>
          <p:nvPr/>
        </p:nvSpPr>
        <p:spPr>
          <a:xfrm>
            <a:off x="3968496" y="4539996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same-origin fetch</a:t>
            </a:r>
            <a:endParaRPr lang="en-US" sz="800" dirty="0"/>
          </a:p>
        </p:txBody>
      </p:sp>
      <p:sp>
        <p:nvSpPr>
          <p:cNvPr id="35" name="Shape 32"/>
          <p:cNvSpPr/>
          <p:nvPr/>
        </p:nvSpPr>
        <p:spPr>
          <a:xfrm>
            <a:off x="5687568" y="4535424"/>
            <a:ext cx="1463040" cy="256032"/>
          </a:xfrm>
          <a:prstGeom prst="roundRect">
            <a:avLst>
              <a:gd name="adj" fmla="val 28571"/>
            </a:avLst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3"/>
          <p:cNvSpPr/>
          <p:nvPr/>
        </p:nvSpPr>
        <p:spPr>
          <a:xfrm>
            <a:off x="5687568" y="4539996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folder auto-create</a:t>
            </a:r>
            <a:endParaRPr lang="en-US" sz="800" dirty="0"/>
          </a:p>
        </p:txBody>
      </p:sp>
      <p:sp>
        <p:nvSpPr>
          <p:cNvPr id="37" name="Shape 34"/>
          <p:cNvSpPr/>
          <p:nvPr/>
        </p:nvSpPr>
        <p:spPr>
          <a:xfrm>
            <a:off x="7333488" y="4535424"/>
            <a:ext cx="1234440" cy="256032"/>
          </a:xfrm>
          <a:prstGeom prst="roundRect">
            <a:avLst>
              <a:gd name="adj" fmla="val 28571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5"/>
          <p:cNvSpPr/>
          <p:nvPr/>
        </p:nvSpPr>
        <p:spPr>
          <a:xfrm>
            <a:off x="7333488" y="4539996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service token</a:t>
            </a:r>
            <a:endParaRPr lang="en-US" sz="800" dirty="0"/>
          </a:p>
        </p:txBody>
      </p:sp>
      <p:sp>
        <p:nvSpPr>
          <p:cNvPr id="39" name="Text 36"/>
          <p:cNvSpPr/>
          <p:nvPr/>
        </p:nvSpPr>
        <p:spPr>
          <a:xfrm>
            <a:off x="8778240" y="4608576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0000" lnSpcReduction="20000"/>
          </a:bodyPr>
          <a:lstStyle/>
          <a:p>
            <a:pPr marL="0" indent="0" algn="ctr">
              <a:buNone/>
            </a:pPr>
            <a:r>
              <a:rPr lang="en-US" sz="890" dirty="0">
                <a:solidFill>
                  <a:srgbClr val="666666"/>
                </a:solidFill>
              </a:rPr>
              <a:t>The upload target folder auto-creates on first use if missing; every mutating call carries the Granite CSRF token.</a:t>
            </a:r>
            <a:endParaRPr lang="en-US" sz="89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82880"/>
          </a:xfrm>
          <a:prstGeom prst="rect">
            <a:avLst/>
          </a:prstGeom>
          <a:solidFill>
            <a:srgbClr val="FF1500"/>
          </a:solidFill>
          <a:ln w="12700">
            <a:solidFill>
              <a:srgbClr val="FF15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11480" y="219456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1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6 — Patch the Block's Own Content Node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11480" y="676656"/>
            <a:ext cx="11155680" cy="0"/>
          </a:xfrm>
          <a:prstGeom prst="line">
            <a:avLst/>
          </a:prstGeom>
          <a:noFill/>
          <a:ln w="12700">
            <a:solidFill>
              <a:srgbClr val="D8D3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29768" y="749808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Write the DAM path back onto the block resource using a same-origin Sling POST.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411480" y="6419088"/>
            <a:ext cx="1920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Adobe Confidential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1475720" y="6345936"/>
            <a:ext cx="2743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A7A7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502920" y="1078992"/>
            <a:ext cx="11109960" cy="5001768"/>
          </a:xfrm>
          <a:prstGeom prst="roundRect">
            <a:avLst>
              <a:gd name="adj" fmla="val 2194"/>
            </a:avLst>
          </a:prstGeom>
          <a:solidFill>
            <a:srgbClr val="FFFFFF"/>
          </a:solidFill>
          <a:ln w="12700">
            <a:solidFill>
              <a:srgbClr val="E4DFD8"/>
            </a:solidFill>
            <a:prstDash val="solid"/>
          </a:ln>
          <a:effectLst>
            <a:outerShdw blurRad="19050" dist="12700" dir="27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41248" y="1417320"/>
            <a:ext cx="914400" cy="91440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920240" y="141732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C1C1E"/>
                </a:solidFill>
              </a:rPr>
              <a:t>Additive write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914400" y="1993392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80" b="1" dirty="0">
                <a:solidFill>
                  <a:srgbClr val="FF1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180" dirty="0"/>
          </a:p>
        </p:txBody>
      </p:sp>
      <p:sp>
        <p:nvSpPr>
          <p:cNvPr id="12" name="Text 9"/>
          <p:cNvSpPr/>
          <p:nvPr/>
        </p:nvSpPr>
        <p:spPr>
          <a:xfrm>
            <a:off x="1115568" y="1984248"/>
            <a:ext cx="41879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80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 form fields named after JCR properties update the target node</a:t>
            </a:r>
            <a:endParaRPr lang="en-US" sz="1080" dirty="0"/>
          </a:p>
        </p:txBody>
      </p:sp>
      <p:sp>
        <p:nvSpPr>
          <p:cNvPr id="13" name="Text 10"/>
          <p:cNvSpPr/>
          <p:nvPr/>
        </p:nvSpPr>
        <p:spPr>
          <a:xfrm>
            <a:off x="914400" y="2596896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80" b="1" dirty="0">
                <a:solidFill>
                  <a:srgbClr val="FF1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180" dirty="0"/>
          </a:p>
        </p:txBody>
      </p:sp>
      <p:sp>
        <p:nvSpPr>
          <p:cNvPr id="14" name="Text 11"/>
          <p:cNvSpPr/>
          <p:nvPr/>
        </p:nvSpPr>
        <p:spPr>
          <a:xfrm>
            <a:off x="1115568" y="2587752"/>
            <a:ext cx="41879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80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same CSRF token and same-origin credentials are reused</a:t>
            </a:r>
            <a:endParaRPr lang="en-US" sz="1080" dirty="0"/>
          </a:p>
        </p:txBody>
      </p:sp>
      <p:sp>
        <p:nvSpPr>
          <p:cNvPr id="15" name="Text 12"/>
          <p:cNvSpPr/>
          <p:nvPr/>
        </p:nvSpPr>
        <p:spPr>
          <a:xfrm>
            <a:off x="914400" y="3200400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80" b="1" dirty="0">
                <a:solidFill>
                  <a:srgbClr val="FF1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180" dirty="0"/>
          </a:p>
        </p:txBody>
      </p:sp>
      <p:sp>
        <p:nvSpPr>
          <p:cNvPr id="16" name="Text 13"/>
          <p:cNvSpPr/>
          <p:nvPr/>
        </p:nvSpPr>
        <p:spPr>
          <a:xfrm>
            <a:off x="1115568" y="3191256"/>
            <a:ext cx="41879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80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Only the image property changes — prompt and aspectRatio remain intact</a:t>
            </a:r>
            <a:endParaRPr lang="en-US" sz="1080" dirty="0"/>
          </a:p>
        </p:txBody>
      </p:sp>
      <p:sp>
        <p:nvSpPr>
          <p:cNvPr id="17" name="Shape 14"/>
          <p:cNvSpPr/>
          <p:nvPr/>
        </p:nvSpPr>
        <p:spPr>
          <a:xfrm>
            <a:off x="6355080" y="1417320"/>
            <a:ext cx="5074920" cy="3657600"/>
          </a:xfrm>
          <a:prstGeom prst="roundRect">
            <a:avLst>
              <a:gd name="adj" fmla="val 2000"/>
            </a:avLst>
          </a:prstGeom>
          <a:solidFill>
            <a:srgbClr val="F6F4F1"/>
          </a:solidFill>
          <a:ln w="12700">
            <a:solidFill>
              <a:srgbClr val="D9D4CD"/>
            </a:solidFill>
            <a:prstDash val="solid"/>
          </a:ln>
          <a:effectLst>
            <a:outerShdw blurRad="12700" dist="12700" dir="27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6501384" y="1527048"/>
            <a:ext cx="4782312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810" dirty="0">
                <a:solidFill>
                  <a:srgbClr val="4444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await fetch(resourcePath, {</a:t>
            </a:r>
            <a:endParaRPr lang="en-US" sz="810" dirty="0"/>
          </a:p>
          <a:p>
            <a:pPr marL="0" indent="0">
              <a:buNone/>
            </a:pPr>
            <a:r>
              <a:rPr lang="en-US" sz="810" dirty="0">
                <a:solidFill>
                  <a:srgbClr val="4444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method: 'POST',</a:t>
            </a:r>
            <a:endParaRPr lang="en-US" sz="810" dirty="0"/>
          </a:p>
          <a:p>
            <a:pPr marL="0" indent="0">
              <a:buNone/>
            </a:pPr>
            <a:r>
              <a:rPr lang="en-US" sz="810" dirty="0">
                <a:solidFill>
                  <a:srgbClr val="4444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credentials: 'include',</a:t>
            </a:r>
            <a:endParaRPr lang="en-US" sz="810" dirty="0"/>
          </a:p>
          <a:p>
            <a:pPr marL="0" indent="0">
              <a:buNone/>
            </a:pPr>
            <a:r>
              <a:rPr lang="en-US" sz="810" dirty="0">
                <a:solidFill>
                  <a:srgbClr val="4444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headers: { 'Content-Type': 'application/x-www-form-urlencoded', 'CSRF-Token': csrfToken },</a:t>
            </a:r>
            <a:endParaRPr lang="en-US" sz="810" dirty="0"/>
          </a:p>
          <a:p>
            <a:pPr marL="0" indent="0">
              <a:buNone/>
            </a:pPr>
            <a:r>
              <a:rPr lang="en-US" sz="810" dirty="0">
                <a:solidFill>
                  <a:srgbClr val="4444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body: new URLSearchParams({ image: assetPath }),</a:t>
            </a:r>
            <a:endParaRPr lang="en-US" sz="810" dirty="0"/>
          </a:p>
          <a:p>
            <a:pPr marL="0" indent="0">
              <a:buNone/>
            </a:pPr>
            <a:r>
              <a:rPr lang="en-US" sz="810" dirty="0">
                <a:solidFill>
                  <a:srgbClr val="4444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});</a:t>
            </a:r>
            <a:endParaRPr lang="en-US" sz="810" dirty="0"/>
          </a:p>
          <a:p>
            <a:pPr marL="0" indent="0">
              <a:buNone/>
            </a:pPr>
            <a:endParaRPr lang="en-US" sz="810" dirty="0"/>
          </a:p>
          <a:p>
            <a:pPr marL="0" indent="0">
              <a:buNone/>
            </a:pPr>
            <a:r>
              <a:rPr lang="en-US" sz="810" dirty="0">
                <a:solidFill>
                  <a:srgbClr val="4444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resourcePath = /content/.../firefly</a:t>
            </a:r>
            <a:endParaRPr lang="en-US" sz="810" dirty="0"/>
          </a:p>
          <a:p>
            <a:pPr marL="0" indent="0">
              <a:buNone/>
            </a:pPr>
            <a:r>
              <a:rPr lang="en-US" sz="810" dirty="0">
                <a:solidFill>
                  <a:srgbClr val="4444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assetPath    = /content/dam/.../generated/firefly-&lt;timestamp&gt;.jpg</a:t>
            </a:r>
            <a:endParaRPr lang="en-US" sz="810" dirty="0"/>
          </a:p>
        </p:txBody>
      </p:sp>
      <p:sp>
        <p:nvSpPr>
          <p:cNvPr id="19" name="Shape 16"/>
          <p:cNvSpPr/>
          <p:nvPr/>
        </p:nvSpPr>
        <p:spPr>
          <a:xfrm>
            <a:off x="6355080" y="5285232"/>
            <a:ext cx="5074920" cy="420624"/>
          </a:xfrm>
          <a:prstGeom prst="roundRect">
            <a:avLst>
              <a:gd name="adj" fmla="val 17391"/>
            </a:avLst>
          </a:prstGeom>
          <a:solidFill>
            <a:srgbClr val="F6FBF8"/>
          </a:solidFill>
          <a:ln w="12700">
            <a:solidFill>
              <a:srgbClr val="D9ED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6537960" y="5431536"/>
            <a:ext cx="47091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90" b="1" dirty="0">
                <a:solidFill>
                  <a:srgbClr val="10B981"/>
                </a:solidFill>
              </a:rPr>
              <a:t>This writes only the persisted DAM reference, never the original authoring inputs.</a:t>
            </a:r>
            <a:endParaRPr lang="en-US" sz="89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82880"/>
          </a:xfrm>
          <a:prstGeom prst="rect">
            <a:avLst/>
          </a:prstGeom>
          <a:solidFill>
            <a:srgbClr val="FF1500"/>
          </a:solidFill>
          <a:ln w="12700">
            <a:solidFill>
              <a:srgbClr val="FF15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11480" y="219456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1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Bugs Hit Along the Way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11480" y="676656"/>
            <a:ext cx="11155680" cy="0"/>
          </a:xfrm>
          <a:prstGeom prst="line">
            <a:avLst/>
          </a:prstGeom>
          <a:noFill/>
          <a:ln w="12700">
            <a:solidFill>
              <a:srgbClr val="D8D3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29768" y="749808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compact debugging log: symptom, root cause, fix.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411480" y="6419088"/>
            <a:ext cx="1920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Adobe Confidential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1475720" y="6345936"/>
            <a:ext cx="2743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A7A7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502920" y="1417320"/>
            <a:ext cx="2944368" cy="438912"/>
          </a:xfrm>
          <a:prstGeom prst="roundRect">
            <a:avLst>
              <a:gd name="adj" fmla="val 25000"/>
            </a:avLst>
          </a:prstGeom>
          <a:solidFill>
            <a:srgbClr val="141414"/>
          </a:solidFill>
          <a:ln w="12700">
            <a:solidFill>
              <a:srgbClr val="14141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12648" y="1536192"/>
            <a:ext cx="2560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</a:rPr>
              <a:t>Symptom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069080" y="1417320"/>
            <a:ext cx="2944368" cy="438912"/>
          </a:xfrm>
          <a:prstGeom prst="roundRect">
            <a:avLst>
              <a:gd name="adj" fmla="val 25000"/>
            </a:avLst>
          </a:prstGeom>
          <a:solidFill>
            <a:srgbClr val="141414"/>
          </a:solidFill>
          <a:ln w="12700">
            <a:solidFill>
              <a:srgbClr val="14141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178808" y="1536192"/>
            <a:ext cx="2560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</a:rPr>
              <a:t>Root cause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7635240" y="1417320"/>
            <a:ext cx="2944368" cy="438912"/>
          </a:xfrm>
          <a:prstGeom prst="roundRect">
            <a:avLst>
              <a:gd name="adj" fmla="val 25000"/>
            </a:avLst>
          </a:prstGeom>
          <a:solidFill>
            <a:srgbClr val="141414"/>
          </a:solidFill>
          <a:ln w="12700">
            <a:solidFill>
              <a:srgbClr val="14141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7744968" y="1536192"/>
            <a:ext cx="2560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</a:rPr>
              <a:t>Fix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02920" y="1965960"/>
            <a:ext cx="2944368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5E0D8"/>
            </a:solidFill>
            <a:prstDash val="solid"/>
          </a:ln>
          <a:effectLst>
            <a:outerShdw blurRad="19050" dist="12700" dir="27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4069080" y="1965960"/>
            <a:ext cx="2944368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5E0D8"/>
            </a:solidFill>
            <a:prstDash val="solid"/>
          </a:ln>
          <a:effectLst>
            <a:outerShdw blurRad="19050" dist="12700" dir="27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7635240" y="1965960"/>
            <a:ext cx="2944368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5E0D8"/>
            </a:solidFill>
            <a:prstDash val="solid"/>
          </a:ln>
          <a:effectLst>
            <a:outerShdw blurRad="19050" dist="12700" dir="27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21792" y="2093976"/>
            <a:ext cx="2697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10" b="1" dirty="0">
                <a:solidFill>
                  <a:srgbClr val="1C1C1E"/>
                </a:solidFill>
              </a:rPr>
              <a:t>Broken image icon before generation</a:t>
            </a:r>
            <a:endParaRPr lang="en-US" sz="1010" dirty="0"/>
          </a:p>
        </p:txBody>
      </p:sp>
      <p:sp>
        <p:nvSpPr>
          <p:cNvPr id="18" name="Text 16"/>
          <p:cNvSpPr/>
          <p:nvPr/>
        </p:nvSpPr>
        <p:spPr>
          <a:xfrm>
            <a:off x="4187952" y="2093976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666666"/>
                </a:solidFill>
              </a:rPr>
              <a:t>.ai-image-preview display:block overrode hidden</a:t>
            </a:r>
            <a:endParaRPr lang="en-US" sz="920" dirty="0"/>
          </a:p>
        </p:txBody>
      </p:sp>
      <p:sp>
        <p:nvSpPr>
          <p:cNvPr id="19" name="Text 17"/>
          <p:cNvSpPr/>
          <p:nvPr/>
        </p:nvSpPr>
        <p:spPr>
          <a:xfrm>
            <a:off x="7754112" y="2093976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1C1C1E"/>
                </a:solidFill>
              </a:rPr>
              <a:t>Add .ai-image-preview[hidden]{ display:none; }</a:t>
            </a:r>
            <a:endParaRPr lang="en-US" sz="920" dirty="0"/>
          </a:p>
        </p:txBody>
      </p:sp>
      <p:sp>
        <p:nvSpPr>
          <p:cNvPr id="20" name="Shape 18"/>
          <p:cNvSpPr/>
          <p:nvPr/>
        </p:nvSpPr>
        <p:spPr>
          <a:xfrm>
            <a:off x="502920" y="3090672"/>
            <a:ext cx="2944368" cy="914400"/>
          </a:xfrm>
          <a:prstGeom prst="roundRect">
            <a:avLst>
              <a:gd name="adj" fmla="val 12000"/>
            </a:avLst>
          </a:prstGeom>
          <a:solidFill>
            <a:srgbClr val="FBFBFB"/>
          </a:solidFill>
          <a:ln w="12700">
            <a:solidFill>
              <a:srgbClr val="E5E0D8"/>
            </a:solidFill>
            <a:prstDash val="solid"/>
          </a:ln>
          <a:effectLst>
            <a:outerShdw blurRad="19050" dist="12700" dir="27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4069080" y="3090672"/>
            <a:ext cx="2944368" cy="914400"/>
          </a:xfrm>
          <a:prstGeom prst="roundRect">
            <a:avLst>
              <a:gd name="adj" fmla="val 12000"/>
            </a:avLst>
          </a:prstGeom>
          <a:solidFill>
            <a:srgbClr val="FBFBFB"/>
          </a:solidFill>
          <a:ln w="12700">
            <a:solidFill>
              <a:srgbClr val="E5E0D8"/>
            </a:solidFill>
            <a:prstDash val="solid"/>
          </a:ln>
          <a:effectLst>
            <a:outerShdw blurRad="19050" dist="12700" dir="27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7635240" y="3090672"/>
            <a:ext cx="2944368" cy="914400"/>
          </a:xfrm>
          <a:prstGeom prst="roundRect">
            <a:avLst>
              <a:gd name="adj" fmla="val 12000"/>
            </a:avLst>
          </a:prstGeom>
          <a:solidFill>
            <a:srgbClr val="FBFBFB"/>
          </a:solidFill>
          <a:ln w="12700">
            <a:solidFill>
              <a:srgbClr val="E5E0D8"/>
            </a:solidFill>
            <a:prstDash val="solid"/>
          </a:ln>
          <a:effectLst>
            <a:outerShdw blurRad="19050" dist="12700" dir="27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621792" y="3218688"/>
            <a:ext cx="2697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10" b="1" dirty="0">
                <a:solidFill>
                  <a:srgbClr val="1C1C1E"/>
                </a:solidFill>
              </a:rPr>
              <a:t>Generate button had invisible text</a:t>
            </a:r>
            <a:endParaRPr lang="en-US" sz="1010" dirty="0"/>
          </a:p>
        </p:txBody>
      </p:sp>
      <p:sp>
        <p:nvSpPr>
          <p:cNvPr id="24" name="Text 22"/>
          <p:cNvSpPr/>
          <p:nvPr/>
        </p:nvSpPr>
        <p:spPr>
          <a:xfrm>
            <a:off x="4187952" y="3218688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666666"/>
                </a:solidFill>
              </a:rPr>
              <a:t>Global button{} rule set color to background color</a:t>
            </a:r>
            <a:endParaRPr lang="en-US" sz="920" dirty="0"/>
          </a:p>
        </p:txBody>
      </p:sp>
      <p:sp>
        <p:nvSpPr>
          <p:cNvPr id="25" name="Text 23"/>
          <p:cNvSpPr/>
          <p:nvPr/>
        </p:nvSpPr>
        <p:spPr>
          <a:xfrm>
            <a:off x="7754112" y="3218688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1C1C1E"/>
                </a:solidFill>
              </a:rPr>
              <a:t>Explicitly set button text color; later remove the button</a:t>
            </a:r>
            <a:endParaRPr lang="en-US" sz="920" dirty="0"/>
          </a:p>
        </p:txBody>
      </p:sp>
      <p:sp>
        <p:nvSpPr>
          <p:cNvPr id="26" name="Shape 24"/>
          <p:cNvSpPr/>
          <p:nvPr/>
        </p:nvSpPr>
        <p:spPr>
          <a:xfrm>
            <a:off x="502920" y="4206240"/>
            <a:ext cx="2944368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5E0D8"/>
            </a:solidFill>
            <a:prstDash val="solid"/>
          </a:ln>
          <a:effectLst>
            <a:outerShdw blurRad="19050" dist="12700" dir="27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4069080" y="4206240"/>
            <a:ext cx="2944368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5E0D8"/>
            </a:solidFill>
            <a:prstDash val="solid"/>
          </a:ln>
          <a:effectLst>
            <a:outerShdw blurRad="19050" dist="12700" dir="27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7635240" y="4206240"/>
            <a:ext cx="2944368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5E0D8"/>
            </a:solidFill>
            <a:prstDash val="solid"/>
          </a:ln>
          <a:effectLst>
            <a:outerShdw blurRad="19050" dist="12700" dir="27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621792" y="4334256"/>
            <a:ext cx="2697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10" b="1" dirty="0">
                <a:solidFill>
                  <a:srgbClr val="1C1C1E"/>
                </a:solidFill>
              </a:rPr>
              <a:t>“Something went wrong…” with no detail</a:t>
            </a:r>
            <a:endParaRPr lang="en-US" sz="1010" dirty="0"/>
          </a:p>
        </p:txBody>
      </p:sp>
      <p:sp>
        <p:nvSpPr>
          <p:cNvPr id="30" name="Text 28"/>
          <p:cNvSpPr/>
          <p:nvPr/>
        </p:nvSpPr>
        <p:spPr>
          <a:xfrm>
            <a:off x="4187952" y="4334256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666666"/>
                </a:solidFill>
              </a:rPr>
              <a:t>Catch block swallowed the real error</a:t>
            </a:r>
            <a:endParaRPr lang="en-US" sz="920" dirty="0"/>
          </a:p>
        </p:txBody>
      </p:sp>
      <p:sp>
        <p:nvSpPr>
          <p:cNvPr id="31" name="Text 29"/>
          <p:cNvSpPr/>
          <p:nvPr/>
        </p:nvSpPr>
        <p:spPr>
          <a:xfrm>
            <a:off x="7754112" y="4334256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1C1C1E"/>
                </a:solidFill>
              </a:rPr>
              <a:t>Surface e.message in status and console.error</a:t>
            </a:r>
            <a:endParaRPr lang="en-US" sz="920" dirty="0"/>
          </a:p>
        </p:txBody>
      </p:sp>
      <p:sp>
        <p:nvSpPr>
          <p:cNvPr id="32" name="Shape 30"/>
          <p:cNvSpPr/>
          <p:nvPr/>
        </p:nvSpPr>
        <p:spPr>
          <a:xfrm>
            <a:off x="502920" y="5321808"/>
            <a:ext cx="2944368" cy="914400"/>
          </a:xfrm>
          <a:prstGeom prst="roundRect">
            <a:avLst>
              <a:gd name="adj" fmla="val 12000"/>
            </a:avLst>
          </a:prstGeom>
          <a:solidFill>
            <a:srgbClr val="FBFBFB"/>
          </a:solidFill>
          <a:ln w="12700">
            <a:solidFill>
              <a:srgbClr val="E5E0D8"/>
            </a:solidFill>
            <a:prstDash val="solid"/>
          </a:ln>
          <a:effectLst>
            <a:outerShdw blurRad="19050" dist="12700" dir="27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4069080" y="5321808"/>
            <a:ext cx="2944368" cy="914400"/>
          </a:xfrm>
          <a:prstGeom prst="roundRect">
            <a:avLst>
              <a:gd name="adj" fmla="val 12000"/>
            </a:avLst>
          </a:prstGeom>
          <a:solidFill>
            <a:srgbClr val="FBFBFB"/>
          </a:solidFill>
          <a:ln w="12700">
            <a:solidFill>
              <a:srgbClr val="E5E0D8"/>
            </a:solidFill>
            <a:prstDash val="solid"/>
          </a:ln>
          <a:effectLst>
            <a:outerShdw blurRad="19050" dist="12700" dir="27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7635240" y="5321808"/>
            <a:ext cx="2944368" cy="914400"/>
          </a:xfrm>
          <a:prstGeom prst="roundRect">
            <a:avLst>
              <a:gd name="adj" fmla="val 12000"/>
            </a:avLst>
          </a:prstGeom>
          <a:solidFill>
            <a:srgbClr val="FBFBFB"/>
          </a:solidFill>
          <a:ln w="12700">
            <a:solidFill>
              <a:srgbClr val="E5E0D8"/>
            </a:solidFill>
            <a:prstDash val="solid"/>
          </a:ln>
          <a:effectLst>
            <a:outerShdw blurRad="19050" dist="12700" dir="27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621792" y="5449824"/>
            <a:ext cx="2697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10" b="1" dirty="0">
                <a:solidFill>
                  <a:srgbClr val="1C1C1E"/>
                </a:solidFill>
              </a:rPr>
              <a:t>Failed to fetch from the editor</a:t>
            </a:r>
            <a:endParaRPr lang="en-US" sz="1010" dirty="0"/>
          </a:p>
        </p:txBody>
      </p:sp>
      <p:sp>
        <p:nvSpPr>
          <p:cNvPr id="36" name="Text 34"/>
          <p:cNvSpPr/>
          <p:nvPr/>
        </p:nvSpPr>
        <p:spPr>
          <a:xfrm>
            <a:off x="4187952" y="5449824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666666"/>
                </a:solidFill>
              </a:rPr>
              <a:t>CORS allowlist missed the AEM author origin</a:t>
            </a:r>
            <a:endParaRPr lang="en-US" sz="920" dirty="0"/>
          </a:p>
        </p:txBody>
      </p:sp>
      <p:sp>
        <p:nvSpPr>
          <p:cNvPr id="37" name="Text 35"/>
          <p:cNvSpPr/>
          <p:nvPr/>
        </p:nvSpPr>
        <p:spPr>
          <a:xfrm>
            <a:off x="7754112" y="5449824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1C1C1E"/>
                </a:solidFill>
              </a:rPr>
              <a:t>Add the author domain to ALLOWED_ORIGINS</a:t>
            </a:r>
            <a:endParaRPr lang="en-US" sz="920" dirty="0"/>
          </a:p>
        </p:txBody>
      </p:sp>
      <p:sp>
        <p:nvSpPr>
          <p:cNvPr id="38" name="Shape 36"/>
          <p:cNvSpPr/>
          <p:nvPr/>
        </p:nvSpPr>
        <p:spPr>
          <a:xfrm>
            <a:off x="713232" y="5577840"/>
            <a:ext cx="10771632" cy="365760"/>
          </a:xfrm>
          <a:prstGeom prst="roundRect">
            <a:avLst>
              <a:gd name="adj" fmla="val 20000"/>
            </a:avLst>
          </a:prstGeom>
          <a:solidFill>
            <a:srgbClr val="FFF7F6"/>
          </a:solidFill>
          <a:ln w="12700">
            <a:solidFill>
              <a:srgbClr val="F1DD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914400" y="5687568"/>
            <a:ext cx="10378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1500"/>
                </a:solidFill>
              </a:rPr>
              <a:t>The same small set of culprits kept recurring: CSS, error handling, and CORS on the Worker route.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82880"/>
          </a:xfrm>
          <a:prstGeom prst="rect">
            <a:avLst/>
          </a:prstGeom>
          <a:solidFill>
            <a:srgbClr val="FF1500"/>
          </a:solidFill>
          <a:ln w="12700">
            <a:solidFill>
              <a:srgbClr val="FF15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11480" y="219456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1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 Status &amp; Open Issue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11480" y="676656"/>
            <a:ext cx="11155680" cy="0"/>
          </a:xfrm>
          <a:prstGeom prst="line">
            <a:avLst/>
          </a:prstGeom>
          <a:noFill/>
          <a:ln w="12700">
            <a:solidFill>
              <a:srgbClr val="D8D3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29768" y="749808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works now, and what still needs investigation.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411480" y="6419088"/>
            <a:ext cx="1920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Adobe Confidential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1475720" y="6345936"/>
            <a:ext cx="2743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A7A7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502920" y="1097280"/>
            <a:ext cx="5303520" cy="4983480"/>
          </a:xfrm>
          <a:prstGeom prst="roundRect">
            <a:avLst>
              <a:gd name="adj" fmla="val 2202"/>
            </a:avLst>
          </a:prstGeom>
          <a:solidFill>
            <a:srgbClr val="FFFFFF"/>
          </a:solidFill>
          <a:ln w="12700">
            <a:solidFill>
              <a:srgbClr val="E4DFD8"/>
            </a:solidFill>
            <a:prstDash val="solid"/>
          </a:ln>
          <a:effectLst>
            <a:outerShdw blurRad="19050" dist="12700" dir="27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6035040" y="1097280"/>
            <a:ext cx="5440680" cy="4983480"/>
          </a:xfrm>
          <a:prstGeom prst="roundRect">
            <a:avLst>
              <a:gd name="adj" fmla="val 2202"/>
            </a:avLst>
          </a:prstGeom>
          <a:solidFill>
            <a:srgbClr val="FFF9F7"/>
          </a:solidFill>
          <a:ln w="12700">
            <a:solidFill>
              <a:srgbClr val="FFD9D2"/>
            </a:solidFill>
            <a:prstDash val="solid"/>
          </a:ln>
          <a:effectLst>
            <a:outerShdw blurRad="19050" dist="12700" dir="27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804672" y="1371600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0B981"/>
                </a:solidFill>
              </a:rPr>
              <a:t>Working today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914400" y="1874520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1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115568" y="1865376"/>
            <a:ext cx="40965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 entry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914400" y="2459736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1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115568" y="2450592"/>
            <a:ext cx="40965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Debounced auto-generate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14400" y="3044952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1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115568" y="3035808"/>
            <a:ext cx="40965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Inline preview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914400" y="3630168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1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115568" y="3621024"/>
            <a:ext cx="40965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CSRF token fetch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914400" y="4215384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1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115568" y="4206240"/>
            <a:ext cx="40965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DAM upload initiateUpload step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336792" y="1371600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1500"/>
                </a:solidFill>
              </a:rPr>
              <a:t>Open issue</a:t>
            </a:r>
            <a:endParaRPr lang="en-US" sz="1600" dirty="0"/>
          </a:p>
        </p:txBody>
      </p:sp>
      <p:pic>
        <p:nvPicPr>
          <p:cNvPr id="22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355080" y="1719072"/>
            <a:ext cx="713232" cy="713232"/>
          </a:xfrm>
          <a:prstGeom prst="rect">
            <a:avLst/>
          </a:prstGeom>
        </p:spPr>
      </p:pic>
      <p:sp>
        <p:nvSpPr>
          <p:cNvPr id="23" name="Text 20"/>
          <p:cNvSpPr/>
          <p:nvPr/>
        </p:nvSpPr>
        <p:spPr>
          <a:xfrm>
            <a:off x="7269480" y="1737360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>
              <a:buNone/>
            </a:pPr>
            <a:r>
              <a:rPr lang="en-US" sz="1130" b="1" dirty="0">
                <a:solidFill>
                  <a:srgbClr val="1C1C1E"/>
                </a:solidFill>
              </a:rPr>
              <a:t>After completeUpload succeeds, the asset-processing workflow starts and has been observed to fail.</a:t>
            </a:r>
            <a:endParaRPr lang="en-US" sz="1130" dirty="0"/>
          </a:p>
        </p:txBody>
      </p:sp>
      <p:sp>
        <p:nvSpPr>
          <p:cNvPr id="24" name="Shape 21"/>
          <p:cNvSpPr/>
          <p:nvPr/>
        </p:nvSpPr>
        <p:spPr>
          <a:xfrm>
            <a:off x="6400800" y="2697480"/>
            <a:ext cx="4663440" cy="1316736"/>
          </a:xfrm>
          <a:prstGeom prst="roundRect">
            <a:avLst>
              <a:gd name="adj" fmla="val 5556"/>
            </a:avLst>
          </a:prstGeom>
          <a:solidFill>
            <a:srgbClr val="FFF1EF"/>
          </a:solidFill>
          <a:ln w="12700">
            <a:solidFill>
              <a:srgbClr val="F0D1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2"/>
          <p:cNvSpPr/>
          <p:nvPr/>
        </p:nvSpPr>
        <p:spPr>
          <a:xfrm>
            <a:off x="6583680" y="2907792"/>
            <a:ext cx="42976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40" dirty="0">
                <a:solidFill>
                  <a:srgbClr val="1C1C1E"/>
                </a:solidFill>
              </a:rPr>
              <a:t>This appears to be server-side AEM workflow behavior, not block code. Next check: Tools → Operations → Workflow → Failures, or the Assets UI, for the actual processing error.</a:t>
            </a:r>
            <a:endParaRPr lang="en-US" sz="1040" dirty="0"/>
          </a:p>
        </p:txBody>
      </p:sp>
      <p:sp>
        <p:nvSpPr>
          <p:cNvPr id="26" name="Shape 23"/>
          <p:cNvSpPr/>
          <p:nvPr/>
        </p:nvSpPr>
        <p:spPr>
          <a:xfrm>
            <a:off x="6492240" y="4462272"/>
            <a:ext cx="1234440" cy="274320"/>
          </a:xfrm>
          <a:prstGeom prst="roundRect">
            <a:avLst>
              <a:gd name="adj" fmla="val 26667"/>
            </a:avLst>
          </a:prstGeom>
          <a:solidFill>
            <a:srgbClr val="FF1500"/>
          </a:solidFill>
          <a:ln w="12700">
            <a:solidFill>
              <a:srgbClr val="FF15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4"/>
          <p:cNvSpPr/>
          <p:nvPr/>
        </p:nvSpPr>
        <p:spPr>
          <a:xfrm>
            <a:off x="6492240" y="4466844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workflow</a:t>
            </a:r>
            <a:endParaRPr lang="en-US" sz="820" dirty="0"/>
          </a:p>
        </p:txBody>
      </p:sp>
      <p:sp>
        <p:nvSpPr>
          <p:cNvPr id="28" name="Shape 25"/>
          <p:cNvSpPr/>
          <p:nvPr/>
        </p:nvSpPr>
        <p:spPr>
          <a:xfrm>
            <a:off x="7827264" y="4462272"/>
            <a:ext cx="1444752" cy="274320"/>
          </a:xfrm>
          <a:prstGeom prst="roundRect">
            <a:avLst>
              <a:gd name="adj" fmla="val 26667"/>
            </a:avLst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6"/>
          <p:cNvSpPr/>
          <p:nvPr/>
        </p:nvSpPr>
        <p:spPr>
          <a:xfrm>
            <a:off x="7827264" y="4466844"/>
            <a:ext cx="1444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ACL / launcher</a:t>
            </a:r>
            <a:endParaRPr lang="en-US" sz="820" dirty="0"/>
          </a:p>
        </p:txBody>
      </p:sp>
      <p:sp>
        <p:nvSpPr>
          <p:cNvPr id="30" name="Shape 27"/>
          <p:cNvSpPr/>
          <p:nvPr/>
        </p:nvSpPr>
        <p:spPr>
          <a:xfrm>
            <a:off x="9400032" y="4462272"/>
            <a:ext cx="1078992" cy="274320"/>
          </a:xfrm>
          <a:prstGeom prst="roundRect">
            <a:avLst>
              <a:gd name="adj" fmla="val 26667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8"/>
          <p:cNvSpPr/>
          <p:nvPr/>
        </p:nvSpPr>
        <p:spPr>
          <a:xfrm>
            <a:off x="9400032" y="4466844"/>
            <a:ext cx="1078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folder</a:t>
            </a:r>
            <a:endParaRPr lang="en-US" sz="820" dirty="0"/>
          </a:p>
        </p:txBody>
      </p:sp>
      <p:sp>
        <p:nvSpPr>
          <p:cNvPr id="32" name="Text 29"/>
          <p:cNvSpPr/>
          <p:nvPr/>
        </p:nvSpPr>
        <p:spPr>
          <a:xfrm>
            <a:off x="6629400" y="4892040"/>
            <a:ext cx="4160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40" dirty="0">
                <a:solidFill>
                  <a:srgbClr val="666666"/>
                </a:solidFill>
              </a:rPr>
              <a:t>The folder was auto-created by code, so it may not inherit the same ACLs or workflow launcher config as a normal authored DAM folder.</a:t>
            </a:r>
            <a:endParaRPr lang="en-US" sz="94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82880"/>
          </a:xfrm>
          <a:prstGeom prst="rect">
            <a:avLst/>
          </a:prstGeom>
          <a:solidFill>
            <a:srgbClr val="FF1500"/>
          </a:solidFill>
          <a:ln w="12700">
            <a:solidFill>
              <a:srgbClr val="FF15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11480" y="219456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1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 Practices &amp; Summary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11480" y="676656"/>
            <a:ext cx="11155680" cy="0"/>
          </a:xfrm>
          <a:prstGeom prst="line">
            <a:avLst/>
          </a:prstGeom>
          <a:noFill/>
          <a:ln w="12700">
            <a:solidFill>
              <a:srgbClr val="D8D3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29768" y="749808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concise checklist for the final implementation.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411480" y="6419088"/>
            <a:ext cx="1920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Adobe Confidential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1475720" y="6345936"/>
            <a:ext cx="2743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A7A7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594360" y="1188720"/>
            <a:ext cx="10972800" cy="566928"/>
          </a:xfrm>
          <a:prstGeom prst="roundRect">
            <a:avLst>
              <a:gd name="adj" fmla="val 19355"/>
            </a:avLst>
          </a:prstGeom>
          <a:solidFill>
            <a:srgbClr val="FFFFFF"/>
          </a:solidFill>
          <a:ln w="12700">
            <a:solidFill>
              <a:srgbClr val="E4DFD8"/>
            </a:solidFill>
            <a:prstDash val="solid"/>
          </a:ln>
          <a:effectLst>
            <a:outerShdw blurRad="19050" dist="12700" dir="27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822960" y="1344168"/>
            <a:ext cx="786384" cy="201168"/>
          </a:xfrm>
          <a:prstGeom prst="roundRect">
            <a:avLst>
              <a:gd name="adj" fmla="val 36364"/>
            </a:avLst>
          </a:prstGeom>
          <a:solidFill>
            <a:srgbClr val="FF1500"/>
          </a:solidFill>
          <a:ln w="12700">
            <a:solidFill>
              <a:srgbClr val="FF15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822960" y="1348740"/>
            <a:ext cx="7863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7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Model</a:t>
            </a:r>
            <a:endParaRPr lang="en-US" sz="770" dirty="0"/>
          </a:p>
        </p:txBody>
      </p:sp>
      <p:sp>
        <p:nvSpPr>
          <p:cNvPr id="11" name="Text 9"/>
          <p:cNvSpPr/>
          <p:nvPr/>
        </p:nvSpPr>
        <p:spPr>
          <a:xfrm>
            <a:off x="1783080" y="1298448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40" b="1" dirty="0">
                <a:solidFill>
                  <a:srgbClr val="1C1C1E"/>
                </a:solidFill>
              </a:rPr>
              <a:t>prompt, aspectRatio, image</a:t>
            </a:r>
            <a:endParaRPr lang="en-US" sz="1040" dirty="0"/>
          </a:p>
        </p:txBody>
      </p:sp>
      <p:sp>
        <p:nvSpPr>
          <p:cNvPr id="12" name="Text 10"/>
          <p:cNvSpPr/>
          <p:nvPr/>
        </p:nvSpPr>
        <p:spPr>
          <a:xfrm>
            <a:off x="6309360" y="1298448"/>
            <a:ext cx="4663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10" dirty="0">
                <a:solidFill>
                  <a:srgbClr val="666666"/>
                </a:solidFill>
              </a:rPr>
              <a:t>image is written programmatically, not picked</a:t>
            </a:r>
            <a:endParaRPr lang="en-US" sz="910" dirty="0"/>
          </a:p>
        </p:txBody>
      </p:sp>
      <p:sp>
        <p:nvSpPr>
          <p:cNvPr id="13" name="Shape 11"/>
          <p:cNvSpPr/>
          <p:nvPr/>
        </p:nvSpPr>
        <p:spPr>
          <a:xfrm>
            <a:off x="594360" y="1883664"/>
            <a:ext cx="10972800" cy="566928"/>
          </a:xfrm>
          <a:prstGeom prst="roundRect">
            <a:avLst>
              <a:gd name="adj" fmla="val 19355"/>
            </a:avLst>
          </a:prstGeom>
          <a:solidFill>
            <a:srgbClr val="FBFBFB"/>
          </a:solidFill>
          <a:ln w="12700">
            <a:solidFill>
              <a:srgbClr val="E4DFD8"/>
            </a:solidFill>
            <a:prstDash val="solid"/>
          </a:ln>
          <a:effectLst>
            <a:outerShdw blurRad="19050" dist="12700" dir="27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822960" y="2039112"/>
            <a:ext cx="786384" cy="201168"/>
          </a:xfrm>
          <a:prstGeom prst="roundRect">
            <a:avLst>
              <a:gd name="adj" fmla="val 36364"/>
            </a:avLst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822960" y="2043684"/>
            <a:ext cx="7863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7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Worker route</a:t>
            </a:r>
            <a:endParaRPr lang="en-US" sz="770" dirty="0"/>
          </a:p>
        </p:txBody>
      </p:sp>
      <p:sp>
        <p:nvSpPr>
          <p:cNvPr id="16" name="Text 14"/>
          <p:cNvSpPr/>
          <p:nvPr/>
        </p:nvSpPr>
        <p:spPr>
          <a:xfrm>
            <a:off x="1783080" y="1993392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40" b="1" dirty="0">
                <a:solidFill>
                  <a:srgbClr val="1C1C1E"/>
                </a:solidFill>
              </a:rPr>
              <a:t>Stream bytes instead of a presigned URL</a:t>
            </a:r>
            <a:endParaRPr lang="en-US" sz="1040" dirty="0"/>
          </a:p>
        </p:txBody>
      </p:sp>
      <p:sp>
        <p:nvSpPr>
          <p:cNvPr id="17" name="Text 15"/>
          <p:cNvSpPr/>
          <p:nvPr/>
        </p:nvSpPr>
        <p:spPr>
          <a:xfrm>
            <a:off x="6309360" y="1993392"/>
            <a:ext cx="4663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10" dirty="0">
                <a:solidFill>
                  <a:srgbClr val="666666"/>
                </a:solidFill>
              </a:rPr>
              <a:t>Reuse existing IMS auth — do not duplicate it</a:t>
            </a:r>
            <a:endParaRPr lang="en-US" sz="910" dirty="0"/>
          </a:p>
        </p:txBody>
      </p:sp>
      <p:sp>
        <p:nvSpPr>
          <p:cNvPr id="18" name="Shape 16"/>
          <p:cNvSpPr/>
          <p:nvPr/>
        </p:nvSpPr>
        <p:spPr>
          <a:xfrm>
            <a:off x="594360" y="2578608"/>
            <a:ext cx="10972800" cy="566928"/>
          </a:xfrm>
          <a:prstGeom prst="roundRect">
            <a:avLst>
              <a:gd name="adj" fmla="val 19355"/>
            </a:avLst>
          </a:prstGeom>
          <a:solidFill>
            <a:srgbClr val="FFFFFF"/>
          </a:solidFill>
          <a:ln w="12700">
            <a:solidFill>
              <a:srgbClr val="E4DFD8"/>
            </a:solidFill>
            <a:prstDash val="solid"/>
          </a:ln>
          <a:effectLst>
            <a:outerShdw blurRad="19050" dist="12700" dir="27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822960" y="2734056"/>
            <a:ext cx="786384" cy="201168"/>
          </a:xfrm>
          <a:prstGeom prst="roundRect">
            <a:avLst>
              <a:gd name="adj" fmla="val 36364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822960" y="2738628"/>
            <a:ext cx="7863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7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Author context</a:t>
            </a:r>
            <a:endParaRPr lang="en-US" sz="770" dirty="0"/>
          </a:p>
        </p:txBody>
      </p:sp>
      <p:sp>
        <p:nvSpPr>
          <p:cNvPr id="21" name="Text 19"/>
          <p:cNvSpPr/>
          <p:nvPr/>
        </p:nvSpPr>
        <p:spPr>
          <a:xfrm>
            <a:off x="1783080" y="2688336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40" b="1" dirty="0">
                <a:solidFill>
                  <a:srgbClr val="1C1C1E"/>
                </a:solidFill>
              </a:rPr>
              <a:t>Check data-aue-resource on the block</a:t>
            </a:r>
            <a:endParaRPr lang="en-US" sz="1040" dirty="0"/>
          </a:p>
        </p:txBody>
      </p:sp>
      <p:sp>
        <p:nvSpPr>
          <p:cNvPr id="22" name="Text 20"/>
          <p:cNvSpPr/>
          <p:nvPr/>
        </p:nvSpPr>
        <p:spPr>
          <a:xfrm>
            <a:off x="6309360" y="2688336"/>
            <a:ext cx="4663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10" dirty="0">
                <a:solidFill>
                  <a:srgbClr val="666666"/>
                </a:solidFill>
              </a:rPr>
              <a:t>Absent on published pages — never call Firefly there</a:t>
            </a:r>
            <a:endParaRPr lang="en-US" sz="910" dirty="0"/>
          </a:p>
        </p:txBody>
      </p:sp>
      <p:sp>
        <p:nvSpPr>
          <p:cNvPr id="23" name="Shape 21"/>
          <p:cNvSpPr/>
          <p:nvPr/>
        </p:nvSpPr>
        <p:spPr>
          <a:xfrm>
            <a:off x="594360" y="3273552"/>
            <a:ext cx="10972800" cy="566928"/>
          </a:xfrm>
          <a:prstGeom prst="roundRect">
            <a:avLst>
              <a:gd name="adj" fmla="val 19355"/>
            </a:avLst>
          </a:prstGeom>
          <a:solidFill>
            <a:srgbClr val="FBFBFB"/>
          </a:solidFill>
          <a:ln w="12700">
            <a:solidFill>
              <a:srgbClr val="E4DFD8"/>
            </a:solidFill>
            <a:prstDash val="solid"/>
          </a:ln>
          <a:effectLst>
            <a:outerShdw blurRad="19050" dist="12700" dir="27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822960" y="3429000"/>
            <a:ext cx="786384" cy="201168"/>
          </a:xfrm>
          <a:prstGeom prst="roundRect">
            <a:avLst>
              <a:gd name="adj" fmla="val 36364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822960" y="3433572"/>
            <a:ext cx="7863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7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Auto-generate</a:t>
            </a:r>
            <a:endParaRPr lang="en-US" sz="770" dirty="0"/>
          </a:p>
        </p:txBody>
      </p:sp>
      <p:sp>
        <p:nvSpPr>
          <p:cNvPr id="26" name="Text 24"/>
          <p:cNvSpPr/>
          <p:nvPr/>
        </p:nvSpPr>
        <p:spPr>
          <a:xfrm>
            <a:off x="1783080" y="3383280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40" b="1" dirty="0">
                <a:solidFill>
                  <a:srgbClr val="1C1C1E"/>
                </a:solidFill>
              </a:rPr>
              <a:t>Debounce + in-flight guard</a:t>
            </a:r>
            <a:endParaRPr lang="en-US" sz="1040" dirty="0"/>
          </a:p>
        </p:txBody>
      </p:sp>
      <p:sp>
        <p:nvSpPr>
          <p:cNvPr id="27" name="Text 25"/>
          <p:cNvSpPr/>
          <p:nvPr/>
        </p:nvSpPr>
        <p:spPr>
          <a:xfrm>
            <a:off x="6309360" y="3383280"/>
            <a:ext cx="4663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10" dirty="0">
                <a:solidFill>
                  <a:srgbClr val="666666"/>
                </a:solidFill>
              </a:rPr>
              <a:t>Prevents redundant calls while the author is editing</a:t>
            </a:r>
            <a:endParaRPr lang="en-US" sz="910" dirty="0"/>
          </a:p>
        </p:txBody>
      </p:sp>
      <p:sp>
        <p:nvSpPr>
          <p:cNvPr id="28" name="Shape 26"/>
          <p:cNvSpPr/>
          <p:nvPr/>
        </p:nvSpPr>
        <p:spPr>
          <a:xfrm>
            <a:off x="594360" y="3968496"/>
            <a:ext cx="10972800" cy="566928"/>
          </a:xfrm>
          <a:prstGeom prst="roundRect">
            <a:avLst>
              <a:gd name="adj" fmla="val 19355"/>
            </a:avLst>
          </a:prstGeom>
          <a:solidFill>
            <a:srgbClr val="FFFFFF"/>
          </a:solidFill>
          <a:ln w="12700">
            <a:solidFill>
              <a:srgbClr val="E4DFD8"/>
            </a:solidFill>
            <a:prstDash val="solid"/>
          </a:ln>
          <a:effectLst>
            <a:outerShdw blurRad="19050" dist="12700" dir="27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822960" y="4123944"/>
            <a:ext cx="786384" cy="201168"/>
          </a:xfrm>
          <a:prstGeom prst="roundRect">
            <a:avLst>
              <a:gd name="adj" fmla="val 36364"/>
            </a:avLst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822960" y="4128516"/>
            <a:ext cx="7863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7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DAM upload</a:t>
            </a:r>
            <a:endParaRPr lang="en-US" sz="770" dirty="0"/>
          </a:p>
        </p:txBody>
      </p:sp>
      <p:sp>
        <p:nvSpPr>
          <p:cNvPr id="31" name="Text 29"/>
          <p:cNvSpPr/>
          <p:nvPr/>
        </p:nvSpPr>
        <p:spPr>
          <a:xfrm>
            <a:off x="1783080" y="4078224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40" b="1" dirty="0">
                <a:solidFill>
                  <a:srgbClr val="1C1C1E"/>
                </a:solidFill>
              </a:rPr>
              <a:t>initiateUpload / PUT / completeUpload + CSRF</a:t>
            </a:r>
            <a:endParaRPr lang="en-US" sz="1040" dirty="0"/>
          </a:p>
        </p:txBody>
      </p:sp>
      <p:sp>
        <p:nvSpPr>
          <p:cNvPr id="32" name="Text 30"/>
          <p:cNvSpPr/>
          <p:nvPr/>
        </p:nvSpPr>
        <p:spPr>
          <a:xfrm>
            <a:off x="6309360" y="4078224"/>
            <a:ext cx="4663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10" dirty="0">
                <a:solidFill>
                  <a:srgbClr val="666666"/>
                </a:solidFill>
              </a:rPr>
              <a:t>Same-origin, cookie auth — no extra service token</a:t>
            </a:r>
            <a:endParaRPr lang="en-US" sz="910" dirty="0"/>
          </a:p>
        </p:txBody>
      </p:sp>
      <p:sp>
        <p:nvSpPr>
          <p:cNvPr id="33" name="Shape 31"/>
          <p:cNvSpPr/>
          <p:nvPr/>
        </p:nvSpPr>
        <p:spPr>
          <a:xfrm>
            <a:off x="594360" y="4663440"/>
            <a:ext cx="10972800" cy="566928"/>
          </a:xfrm>
          <a:prstGeom prst="roundRect">
            <a:avLst>
              <a:gd name="adj" fmla="val 19355"/>
            </a:avLst>
          </a:prstGeom>
          <a:solidFill>
            <a:srgbClr val="FBFBFB"/>
          </a:solidFill>
          <a:ln w="12700">
            <a:solidFill>
              <a:srgbClr val="E4DFD8"/>
            </a:solidFill>
            <a:prstDash val="solid"/>
          </a:ln>
          <a:effectLst>
            <a:outerShdw blurRad="19050" dist="12700" dir="27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822960" y="4818888"/>
            <a:ext cx="786384" cy="201168"/>
          </a:xfrm>
          <a:prstGeom prst="roundRect">
            <a:avLst>
              <a:gd name="adj" fmla="val 36364"/>
            </a:avLst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822960" y="4823460"/>
            <a:ext cx="7863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7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 Persist</a:t>
            </a:r>
            <a:endParaRPr lang="en-US" sz="770" dirty="0"/>
          </a:p>
        </p:txBody>
      </p:sp>
      <p:sp>
        <p:nvSpPr>
          <p:cNvPr id="36" name="Text 34"/>
          <p:cNvSpPr/>
          <p:nvPr/>
        </p:nvSpPr>
        <p:spPr>
          <a:xfrm>
            <a:off x="1783080" y="4773168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40" b="1" dirty="0">
                <a:solidFill>
                  <a:srgbClr val="1C1C1E"/>
                </a:solidFill>
              </a:rPr>
              <a:t>Sling POST the block’s own resource path</a:t>
            </a:r>
            <a:endParaRPr lang="en-US" sz="1040" dirty="0"/>
          </a:p>
        </p:txBody>
      </p:sp>
      <p:sp>
        <p:nvSpPr>
          <p:cNvPr id="37" name="Text 35"/>
          <p:cNvSpPr/>
          <p:nvPr/>
        </p:nvSpPr>
        <p:spPr>
          <a:xfrm>
            <a:off x="6309360" y="4773168"/>
            <a:ext cx="4663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10" dirty="0">
                <a:solidFill>
                  <a:srgbClr val="666666"/>
                </a:solidFill>
              </a:rPr>
              <a:t>Additive — only touches the image property</a:t>
            </a:r>
            <a:endParaRPr lang="en-US" sz="910" dirty="0"/>
          </a:p>
        </p:txBody>
      </p:sp>
      <p:sp>
        <p:nvSpPr>
          <p:cNvPr id="38" name="Shape 36"/>
          <p:cNvSpPr/>
          <p:nvPr/>
        </p:nvSpPr>
        <p:spPr>
          <a:xfrm>
            <a:off x="594360" y="5358384"/>
            <a:ext cx="10972800" cy="566928"/>
          </a:xfrm>
          <a:prstGeom prst="roundRect">
            <a:avLst>
              <a:gd name="adj" fmla="val 19355"/>
            </a:avLst>
          </a:prstGeom>
          <a:solidFill>
            <a:srgbClr val="FFFFFF"/>
          </a:solidFill>
          <a:ln w="12700">
            <a:solidFill>
              <a:srgbClr val="E4DFD8"/>
            </a:solidFill>
            <a:prstDash val="solid"/>
          </a:ln>
          <a:effectLst>
            <a:outerShdw blurRad="19050" dist="12700" dir="27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9" name="Shape 37"/>
          <p:cNvSpPr/>
          <p:nvPr/>
        </p:nvSpPr>
        <p:spPr>
          <a:xfrm>
            <a:off x="822960" y="5513832"/>
            <a:ext cx="786384" cy="201168"/>
          </a:xfrm>
          <a:prstGeom prst="roundRect">
            <a:avLst>
              <a:gd name="adj" fmla="val 36364"/>
            </a:avLst>
          </a:prstGeom>
          <a:solidFill>
            <a:srgbClr val="FF1500"/>
          </a:solidFill>
          <a:ln w="12700">
            <a:solidFill>
              <a:srgbClr val="FF15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822960" y="5518404"/>
            <a:ext cx="7863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7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 Debug</a:t>
            </a:r>
            <a:endParaRPr lang="en-US" sz="770" dirty="0"/>
          </a:p>
        </p:txBody>
      </p:sp>
      <p:sp>
        <p:nvSpPr>
          <p:cNvPr id="41" name="Text 39"/>
          <p:cNvSpPr/>
          <p:nvPr/>
        </p:nvSpPr>
        <p:spPr>
          <a:xfrm>
            <a:off x="1783080" y="5468112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40" b="1" dirty="0">
                <a:solidFill>
                  <a:srgbClr val="1C1C1E"/>
                </a:solidFill>
              </a:rPr>
              <a:t>Surface real error text, not a generic message</a:t>
            </a:r>
            <a:endParaRPr lang="en-US" sz="1040" dirty="0"/>
          </a:p>
        </p:txBody>
      </p:sp>
      <p:sp>
        <p:nvSpPr>
          <p:cNvPr id="42" name="Text 40"/>
          <p:cNvSpPr/>
          <p:nvPr/>
        </p:nvSpPr>
        <p:spPr>
          <a:xfrm>
            <a:off x="6309360" y="5468112"/>
            <a:ext cx="4663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10" dirty="0">
                <a:solidFill>
                  <a:srgbClr val="666666"/>
                </a:solidFill>
              </a:rPr>
              <a:t>CORS / CSRF / workflow failures can look identical</a:t>
            </a:r>
            <a:endParaRPr lang="en-US" sz="91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14400" y="201168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</a:rPr>
              <a:t>persist once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914400" y="256032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</a:rPr>
              <a:t>render many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914400" y="3246120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ECE9"/>
                </a:solidFill>
              </a:rPr>
              <a:t>A polished way to explain the ai-image block to the Adobe team</a:t>
            </a:r>
            <a:endParaRPr lang="en-US" sz="1250" dirty="0"/>
          </a:p>
        </p:txBody>
      </p:sp>
      <p:sp>
        <p:nvSpPr>
          <p:cNvPr id="6" name="Shape 3"/>
          <p:cNvSpPr/>
          <p:nvPr/>
        </p:nvSpPr>
        <p:spPr>
          <a:xfrm>
            <a:off x="914400" y="3886200"/>
            <a:ext cx="1417320" cy="27432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914400" y="3890772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1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authoring</a:t>
            </a:r>
            <a:endParaRPr lang="en-US" sz="850" dirty="0"/>
          </a:p>
        </p:txBody>
      </p:sp>
      <p:sp>
        <p:nvSpPr>
          <p:cNvPr id="8" name="Shape 5"/>
          <p:cNvSpPr/>
          <p:nvPr/>
        </p:nvSpPr>
        <p:spPr>
          <a:xfrm>
            <a:off x="2487168" y="3886200"/>
            <a:ext cx="1188720" cy="27432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2487168" y="389077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1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DAM</a:t>
            </a:r>
            <a:endParaRPr lang="en-US" sz="850" dirty="0"/>
          </a:p>
        </p:txBody>
      </p:sp>
      <p:sp>
        <p:nvSpPr>
          <p:cNvPr id="10" name="Shape 7"/>
          <p:cNvSpPr/>
          <p:nvPr/>
        </p:nvSpPr>
        <p:spPr>
          <a:xfrm>
            <a:off x="3840480" y="3886200"/>
            <a:ext cx="1417320" cy="27432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3840480" y="3890772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1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 API</a:t>
            </a:r>
            <a:endParaRPr lang="en-US" sz="850" dirty="0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915400" y="1371600"/>
            <a:ext cx="1463040" cy="1463040"/>
          </a:xfrm>
          <a:prstGeom prst="rect">
            <a:avLst/>
          </a:prstGeom>
        </p:spPr>
      </p:pic>
      <p:pic>
        <p:nvPicPr>
          <p:cNvPr id="13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732520" y="3063240"/>
            <a:ext cx="1828800" cy="128016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9326880" y="6217920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BDBDBD"/>
                </a:solidFill>
              </a:rPr>
              <a:t>Adobe Confidential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1727</Words>
  <Application>Microsoft Macintosh PowerPoint</Application>
  <PresentationFormat>Widescreen</PresentationFormat>
  <Paragraphs>341</Paragraphs>
  <Slides>16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Adobe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ai-image Block — Illustrated Redesign</dc:title>
  <dc:subject>AI image block redesign</dc:subject>
  <dc:creator>OpenAI</dc:creator>
  <cp:lastModifiedBy>Franck Sevin</cp:lastModifiedBy>
  <cp:revision>1</cp:revision>
  <dcterms:created xsi:type="dcterms:W3CDTF">2026-08-10T07:20:37Z</dcterms:created>
  <dcterms:modified xsi:type="dcterms:W3CDTF">2026-08-21T08:56:48Z</dcterms:modified>
</cp:coreProperties>
</file>