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9808" y="66751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Adobe Experience Manager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49808" y="1783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ai-image Block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49808" y="250545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0F0"/>
                </a:solidFill>
              </a:rPr>
              <a:t>Author-generated, DAM-persisted Firefly images in Universal Editor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9808" y="29718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5E2"/>
                </a:solidFill>
              </a:rPr>
              <a:t>Illustrated redesign for an Adobe team share-out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3456432"/>
            <a:ext cx="128016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4610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once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157984" y="3456432"/>
            <a:ext cx="137160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57984" y="34610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in DAM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657600" y="3456432"/>
            <a:ext cx="169164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34610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zero-API</a:t>
            </a:r>
            <a:endParaRPr lang="en-US" sz="8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914400"/>
            <a:ext cx="1371600" cy="137160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83880" y="2331720"/>
            <a:ext cx="2011680" cy="1280160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81160" y="4069080"/>
            <a:ext cx="1737360" cy="12344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78040" y="5806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Designed to feel polished, visual, and ready to present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visual walkthrough of the ai-image block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94944" y="1316736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07008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separate from Firefly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Why separate from Firefly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71800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361688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07992" y="1316736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0056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0056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Architecture overview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84848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4848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174736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21040" y="1316736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33104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Authoring model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833104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Authoring model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597896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97896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48640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94944" y="2807208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07008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Worker byte streaming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07008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Edge Worker byte streaming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971800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361688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07992" y="280720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07992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0056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Editor context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020056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Universal Editor context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84848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84848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74736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321040" y="280720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21040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833104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 flow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833104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Auto-generate flow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597896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597896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48640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94944" y="4297680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4944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207008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AEM DAM upload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207008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AEM DAM upload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971800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71800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61688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507992" y="429768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07992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020056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the content node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5020056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Patch the content node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784848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84848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8174736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8321040" y="4297680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833104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Bugs, status, best practices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8833104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Bugs, status, best practices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0597896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597896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Separate Block From Firefly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once in the editor, then render a persisted asset on every later view.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5156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FF7F6"/>
          </a:solidFill>
          <a:ln w="12700">
            <a:solidFill>
              <a:srgbClr val="FFDED9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1051560"/>
            <a:ext cx="5321808" cy="4983480"/>
          </a:xfrm>
          <a:prstGeom prst="roundRect">
            <a:avLst>
              <a:gd name="adj" fmla="val 2202"/>
            </a:avLst>
          </a:prstGeom>
          <a:solidFill>
            <a:srgbClr val="F8FBFF"/>
          </a:solidFill>
          <a:ln w="12700">
            <a:solidFill>
              <a:srgbClr val="DDE8FF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1500"/>
                </a:solidFill>
              </a:rPr>
              <a:t>Original Firefly block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673352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16733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3" name="Text 10"/>
          <p:cNvSpPr/>
          <p:nvPr/>
        </p:nvSpPr>
        <p:spPr>
          <a:xfrm>
            <a:off x="1572768" y="166420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Firefly on every render</a:t>
            </a:r>
            <a:endParaRPr lang="en-US" sz="1120" dirty="0"/>
          </a:p>
        </p:txBody>
      </p:sp>
      <p:sp>
        <p:nvSpPr>
          <p:cNvPr id="14" name="Text 11"/>
          <p:cNvSpPr/>
          <p:nvPr/>
        </p:nvSpPr>
        <p:spPr>
          <a:xfrm>
            <a:off x="1371600" y="2331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1572768" y="232257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Consumes a credit per page view</a:t>
            </a:r>
            <a:endParaRPr lang="en-US" sz="1120" dirty="0"/>
          </a:p>
        </p:txBody>
      </p:sp>
      <p:sp>
        <p:nvSpPr>
          <p:cNvPr id="16" name="Text 13"/>
          <p:cNvSpPr/>
          <p:nvPr/>
        </p:nvSpPr>
        <p:spPr>
          <a:xfrm>
            <a:off x="1371600" y="29900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7" name="Text 14"/>
          <p:cNvSpPr/>
          <p:nvPr/>
        </p:nvSpPr>
        <p:spPr>
          <a:xfrm>
            <a:off x="1572768" y="298094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a different image each time</a:t>
            </a:r>
            <a:endParaRPr lang="en-US" sz="1120" dirty="0"/>
          </a:p>
        </p:txBody>
      </p:sp>
      <p:sp>
        <p:nvSpPr>
          <p:cNvPr id="18" name="Text 15"/>
          <p:cNvSpPr/>
          <p:nvPr/>
        </p:nvSpPr>
        <p:spPr>
          <a:xfrm>
            <a:off x="1371600" y="36484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9" name="Text 16"/>
          <p:cNvSpPr/>
          <p:nvPr/>
        </p:nvSpPr>
        <p:spPr>
          <a:xfrm>
            <a:off x="1572768" y="363931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a presigned S3 URL that expires quickly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662940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</a:rPr>
              <a:t>ai-image block</a:t>
            </a:r>
            <a:endParaRPr lang="en-US" sz="16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1968" y="1673352"/>
            <a:ext cx="502920" cy="5029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223760" y="16733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3" name="Text 19"/>
          <p:cNvSpPr/>
          <p:nvPr/>
        </p:nvSpPr>
        <p:spPr>
          <a:xfrm>
            <a:off x="7424928" y="166420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once in Universal Editor</a:t>
            </a:r>
            <a:endParaRPr lang="en-US" sz="1120" dirty="0"/>
          </a:p>
        </p:txBody>
      </p:sp>
      <p:sp>
        <p:nvSpPr>
          <p:cNvPr id="24" name="Text 20"/>
          <p:cNvSpPr/>
          <p:nvPr/>
        </p:nvSpPr>
        <p:spPr>
          <a:xfrm>
            <a:off x="7223760" y="2331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5" name="Text 21"/>
          <p:cNvSpPr/>
          <p:nvPr/>
        </p:nvSpPr>
        <p:spPr>
          <a:xfrm>
            <a:off x="7424928" y="2322576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Persists the result as a real AEM DAM asset</a:t>
            </a:r>
            <a:endParaRPr lang="en-US" sz="1120" dirty="0"/>
          </a:p>
        </p:txBody>
      </p:sp>
      <p:sp>
        <p:nvSpPr>
          <p:cNvPr id="26" name="Text 22"/>
          <p:cNvSpPr/>
          <p:nvPr/>
        </p:nvSpPr>
        <p:spPr>
          <a:xfrm>
            <a:off x="7223760" y="29900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7" name="Text 23"/>
          <p:cNvSpPr/>
          <p:nvPr/>
        </p:nvSpPr>
        <p:spPr>
          <a:xfrm>
            <a:off x="7424928" y="298094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pages render the stored asset with zero API calls</a:t>
            </a:r>
            <a:endParaRPr lang="en-US" sz="1120" dirty="0"/>
          </a:p>
        </p:txBody>
      </p:sp>
      <p:sp>
        <p:nvSpPr>
          <p:cNvPr id="28" name="Text 24"/>
          <p:cNvSpPr/>
          <p:nvPr/>
        </p:nvSpPr>
        <p:spPr>
          <a:xfrm>
            <a:off x="7223760" y="36484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9" name="Text 25"/>
          <p:cNvSpPr/>
          <p:nvPr/>
        </p:nvSpPr>
        <p:spPr>
          <a:xfrm>
            <a:off x="7424928" y="363931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original Firefly block untouched</a:t>
            </a:r>
            <a:endParaRPr lang="en-US" sz="1120" dirty="0"/>
          </a:p>
        </p:txBody>
      </p:sp>
      <p:sp>
        <p:nvSpPr>
          <p:cNvPr id="30" name="Shape 26"/>
          <p:cNvSpPr/>
          <p:nvPr/>
        </p:nvSpPr>
        <p:spPr>
          <a:xfrm>
            <a:off x="5760720" y="2962656"/>
            <a:ext cx="365760" cy="384048"/>
          </a:xfrm>
          <a:prstGeom prst="chevron">
            <a:avLst/>
          </a:prstGeom>
          <a:solidFill>
            <a:srgbClr val="FF1500">
              <a:alpha val="85000"/>
            </a:srgbClr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120640" y="37673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1500"/>
                </a:solidFill>
              </a:rPr>
              <a:t>Persist once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5074920" y="4005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82F6"/>
                </a:solidFill>
              </a:rPr>
              <a:t>render many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868680" y="5349240"/>
            <a:ext cx="10287000" cy="0"/>
          </a:xfrm>
          <a:prstGeom prst="line">
            <a:avLst/>
          </a:prstGeom>
          <a:noFill/>
          <a:ln w="12700">
            <a:solidFill>
              <a:srgbClr val="E7E1DA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77240" y="5532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</a:rPr>
              <a:t>A new folder keeps the existing Firefly block unchanged while this version stores assets inside DAM.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path is short: authoring -&gt; byte stream -&gt; preview -&gt; DAM upload -&gt; persisted render.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11292840" cy="5102352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216152" y="2039112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615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Author types prompt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2316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70632" y="2039112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063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3288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ai-image.js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7764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25112" y="2039112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2511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8736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Edge Worker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79592" y="203911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7959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4184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Inline preview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08660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34072" y="2039112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3407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DAM upload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64108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88552" y="203911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8855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5080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Patch block node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19556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543032" y="2039112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54303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0528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</a:rPr>
              <a:t>Reload and render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91109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6557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005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7453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2901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8349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3749040"/>
            <a:ext cx="1554480" cy="1051560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98064" y="3813048"/>
            <a:ext cx="1828800" cy="914400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03520" y="3703320"/>
            <a:ext cx="1143000" cy="1097280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23760" y="3685032"/>
            <a:ext cx="1143000" cy="1097280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0" y="3730752"/>
            <a:ext cx="1097280" cy="1005840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078992" y="4773168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</a:rPr>
              <a:t>The block streams image bytes from the Worker, uploads them to AEM DAM, then writes the DAM path back onto its own content node.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1508760" y="510235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Later renders simply detect the persisted &lt;picture&gt; and exit early — no Firefly call is needed.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Authoring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 + aspect ratio shape as the original block, with a writable image reference field.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3977640" cy="49834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078992"/>
            <a:ext cx="694944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389888"/>
            <a:ext cx="914400" cy="8686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13898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E"/>
                </a:solidFill>
              </a:rPr>
              <a:t>Model fields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41248" y="1965960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7F7F8"/>
          </a:solidFill>
          <a:ln w="12700">
            <a:solidFill>
              <a:srgbClr val="E4E0DB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87552" y="2075688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87552" y="208026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965960" y="206654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</a:rPr>
              <a:t>Prompt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965960" y="2249424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66666"/>
                </a:solidFill>
              </a:rPr>
              <a:t>required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841248" y="2615184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7F7F8"/>
          </a:solidFill>
          <a:ln w="12700">
            <a:solidFill>
              <a:srgbClr val="E4E0DB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87552" y="2724912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72948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aspectRatio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965960" y="271576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</a:rPr>
              <a:t>Aspect ratio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965960" y="2898648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66666"/>
                </a:solidFill>
              </a:rPr>
              <a:t>1024x1024 | 1344x768 | 768x1344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841248" y="3264408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FF7F6"/>
          </a:solidFill>
          <a:ln w="12700">
            <a:solidFill>
              <a:srgbClr val="FFD4CF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87552" y="3374136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37870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965960" y="336499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</a:rPr>
              <a:t>Generated image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965960" y="3547872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66666"/>
                </a:solidFill>
              </a:rPr>
              <a:t>reference field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841248" y="40690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666666"/>
                </a:solidFill>
              </a:rPr>
              <a:t>Written programmatically, but still manually overridable in the asset picker UI.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5029200" y="1417320"/>
            <a:ext cx="6263640" cy="3566160"/>
          </a:xfrm>
          <a:prstGeom prst="roundRect">
            <a:avLst>
              <a:gd name="adj" fmla="val 2051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5175504" y="1527048"/>
            <a:ext cx="59710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blocks/ai-image/_ai-image.json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"models": [{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"ai-image",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"fields": [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"richtext", "name": "prompt", "label": "Prompt" },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"select", "name": "aspectRatio", "label": "Aspect ratio" },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"reference", "name": "image", "label": "Generated image" }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10" dirty="0"/>
          </a:p>
        </p:txBody>
      </p:sp>
      <p:sp>
        <p:nvSpPr>
          <p:cNvPr id="30" name="Shape 27"/>
          <p:cNvSpPr/>
          <p:nvPr/>
        </p:nvSpPr>
        <p:spPr>
          <a:xfrm>
            <a:off x="5029200" y="5166360"/>
            <a:ext cx="6263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E1D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30368" y="5376672"/>
            <a:ext cx="5806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1C1C1E"/>
                </a:solidFill>
              </a:rPr>
              <a:t>The model stays close to the original Firefly block, with the image asset slot added for persistence.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Edge Worker: Stream Image Bytes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the same IMS auth, but return the image bytes directly rather than a presigned URL.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303520" y="1097280"/>
            <a:ext cx="635508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1508760"/>
            <a:ext cx="128016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94560" y="1490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</a:rPr>
              <a:t>Shared auth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20299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1115568" y="202082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same getFireflyToken helper as the original block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914400" y="25786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5" name="Text 12"/>
          <p:cNvSpPr/>
          <p:nvPr/>
        </p:nvSpPr>
        <p:spPr>
          <a:xfrm>
            <a:off x="1115568" y="25694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is cached in-isolate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14400" y="31272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15568" y="311810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duplicated auth logic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877824" y="39319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1500"/>
                </a:solidFill>
              </a:rPr>
              <a:t>Route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353312" y="3895344"/>
            <a:ext cx="2267712" cy="237744"/>
          </a:xfrm>
          <a:prstGeom prst="roundRect">
            <a:avLst>
              <a:gd name="adj" fmla="val 30769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53312" y="38999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/api/firefly/generate-image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5623560" y="14173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769864" y="1527048"/>
            <a:ext cx="528523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handleFireflyGenerateImage(request, env, cors) {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prompt, size } = parsePromptAndSize(await request.json());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url = await fireflyGenerate(prompt, size, env);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imageRes = await fetch(url);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new Response(imageRes.body, {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status: 200,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'Content-Type': imageRes.headers.get('Content-Type') || 'image/png', ...cors },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742432" y="53949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666666"/>
                </a:solidFill>
              </a:rPr>
              <a:t>The Worker fetches the image server-side, which avoids S3 CORS uncertainty and the presigned URL expiry window.</a:t>
            </a:r>
            <a:endParaRPr lang="en-US" sz="9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Detecting Universal Editor Context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block wrapper attribute; do not guess by hostname or page type.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02920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715000" y="1097280"/>
            <a:ext cx="594360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" y="1417320"/>
            <a:ext cx="1554480" cy="1005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42032" y="14264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E"/>
                </a:solidFill>
              </a:rPr>
              <a:t>Universal Editor canvas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96112" y="2560320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25648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data-aue-resource present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3108960" y="2560320"/>
            <a:ext cx="1508760" cy="274320"/>
          </a:xfrm>
          <a:prstGeom prst="roundRect">
            <a:avLst>
              <a:gd name="adj" fmla="val 2666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08960" y="25648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canvas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868680" y="2999232"/>
            <a:ext cx="4315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C1C1E"/>
                </a:solidFill>
              </a:rPr>
              <a:t>If the attribute exists, strip the urn prefix to get the Sling resource path that later gets patched.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68680" y="3657600"/>
            <a:ext cx="4297680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014984" y="3767328"/>
            <a:ext cx="40050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resource = block.getAttribute('data-aue-resource');</a:t>
            </a:r>
            <a:endParaRPr lang="en-US" sz="770" dirty="0"/>
          </a:p>
          <a:p>
            <a:pPr indent="0" marL="0">
              <a:buNone/>
            </a:pPr>
            <a:endParaRPr lang="en-US" sz="770" dirty="0"/>
          </a:p>
          <a:p>
            <a:pPr indent="0" marL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Published page: absent -&gt; return immediately.</a:t>
            </a:r>
            <a:endParaRPr lang="en-US" sz="770" dirty="0"/>
          </a:p>
          <a:p>
            <a:pPr indent="0" marL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(!resource) return;</a:t>
            </a:r>
            <a:endParaRPr lang="en-US" sz="770" dirty="0"/>
          </a:p>
          <a:p>
            <a:pPr indent="0" marL="0">
              <a:buNone/>
            </a:pPr>
            <a:endParaRPr lang="en-US" sz="770" dirty="0"/>
          </a:p>
          <a:p>
            <a:pPr indent="0" marL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resourcePath = resource.replace('urn:aemconnection:', '');</a:t>
            </a:r>
            <a:endParaRPr lang="en-US" sz="770" dirty="0"/>
          </a:p>
          <a:p>
            <a:pPr indent="0" marL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/content/.../jcr:content/root/.../firefly</a:t>
            </a:r>
            <a:endParaRPr lang="en-US" sz="77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9320" y="1481328"/>
            <a:ext cx="1005840" cy="10058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223760" y="14813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</a:rPr>
              <a:t>Published page behavior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035040" y="203911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236208" y="2029968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attribute is absent entirely on published pages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035040" y="26609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236208" y="265176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call Firefly there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035040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236208" y="3273552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render an already-persisted &lt;picture&gt;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Auto-Generate on Prompt Entry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1.2s debounce keeps the authoring flow responsive while preventing redundant requests.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48640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09728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81328"/>
            <a:ext cx="914400" cy="914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596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E"/>
                </a:solidFill>
              </a:rPr>
              <a:t>No Generate button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2011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1115568" y="2002536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version had a button, but it felt clunky for this flow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914400" y="26700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5" name="Text 12"/>
          <p:cNvSpPr/>
          <p:nvPr/>
        </p:nvSpPr>
        <p:spPr>
          <a:xfrm>
            <a:off x="1115568" y="2660904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decorate() reruns on each properties-rail edit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14400" y="33284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15568" y="3319272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debounce, a single prompt would trigger many Firefly calls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868680" y="3931920"/>
            <a:ext cx="4526280" cy="694944"/>
          </a:xfrm>
          <a:prstGeom prst="roundRect">
            <a:avLst>
              <a:gd name="adj" fmla="val 10526"/>
            </a:avLst>
          </a:prstGeom>
          <a:solidFill>
            <a:srgbClr val="FFF8EB"/>
          </a:solidFill>
          <a:ln w="12700">
            <a:solidFill>
              <a:srgbClr val="F3D6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1560" y="4142232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A76800"/>
                </a:solidFill>
              </a:rPr>
              <a:t>1.2 seconds after the last edit, generation starts.</a:t>
            </a:r>
            <a:endParaRPr lang="en-US" sz="1120" dirty="0"/>
          </a:p>
        </p:txBody>
      </p:sp>
      <p:sp>
        <p:nvSpPr>
          <p:cNvPr id="20" name="Shape 17"/>
          <p:cNvSpPr/>
          <p:nvPr/>
        </p:nvSpPr>
        <p:spPr>
          <a:xfrm>
            <a:off x="6382512" y="141732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28816" y="1527048"/>
            <a:ext cx="48280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pendingTimers = new Map();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inFlight = new Set();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DEBOUNCE_MS = 1200;</a:t>
            </a:r>
            <a:endParaRPr lang="en-US" sz="780" dirty="0"/>
          </a:p>
          <a:p>
            <a:pPr indent="0" marL="0">
              <a:buNone/>
            </a:pP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(pendingTimers.has(resource)) clearTimeout(pendingTimers.get(resource));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(inFlight.has(resource)) return;</a:t>
            </a:r>
            <a:endParaRPr lang="en-US" sz="780" dirty="0"/>
          </a:p>
          <a:p>
            <a:pPr indent="0" marL="0">
              <a:buNone/>
            </a:pP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timerId = setTimeout(async () =&gt; {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inFlight.add(resource);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generateAndPersist(preview, prompt, aspectRatio, resource);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window.location.reload();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DEBOUNCE_MS);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00800" y="5230368"/>
            <a:ext cx="1097280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52349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616952" y="5230368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16952" y="52349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guard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979408" y="5230368"/>
            <a:ext cx="1298448" cy="256032"/>
          </a:xfrm>
          <a:prstGeom prst="roundRect">
            <a:avLst>
              <a:gd name="adj" fmla="val 2857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79408" y="52349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once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— Upload to AEM DAM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supported 3-step direct binary upload flow with CSRF and same-origin credentials.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11109960" cy="5001768"/>
          </a:xfrm>
          <a:prstGeom prst="roundRect">
            <a:avLst>
              <a:gd name="adj" fmla="val 2194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37160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1389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E"/>
                </a:solidFill>
              </a:rPr>
              <a:t>3-step flow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686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FFDFC"/>
          </a:solidFill>
          <a:ln w="12700">
            <a:solidFill>
              <a:srgbClr val="E7E1D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87552" y="2084832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75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4630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</a:rPr>
              <a:t>initiateUpload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332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666666"/>
                </a:solidFill>
              </a:rPr>
              <a:t>Create the upload record and get a token</a:t>
            </a:r>
            <a:endParaRPr lang="en-US" sz="1040" dirty="0"/>
          </a:p>
        </p:txBody>
      </p:sp>
      <p:sp>
        <p:nvSpPr>
          <p:cNvPr id="16" name="Shape 13"/>
          <p:cNvSpPr/>
          <p:nvPr/>
        </p:nvSpPr>
        <p:spPr>
          <a:xfrm>
            <a:off x="3355848" y="2697480"/>
            <a:ext cx="384048" cy="256032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690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7FCFD"/>
          </a:solidFill>
          <a:ln w="12700">
            <a:solidFill>
              <a:srgbClr val="D4EFF3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87952" y="2084832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879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634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</a:rPr>
              <a:t>PUT blob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2336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666666"/>
                </a:solidFill>
              </a:rPr>
              <a:t>Upload the bytes to blob storage</a:t>
            </a:r>
            <a:endParaRPr lang="en-US" sz="1040" dirty="0"/>
          </a:p>
        </p:txBody>
      </p:sp>
      <p:sp>
        <p:nvSpPr>
          <p:cNvPr id="22" name="Shape 19"/>
          <p:cNvSpPr/>
          <p:nvPr/>
        </p:nvSpPr>
        <p:spPr>
          <a:xfrm>
            <a:off x="6556248" y="2697480"/>
            <a:ext cx="384048" cy="256032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2694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FFDFC"/>
          </a:solidFill>
          <a:ln w="12700">
            <a:solidFill>
              <a:srgbClr val="E7E1D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88352" y="2084832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883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</a:rPr>
              <a:t>completeUpload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4340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666666"/>
                </a:solidFill>
              </a:rPr>
              <a:t>Finalize the asset and attach metadata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868680" y="4251960"/>
            <a:ext cx="10378440" cy="1143000"/>
          </a:xfrm>
          <a:prstGeom prst="roundRect">
            <a:avLst>
              <a:gd name="adj" fmla="val 6400"/>
            </a:avLst>
          </a:prstGeom>
          <a:solidFill>
            <a:srgbClr val="FBFBFB"/>
          </a:solidFill>
          <a:ln w="12700">
            <a:solidFill>
              <a:srgbClr val="E7E1D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97280" y="4535424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97280" y="453999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credentials: 'include'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651760" y="4535424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651760" y="45399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968496" y="4535424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968496" y="45399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fetch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5687568" y="4535424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87568" y="45399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 auto-create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333488" y="4535424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333488" y="45399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service token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8778240" y="46085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666666"/>
                </a:solidFill>
              </a:rPr>
              <a:t>The upload target folder auto-creates on first use if missing; every mutating call carries the Granite CSRF token.</a:t>
            </a:r>
            <a:endParaRPr lang="en-US" sz="8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 — Patch the Block's Own Content Node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DAM path back onto the block resource using a same-origin Sling POST.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11109960" cy="5001768"/>
          </a:xfrm>
          <a:prstGeom prst="roundRect">
            <a:avLst>
              <a:gd name="adj" fmla="val 2194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248" y="141732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2024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E"/>
                </a:solidFill>
              </a:rPr>
              <a:t>Additive write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1993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2" name="Text 9"/>
          <p:cNvSpPr/>
          <p:nvPr/>
        </p:nvSpPr>
        <p:spPr>
          <a:xfrm>
            <a:off x="1115568" y="1984248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form fields named after JCR properties update the target node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914400" y="2596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1115568" y="2587752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CSRF token and same-origin credentials are reused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914400" y="32004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6" name="Text 13"/>
          <p:cNvSpPr/>
          <p:nvPr/>
        </p:nvSpPr>
        <p:spPr>
          <a:xfrm>
            <a:off x="1115568" y="3191256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image property changes — prompt and aspectRatio remain intact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6355080" y="141732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501384" y="1527048"/>
            <a:ext cx="47823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fetch(resourcePath, {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method: 'POST',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 'include',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headers: { 'Content-Type': 'application/x-www-form-urlencoded', 'CSRF-Token': csrfToken },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body: new URLSearchParams({ image: assetPath }),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10" dirty="0"/>
          </a:p>
          <a:p>
            <a:pPr indent="0" marL="0">
              <a:buNone/>
            </a:pP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resourcePath = /content/.../firefly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assetPath    = /content/dam/.../generated/firefly-&lt;timestamp&gt;.jpg</a:t>
            </a:r>
            <a:endParaRPr lang="en-US" sz="810" dirty="0"/>
          </a:p>
        </p:txBody>
      </p:sp>
      <p:sp>
        <p:nvSpPr>
          <p:cNvPr id="19" name="Shape 16"/>
          <p:cNvSpPr/>
          <p:nvPr/>
        </p:nvSpPr>
        <p:spPr>
          <a:xfrm>
            <a:off x="6355080" y="5285232"/>
            <a:ext cx="5074920" cy="420624"/>
          </a:xfrm>
          <a:prstGeom prst="roundRect">
            <a:avLst>
              <a:gd name="adj" fmla="val 17391"/>
            </a:avLst>
          </a:prstGeom>
          <a:solidFill>
            <a:srgbClr val="F6FBF8"/>
          </a:solidFill>
          <a:ln w="12700">
            <a:solidFill>
              <a:srgbClr val="D9EDE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5431536"/>
            <a:ext cx="4709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B981"/>
                </a:solidFill>
              </a:rPr>
              <a:t>This writes only the persisted DAM reference, never the original authoring inputs.</a:t>
            </a:r>
            <a:endParaRPr lang="en-US" sz="8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Bugs Hit Along the Way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compact debugging log: symptom, root cause, fix.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Symptom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06908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Root cause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4496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Fix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06908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3524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" y="209397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1C1C1E"/>
                </a:solidFill>
              </a:rPr>
              <a:t>Broken image icon before generation</a:t>
            </a:r>
            <a:endParaRPr lang="en-US" sz="1010" dirty="0"/>
          </a:p>
        </p:txBody>
      </p:sp>
      <p:sp>
        <p:nvSpPr>
          <p:cNvPr id="18" name="Text 16"/>
          <p:cNvSpPr/>
          <p:nvPr/>
        </p:nvSpPr>
        <p:spPr>
          <a:xfrm>
            <a:off x="4187952" y="20939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6666"/>
                </a:solidFill>
              </a:rPr>
              <a:t>.ai-image-preview display:block overrode hidden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7754112" y="20939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C1C1E"/>
                </a:solidFill>
              </a:rPr>
              <a:t>Add .ai-image-preview[hidden]{ display:none; }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06908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63524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" y="321868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1C1C1E"/>
                </a:solidFill>
              </a:rPr>
              <a:t>Generate button had invisible text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4187952" y="3218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6666"/>
                </a:solidFill>
              </a:rPr>
              <a:t>Global button{} rule set color to background color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7754112" y="3218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C1C1E"/>
                </a:solidFill>
              </a:rPr>
              <a:t>Explicitly set button text color; later remove the button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06908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3524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" y="433425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1C1C1E"/>
                </a:solidFill>
              </a:rPr>
              <a:t>“Something went wrong…” with no detail</a:t>
            </a:r>
            <a:endParaRPr lang="en-US" sz="1010" dirty="0"/>
          </a:p>
        </p:txBody>
      </p:sp>
      <p:sp>
        <p:nvSpPr>
          <p:cNvPr id="30" name="Text 28"/>
          <p:cNvSpPr/>
          <p:nvPr/>
        </p:nvSpPr>
        <p:spPr>
          <a:xfrm>
            <a:off x="4187952" y="43342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6666"/>
                </a:solidFill>
              </a:rPr>
              <a:t>Catch block swallowed the real error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7754112" y="43342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C1C1E"/>
                </a:solidFill>
              </a:rPr>
              <a:t>Surface e.message in status and console.error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50292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6908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63524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1792" y="54498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1C1C1E"/>
                </a:solidFill>
              </a:rPr>
              <a:t>Failed to fetch from the editor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4187952" y="54498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6666"/>
                </a:solidFill>
              </a:rPr>
              <a:t>CORS allowlist missed the AEM author origin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7754112" y="54498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C1C1E"/>
                </a:solidFill>
              </a:rPr>
              <a:t>Add the author domain to ALLOWED_ORIGINS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713232" y="5577840"/>
            <a:ext cx="10771632" cy="365760"/>
          </a:xfrm>
          <a:prstGeom prst="roundRect">
            <a:avLst>
              <a:gd name="adj" fmla="val 20000"/>
            </a:avLst>
          </a:prstGeom>
          <a:solidFill>
            <a:srgbClr val="FFF7F6"/>
          </a:solidFill>
          <a:ln w="12700">
            <a:solidFill>
              <a:srgbClr val="F1DD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687568"/>
            <a:ext cx="10378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1500"/>
                </a:solidFill>
              </a:rPr>
              <a:t>The same small set of culprits kept recurring: CSS, error handling, and CORS on the Worker route.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 &amp; Open Issue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works now, and what still needs investigation.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30352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35040" y="109728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FF9F7"/>
          </a:solidFill>
          <a:ln w="12700">
            <a:solidFill>
              <a:srgbClr val="FFD9D2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4672" y="1371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Working today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18745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1865376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entry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45973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450592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Debounced auto-generate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0449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035808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preview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6301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3621024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 fetch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2153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4206240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 upload initiateUpload step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36792" y="1371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1500"/>
                </a:solidFill>
              </a:rPr>
              <a:t>Open issue</a:t>
            </a:r>
            <a:endParaRPr lang="en-US" sz="16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5080" y="1719072"/>
            <a:ext cx="713232" cy="7132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269480" y="17373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1C1C1E"/>
                </a:solidFill>
              </a:rPr>
              <a:t>After completeUpload succeeds, the asset-processing workflow starts and has been observed to fail.</a:t>
            </a:r>
            <a:endParaRPr lang="en-US" sz="1130" dirty="0"/>
          </a:p>
        </p:txBody>
      </p:sp>
      <p:sp>
        <p:nvSpPr>
          <p:cNvPr id="24" name="Shape 21"/>
          <p:cNvSpPr/>
          <p:nvPr/>
        </p:nvSpPr>
        <p:spPr>
          <a:xfrm>
            <a:off x="6400800" y="2697480"/>
            <a:ext cx="4663440" cy="1316736"/>
          </a:xfrm>
          <a:prstGeom prst="roundRect">
            <a:avLst>
              <a:gd name="adj" fmla="val 5556"/>
            </a:avLst>
          </a:prstGeom>
          <a:solidFill>
            <a:srgbClr val="FFF1EF"/>
          </a:solidFill>
          <a:ln w="12700">
            <a:solidFill>
              <a:srgbClr val="F0D1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0" y="2907792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C1C1E"/>
                </a:solidFill>
              </a:rPr>
              <a:t>This appears to be server-side AEM workflow behavior, not block code. Next check: Tools → Operations → Workflow → Failures, or the Assets UI, for the actual processing error.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6492240" y="4462272"/>
            <a:ext cx="1234440" cy="274320"/>
          </a:xfrm>
          <a:prstGeom prst="roundRect">
            <a:avLst>
              <a:gd name="adj" fmla="val 26667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44668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7827264" y="4462272"/>
            <a:ext cx="1444752" cy="274320"/>
          </a:xfrm>
          <a:prstGeom prst="roundRect">
            <a:avLst>
              <a:gd name="adj" fmla="val 2666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27264" y="446684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/ launcher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9400032" y="4462272"/>
            <a:ext cx="1078992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400032" y="446684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6629400" y="489204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66666"/>
                </a:solidFill>
              </a:rPr>
              <a:t>The folder was auto-created by code, so it may not inherit the same ACLs or workflow launcher config as a normal authored DAM folder.</a:t>
            </a:r>
            <a:endParaRPr lang="en-US" sz="9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&amp;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checklist for the final implementation.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94360" y="1188720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344168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4874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Model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9844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prompt, aspectRatio, image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6309360" y="1298448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image is written programmatically, not picked</a:t>
            </a:r>
            <a:endParaRPr lang="en-US" sz="910" dirty="0"/>
          </a:p>
        </p:txBody>
      </p:sp>
      <p:sp>
        <p:nvSpPr>
          <p:cNvPr id="13" name="Shape 11"/>
          <p:cNvSpPr/>
          <p:nvPr/>
        </p:nvSpPr>
        <p:spPr>
          <a:xfrm>
            <a:off x="594360" y="1883664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2039112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043684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Worker route</a:t>
            </a:r>
            <a:endParaRPr lang="en-US" sz="770" dirty="0"/>
          </a:p>
        </p:txBody>
      </p:sp>
      <p:sp>
        <p:nvSpPr>
          <p:cNvPr id="16" name="Text 14"/>
          <p:cNvSpPr/>
          <p:nvPr/>
        </p:nvSpPr>
        <p:spPr>
          <a:xfrm>
            <a:off x="1783080" y="19933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Stream bytes instead of a presigned URL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6309360" y="199339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Reuse existing IMS auth — do not duplicate it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594360" y="2578608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2734056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73862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Author context</a:t>
            </a:r>
            <a:endParaRPr lang="en-US" sz="770" dirty="0"/>
          </a:p>
        </p:txBody>
      </p:sp>
      <p:sp>
        <p:nvSpPr>
          <p:cNvPr id="21" name="Text 19"/>
          <p:cNvSpPr/>
          <p:nvPr/>
        </p:nvSpPr>
        <p:spPr>
          <a:xfrm>
            <a:off x="1783080" y="268833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Check data-aue-resource on the block</a:t>
            </a:r>
            <a:endParaRPr lang="en-US" sz="1040" dirty="0"/>
          </a:p>
        </p:txBody>
      </p:sp>
      <p:sp>
        <p:nvSpPr>
          <p:cNvPr id="22" name="Text 20"/>
          <p:cNvSpPr/>
          <p:nvPr/>
        </p:nvSpPr>
        <p:spPr>
          <a:xfrm>
            <a:off x="6309360" y="268833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Absent on published pages — never call Firefly there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594360" y="3273552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" y="3429000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433572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Auto-generate</a:t>
            </a:r>
            <a:endParaRPr lang="en-US" sz="770" dirty="0"/>
          </a:p>
        </p:txBody>
      </p:sp>
      <p:sp>
        <p:nvSpPr>
          <p:cNvPr id="26" name="Text 24"/>
          <p:cNvSpPr/>
          <p:nvPr/>
        </p:nvSpPr>
        <p:spPr>
          <a:xfrm>
            <a:off x="1783080" y="338328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Debounce + in-flight guard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6309360" y="3383280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Prevents redundant calls while the author is editing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594360" y="3968496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" y="4123944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1285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DAM upload</a:t>
            </a:r>
            <a:endParaRPr lang="en-US" sz="770" dirty="0"/>
          </a:p>
        </p:txBody>
      </p:sp>
      <p:sp>
        <p:nvSpPr>
          <p:cNvPr id="31" name="Text 29"/>
          <p:cNvSpPr/>
          <p:nvPr/>
        </p:nvSpPr>
        <p:spPr>
          <a:xfrm>
            <a:off x="1783080" y="407822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initiateUpload / PUT / completeUpload + CSRF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6309360" y="4078224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Same-origin, cookie auth — no extra service token</a:t>
            </a:r>
            <a:endParaRPr lang="en-US" sz="910" dirty="0"/>
          </a:p>
        </p:txBody>
      </p:sp>
      <p:sp>
        <p:nvSpPr>
          <p:cNvPr id="33" name="Shape 31"/>
          <p:cNvSpPr/>
          <p:nvPr/>
        </p:nvSpPr>
        <p:spPr>
          <a:xfrm>
            <a:off x="594360" y="4663440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2960" y="4818888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8234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Persist</a:t>
            </a:r>
            <a:endParaRPr lang="en-US" sz="770" dirty="0"/>
          </a:p>
        </p:txBody>
      </p:sp>
      <p:sp>
        <p:nvSpPr>
          <p:cNvPr id="36" name="Text 34"/>
          <p:cNvSpPr/>
          <p:nvPr/>
        </p:nvSpPr>
        <p:spPr>
          <a:xfrm>
            <a:off x="1783080" y="477316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Sling POST the block’s own resource path</a:t>
            </a:r>
            <a:endParaRPr lang="en-US" sz="1040" dirty="0"/>
          </a:p>
        </p:txBody>
      </p:sp>
      <p:sp>
        <p:nvSpPr>
          <p:cNvPr id="37" name="Text 35"/>
          <p:cNvSpPr/>
          <p:nvPr/>
        </p:nvSpPr>
        <p:spPr>
          <a:xfrm>
            <a:off x="6309360" y="4773168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Additive — only touches the image property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594360" y="5358384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22960" y="5513832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5518404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Debug</a:t>
            </a:r>
            <a:endParaRPr lang="en-US" sz="770" dirty="0"/>
          </a:p>
        </p:txBody>
      </p:sp>
      <p:sp>
        <p:nvSpPr>
          <p:cNvPr id="41" name="Text 39"/>
          <p:cNvSpPr/>
          <p:nvPr/>
        </p:nvSpPr>
        <p:spPr>
          <a:xfrm>
            <a:off x="1783080" y="546811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Surface real error text, not a generic message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309360" y="546811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666666"/>
                </a:solidFill>
              </a:rPr>
              <a:t>CORS / CSRF / workflow failures can look identical</a:t>
            </a:r>
            <a:endParaRPr lang="en-US" sz="9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persist once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91440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render many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914400" y="32461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ECE9"/>
                </a:solidFill>
              </a:rPr>
              <a:t>A polished way to explain the ai-image block to the Adobe team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914400" y="38862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907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authoring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487168" y="388620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87168" y="38907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840480" y="38862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38907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API</a:t>
            </a:r>
            <a:endParaRPr lang="en-US" sz="8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15400" y="1371600"/>
            <a:ext cx="1463040" cy="14630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3063240"/>
            <a:ext cx="1828800" cy="12801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326880" y="621792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DBDBD"/>
                </a:solidFill>
              </a:rPr>
              <a:t>Adobe Confidential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Adobe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ai-image Block — Illustrated Redesign</dc:title>
  <dc:subject>AI image block redesign</dc:subject>
  <dc:creator>OpenAI</dc:creator>
  <cp:lastModifiedBy>OpenAI</cp:lastModifiedBy>
  <cp:revision>1</cp:revision>
  <dcterms:created xsi:type="dcterms:W3CDTF">2026-08-10T07:20:37Z</dcterms:created>
  <dcterms:modified xsi:type="dcterms:W3CDTF">2026-08-10T07:20:37Z</dcterms:modified>
</cp:coreProperties>
</file>