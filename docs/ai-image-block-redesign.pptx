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2" r:id="rId2"/>
    <p:sldId id="271" r:id="rId3"/>
    <p:sldId id="257" r:id="rId4"/>
    <p:sldId id="258" r:id="rId5"/>
    <p:sldId id="259" r:id="rId6"/>
    <p:sldId id="270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3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AA424D-5B58-0045-911B-D344DE47C9EF}" v="2" dt="2026-08-24T08:20:44.0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6301"/>
  </p:normalViewPr>
  <p:slideViewPr>
    <p:cSldViewPr snapToGrid="0" snapToObjects="1">
      <p:cViewPr varScale="1">
        <p:scale>
          <a:sx n="122" d="100"/>
          <a:sy n="122" d="100"/>
        </p:scale>
        <p:origin x="74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k Sevin" userId="82d950c0-7bb5-4310-a4fc-a877d4bbe588" providerId="ADAL" clId="{EB9E244D-3F8B-59DF-801C-03BB392BC6F1}"/>
    <pc:docChg chg="custSel addSld delSld modSld">
      <pc:chgData name="Franck Sevin" userId="82d950c0-7bb5-4310-a4fc-a877d4bbe588" providerId="ADAL" clId="{EB9E244D-3F8B-59DF-801C-03BB392BC6F1}" dt="2026-08-24T08:21:03.631" v="190" actId="2696"/>
      <pc:docMkLst>
        <pc:docMk/>
      </pc:docMkLst>
      <pc:sldChg chg="del">
        <pc:chgData name="Franck Sevin" userId="82d950c0-7bb5-4310-a4fc-a877d4bbe588" providerId="ADAL" clId="{EB9E244D-3F8B-59DF-801C-03BB392BC6F1}" dt="2026-08-24T08:20:33.609" v="188" actId="2696"/>
        <pc:sldMkLst>
          <pc:docMk/>
          <pc:sldMk cId="0" sldId="256"/>
        </pc:sldMkLst>
      </pc:sldChg>
      <pc:sldChg chg="modSp mod">
        <pc:chgData name="Franck Sevin" userId="82d950c0-7bb5-4310-a4fc-a877d4bbe588" providerId="ADAL" clId="{EB9E244D-3F8B-59DF-801C-03BB392BC6F1}" dt="2026-08-21T08:51:18.407" v="6" actId="27636"/>
        <pc:sldMkLst>
          <pc:docMk/>
          <pc:sldMk cId="0" sldId="264"/>
        </pc:sldMkLst>
        <pc:spChg chg="mod">
          <ac:chgData name="Franck Sevin" userId="82d950c0-7bb5-4310-a4fc-a877d4bbe588" providerId="ADAL" clId="{EB9E244D-3F8B-59DF-801C-03BB392BC6F1}" dt="2026-08-21T08:51:18.407" v="6" actId="27636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Franck Sevin" userId="82d950c0-7bb5-4310-a4fc-a877d4bbe588" providerId="ADAL" clId="{EB9E244D-3F8B-59DF-801C-03BB392BC6F1}" dt="2026-08-21T08:51:18.410" v="7" actId="27636"/>
        <pc:sldMkLst>
          <pc:docMk/>
          <pc:sldMk cId="0" sldId="266"/>
        </pc:sldMkLst>
        <pc:spChg chg="mod">
          <ac:chgData name="Franck Sevin" userId="82d950c0-7bb5-4310-a4fc-a877d4bbe588" providerId="ADAL" clId="{EB9E244D-3F8B-59DF-801C-03BB392BC6F1}" dt="2026-08-21T08:51:18.410" v="7" actId="27636"/>
          <ac:spMkLst>
            <pc:docMk/>
            <pc:sldMk cId="0" sldId="266"/>
            <ac:spMk id="25" creationId="{00000000-0000-0000-0000-000000000000}"/>
          </ac:spMkLst>
        </pc:spChg>
      </pc:sldChg>
      <pc:sldChg chg="modSp mod">
        <pc:chgData name="Franck Sevin" userId="82d950c0-7bb5-4310-a4fc-a877d4bbe588" providerId="ADAL" clId="{EB9E244D-3F8B-59DF-801C-03BB392BC6F1}" dt="2026-08-21T08:51:18.413" v="8" actId="27636"/>
        <pc:sldMkLst>
          <pc:docMk/>
          <pc:sldMk cId="0" sldId="267"/>
        </pc:sldMkLst>
        <pc:spChg chg="mod">
          <ac:chgData name="Franck Sevin" userId="82d950c0-7bb5-4310-a4fc-a877d4bbe588" providerId="ADAL" clId="{EB9E244D-3F8B-59DF-801C-03BB392BC6F1}" dt="2026-08-21T08:51:18.413" v="8" actId="27636"/>
          <ac:spMkLst>
            <pc:docMk/>
            <pc:sldMk cId="0" sldId="267"/>
            <ac:spMk id="23" creationId="{00000000-0000-0000-0000-000000000000}"/>
          </ac:spMkLst>
        </pc:spChg>
      </pc:sldChg>
      <pc:sldChg chg="del">
        <pc:chgData name="Franck Sevin" userId="82d950c0-7bb5-4310-a4fc-a877d4bbe588" providerId="ADAL" clId="{EB9E244D-3F8B-59DF-801C-03BB392BC6F1}" dt="2026-08-24T08:21:03.631" v="190" actId="2696"/>
        <pc:sldMkLst>
          <pc:docMk/>
          <pc:sldMk cId="0" sldId="269"/>
        </pc:sldMkLst>
      </pc:sldChg>
      <pc:sldChg chg="addSp modSp new mod">
        <pc:chgData name="Franck Sevin" userId="82d950c0-7bb5-4310-a4fc-a877d4bbe588" providerId="ADAL" clId="{EB9E244D-3F8B-59DF-801C-03BB392BC6F1}" dt="2026-08-20T06:48:59.223" v="3" actId="14100"/>
        <pc:sldMkLst>
          <pc:docMk/>
          <pc:sldMk cId="3686168367" sldId="270"/>
        </pc:sldMkLst>
        <pc:picChg chg="add mod">
          <ac:chgData name="Franck Sevin" userId="82d950c0-7bb5-4310-a4fc-a877d4bbe588" providerId="ADAL" clId="{EB9E244D-3F8B-59DF-801C-03BB392BC6F1}" dt="2026-08-20T06:48:59.223" v="3" actId="14100"/>
          <ac:picMkLst>
            <pc:docMk/>
            <pc:sldMk cId="3686168367" sldId="270"/>
            <ac:picMk id="3" creationId="{A1593456-1BD8-554C-DC28-4E0A73111263}"/>
          </ac:picMkLst>
        </pc:picChg>
      </pc:sldChg>
      <pc:sldChg chg="addSp modSp new mod">
        <pc:chgData name="Franck Sevin" userId="82d950c0-7bb5-4310-a4fc-a877d4bbe588" providerId="ADAL" clId="{EB9E244D-3F8B-59DF-801C-03BB392BC6F1}" dt="2026-08-24T08:18:43.390" v="186" actId="113"/>
        <pc:sldMkLst>
          <pc:docMk/>
          <pc:sldMk cId="3244134365" sldId="271"/>
        </pc:sldMkLst>
        <pc:spChg chg="add mod">
          <ac:chgData name="Franck Sevin" userId="82d950c0-7bb5-4310-a4fc-a877d4bbe588" providerId="ADAL" clId="{EB9E244D-3F8B-59DF-801C-03BB392BC6F1}" dt="2026-08-24T08:18:43.390" v="186" actId="113"/>
          <ac:spMkLst>
            <pc:docMk/>
            <pc:sldMk cId="3244134365" sldId="271"/>
            <ac:spMk id="2" creationId="{FD09D4F8-A76C-4BDB-6BE3-D3AF82BB11AE}"/>
          </ac:spMkLst>
        </pc:spChg>
      </pc:sldChg>
      <pc:sldChg chg="add">
        <pc:chgData name="Franck Sevin" userId="82d950c0-7bb5-4310-a4fc-a877d4bbe588" providerId="ADAL" clId="{EB9E244D-3F8B-59DF-801C-03BB392BC6F1}" dt="2026-08-24T08:20:28.115" v="187"/>
        <pc:sldMkLst>
          <pc:docMk/>
          <pc:sldMk cId="0" sldId="272"/>
        </pc:sldMkLst>
      </pc:sldChg>
      <pc:sldChg chg="add">
        <pc:chgData name="Franck Sevin" userId="82d950c0-7bb5-4310-a4fc-a877d4bbe588" providerId="ADAL" clId="{EB9E244D-3F8B-59DF-801C-03BB392BC6F1}" dt="2026-08-24T08:20:44.035" v="189"/>
        <pc:sldMkLst>
          <pc:docMk/>
          <pc:sldMk cId="0" sldId="27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31339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027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author-p42808-e1367915.adobeaemcloud.com/ui#/aem/" TargetMode="External"/><Relationship Id="rId7" Type="http://schemas.openxmlformats.org/officeDocument/2006/relationships/hyperlink" Target="https://main--myeds-xwalk--fsevin.aem.live/demo-tn" TargetMode="External"/><Relationship Id="rId2" Type="http://schemas.openxmlformats.org/officeDocument/2006/relationships/hyperlink" Target="https://experience.adobe.com/#/@emeaaem/cloud-manager/home.html/program/42808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ash.cloudflare.com/0579dbc1b9f0cdcaef70870e5c585897/workers/services/view/myeds-xwalk-api/production" TargetMode="External"/><Relationship Id="rId5" Type="http://schemas.openxmlformats.org/officeDocument/2006/relationships/hyperlink" Target="https://developer.adobe.com/console/projects/916550/4566206088345730291/overview" TargetMode="External"/><Relationship Id="rId4" Type="http://schemas.openxmlformats.org/officeDocument/2006/relationships/hyperlink" Target="https://github.com/fsevin/myeds-xwalk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50228" y="256032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>
                <a:solidFill>
                  <a:srgbClr val="FFFFFF"/>
                </a:solidFill>
              </a:rPr>
              <a:t>The ai-image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0228" y="342900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Author-Generated, DAM-Persisted Firefly Images in Universal Editor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0228" y="3977639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>
                <a:solidFill>
                  <a:srgbClr val="FFFFFF"/>
                </a:solidFill>
              </a:rPr>
              <a:t>Adobe Experience Manager — Developer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228" y="1645921"/>
            <a:ext cx="1828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Adobe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09D4F8-A76C-4BDB-6BE3-D3AF82BB11AE}"/>
              </a:ext>
            </a:extLst>
          </p:cNvPr>
          <p:cNvSpPr txBox="1"/>
          <p:nvPr/>
        </p:nvSpPr>
        <p:spPr>
          <a:xfrm>
            <a:off x="150725" y="462225"/>
            <a:ext cx="12162304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Org</a:t>
            </a:r>
            <a:r>
              <a:rPr lang="en-US" dirty="0"/>
              <a:t> </a:t>
            </a:r>
          </a:p>
          <a:p>
            <a:r>
              <a:rPr lang="en-US" b="1" dirty="0"/>
              <a:t>EMEA Consulting</a:t>
            </a:r>
          </a:p>
          <a:p>
            <a:endParaRPr lang="en-US" dirty="0"/>
          </a:p>
          <a:p>
            <a:r>
              <a:rPr lang="en-US" b="1" dirty="0"/>
              <a:t>Cloud Manager</a:t>
            </a:r>
          </a:p>
          <a:p>
            <a:r>
              <a:rPr lang="en-US" dirty="0">
                <a:hlinkClick r:id="rId2"/>
              </a:rPr>
              <a:t>https://experience.adobe.com/#/@emeaaem/cloud-manager/home.html/program/42808</a:t>
            </a:r>
            <a:endParaRPr lang="en-US" dirty="0"/>
          </a:p>
          <a:p>
            <a:endParaRPr lang="en-US" dirty="0"/>
          </a:p>
          <a:p>
            <a:r>
              <a:rPr lang="en-US" b="1" dirty="0" err="1"/>
              <a:t>AEMaaCS</a:t>
            </a:r>
            <a:r>
              <a:rPr lang="en-US" b="1" dirty="0"/>
              <a:t> Author Prod</a:t>
            </a:r>
          </a:p>
          <a:p>
            <a:r>
              <a:rPr lang="en-US" dirty="0">
                <a:hlinkClick r:id="rId3"/>
              </a:rPr>
              <a:t>https://author-p42808-e1367915.adobeaemcloud.com/ui#/aem/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Git Repo</a:t>
            </a:r>
          </a:p>
          <a:p>
            <a:r>
              <a:rPr lang="en-US" dirty="0">
                <a:hlinkClick r:id="rId4"/>
              </a:rPr>
              <a:t>https://github.com/fsevin/myeds-xwalk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b="1" dirty="0"/>
              <a:t>Console (Project 45)</a:t>
            </a:r>
          </a:p>
          <a:p>
            <a:r>
              <a:rPr lang="en-US" dirty="0">
                <a:hlinkClick r:id="rId5"/>
              </a:rPr>
              <a:t>https://developer.adobe.com/console/projects/916550/4566206088345730291/overview</a:t>
            </a:r>
            <a:endParaRPr lang="en-US" dirty="0"/>
          </a:p>
          <a:p>
            <a:endParaRPr lang="en-US" dirty="0"/>
          </a:p>
          <a:p>
            <a:r>
              <a:rPr lang="en-US" b="1" dirty="0" err="1"/>
              <a:t>CloudFlare</a:t>
            </a:r>
            <a:endParaRPr lang="en-US" b="1" dirty="0"/>
          </a:p>
          <a:p>
            <a:r>
              <a:rPr lang="en-US" dirty="0">
                <a:hlinkClick r:id="rId6"/>
              </a:rPr>
              <a:t>https://dash.cloudflare.com/0579dbc1b9f0cdcaef70870e5c585897/workers/services/view/myeds-xwalk-api/production</a:t>
            </a:r>
            <a:endParaRPr lang="en-US" dirty="0"/>
          </a:p>
          <a:p>
            <a:endParaRPr lang="en-US" dirty="0"/>
          </a:p>
          <a:p>
            <a:r>
              <a:rPr lang="en-US" b="1" dirty="0"/>
              <a:t>EDS Live</a:t>
            </a:r>
          </a:p>
          <a:p>
            <a:r>
              <a:rPr lang="en-US" dirty="0">
                <a:hlinkClick r:id="rId7"/>
              </a:rPr>
              <a:t>https://main--myeds-xwalk--fsevin.aem.live/demo-tn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4134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visual walkthrough of the ai-image block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170432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94944" y="1316736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94944" y="134416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07008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separate from Firefly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16824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Why separate from Firefly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971800" y="1993392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71800" y="19979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361688" y="1170432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07992" y="1316736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07992" y="134416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0056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0056" y="16824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Architecture overview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84848" y="1993392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84848" y="19979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174736" y="1170432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21040" y="1316736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321040" y="134416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33104" y="1371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Authoring model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833104" y="16824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Authoring model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0597896" y="1993392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597896" y="19979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48640" y="2660904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94944" y="2807208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94944" y="2834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207008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Worker byte streaming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07008" y="3172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Edge Worker byte streaming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971800" y="3483864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971800" y="348843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361688" y="2660904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507992" y="2807208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507992" y="2834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0056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Editor context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020056" y="3172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Universal Editor context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784848" y="3483864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784848" y="348843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74736" y="2660904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321040" y="2807208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321040" y="2834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833104" y="2862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 flow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8833104" y="31729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Auto-generate flow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0597896" y="3483864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10597896" y="348843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48640" y="4151376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94944" y="4297680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94944" y="43251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207008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AEM DAM upload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207008" y="4663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AEM DAM upload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2971800" y="4974336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2971800" y="497890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4361688" y="4151376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4507992" y="429768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4507992" y="43251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020056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the content node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5020056" y="4663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Patch the content node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784848" y="4974336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784848" y="497890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8174736" y="4151376"/>
            <a:ext cx="3346704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321040" y="4297680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8321040" y="4325112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833104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Bugs, status, best practices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8833104" y="46634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6666"/>
                </a:solidFill>
              </a:rPr>
              <a:t>Bugs, status, best practices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0597896" y="4974336"/>
            <a:ext cx="749808" cy="219456"/>
          </a:xfrm>
          <a:prstGeom prst="roundRect">
            <a:avLst>
              <a:gd name="adj" fmla="val 33333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0597896" y="497890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Separate Block From Firefly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once in the editor, then render a persisted asset on every later view.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51560"/>
            <a:ext cx="5440680" cy="4983480"/>
          </a:xfrm>
          <a:prstGeom prst="roundRect">
            <a:avLst>
              <a:gd name="adj" fmla="val 2202"/>
            </a:avLst>
          </a:prstGeom>
          <a:solidFill>
            <a:srgbClr val="FFF7F6"/>
          </a:solidFill>
          <a:ln w="12700">
            <a:solidFill>
              <a:srgbClr val="FFDED9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355080" y="1051560"/>
            <a:ext cx="5321808" cy="4983480"/>
          </a:xfrm>
          <a:prstGeom prst="roundRect">
            <a:avLst>
              <a:gd name="adj" fmla="val 2202"/>
            </a:avLst>
          </a:prstGeom>
          <a:solidFill>
            <a:srgbClr val="F8FBFF"/>
          </a:solidFill>
          <a:ln w="12700">
            <a:solidFill>
              <a:srgbClr val="DDE8FF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1500"/>
                </a:solidFill>
              </a:rPr>
              <a:t>Original Firefly block</a:t>
            </a:r>
            <a:endParaRPr lang="en-US" sz="16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9808" y="1673352"/>
            <a:ext cx="502920" cy="5029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371600" y="16733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3" name="Text 10"/>
          <p:cNvSpPr/>
          <p:nvPr/>
        </p:nvSpPr>
        <p:spPr>
          <a:xfrm>
            <a:off x="1572768" y="166420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Firefly on every render</a:t>
            </a:r>
            <a:endParaRPr lang="en-US" sz="1120" dirty="0"/>
          </a:p>
        </p:txBody>
      </p:sp>
      <p:sp>
        <p:nvSpPr>
          <p:cNvPr id="14" name="Text 11"/>
          <p:cNvSpPr/>
          <p:nvPr/>
        </p:nvSpPr>
        <p:spPr>
          <a:xfrm>
            <a:off x="1371600" y="2331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5" name="Text 12"/>
          <p:cNvSpPr/>
          <p:nvPr/>
        </p:nvSpPr>
        <p:spPr>
          <a:xfrm>
            <a:off x="1572768" y="2322576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Consumes a credit per page view</a:t>
            </a:r>
            <a:endParaRPr lang="en-US" sz="1120" dirty="0"/>
          </a:p>
        </p:txBody>
      </p:sp>
      <p:sp>
        <p:nvSpPr>
          <p:cNvPr id="16" name="Text 13"/>
          <p:cNvSpPr/>
          <p:nvPr/>
        </p:nvSpPr>
        <p:spPr>
          <a:xfrm>
            <a:off x="1371600" y="299008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7" name="Text 14"/>
          <p:cNvSpPr/>
          <p:nvPr/>
        </p:nvSpPr>
        <p:spPr>
          <a:xfrm>
            <a:off x="1572768" y="2980944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Produces a different image each time</a:t>
            </a:r>
            <a:endParaRPr lang="en-US" sz="1120" dirty="0"/>
          </a:p>
        </p:txBody>
      </p:sp>
      <p:sp>
        <p:nvSpPr>
          <p:cNvPr id="18" name="Text 15"/>
          <p:cNvSpPr/>
          <p:nvPr/>
        </p:nvSpPr>
        <p:spPr>
          <a:xfrm>
            <a:off x="1371600" y="36484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19" name="Text 16"/>
          <p:cNvSpPr/>
          <p:nvPr/>
        </p:nvSpPr>
        <p:spPr>
          <a:xfrm>
            <a:off x="1572768" y="363931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Returns a presigned S3 URL that expires quickly</a:t>
            </a:r>
            <a:endParaRPr lang="en-US" sz="1120" dirty="0"/>
          </a:p>
        </p:txBody>
      </p:sp>
      <p:sp>
        <p:nvSpPr>
          <p:cNvPr id="20" name="Text 17"/>
          <p:cNvSpPr/>
          <p:nvPr/>
        </p:nvSpPr>
        <p:spPr>
          <a:xfrm>
            <a:off x="6629400" y="12801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ai-image block</a:t>
            </a:r>
            <a:endParaRPr lang="en-US" sz="160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1968" y="1673352"/>
            <a:ext cx="502920" cy="5029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223760" y="16733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3" name="Text 19"/>
          <p:cNvSpPr/>
          <p:nvPr/>
        </p:nvSpPr>
        <p:spPr>
          <a:xfrm>
            <a:off x="7424928" y="1664208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once in Universal Editor</a:t>
            </a:r>
            <a:endParaRPr lang="en-US" sz="1120" dirty="0"/>
          </a:p>
        </p:txBody>
      </p:sp>
      <p:sp>
        <p:nvSpPr>
          <p:cNvPr id="24" name="Text 20"/>
          <p:cNvSpPr/>
          <p:nvPr/>
        </p:nvSpPr>
        <p:spPr>
          <a:xfrm>
            <a:off x="7223760" y="2331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5" name="Text 21"/>
          <p:cNvSpPr/>
          <p:nvPr/>
        </p:nvSpPr>
        <p:spPr>
          <a:xfrm>
            <a:off x="7424928" y="2322576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Persists the result as a real AEM DAM asset</a:t>
            </a:r>
            <a:endParaRPr lang="en-US" sz="1120" dirty="0"/>
          </a:p>
        </p:txBody>
      </p:sp>
      <p:sp>
        <p:nvSpPr>
          <p:cNvPr id="26" name="Text 22"/>
          <p:cNvSpPr/>
          <p:nvPr/>
        </p:nvSpPr>
        <p:spPr>
          <a:xfrm>
            <a:off x="7223760" y="299008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7" name="Text 23"/>
          <p:cNvSpPr/>
          <p:nvPr/>
        </p:nvSpPr>
        <p:spPr>
          <a:xfrm>
            <a:off x="7424928" y="2980944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pages render the stored asset with zero API calls</a:t>
            </a:r>
            <a:endParaRPr lang="en-US" sz="1120" dirty="0"/>
          </a:p>
        </p:txBody>
      </p:sp>
      <p:sp>
        <p:nvSpPr>
          <p:cNvPr id="28" name="Text 24"/>
          <p:cNvSpPr/>
          <p:nvPr/>
        </p:nvSpPr>
        <p:spPr>
          <a:xfrm>
            <a:off x="7223760" y="364845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20" dirty="0"/>
          </a:p>
        </p:txBody>
      </p:sp>
      <p:sp>
        <p:nvSpPr>
          <p:cNvPr id="29" name="Text 25"/>
          <p:cNvSpPr/>
          <p:nvPr/>
        </p:nvSpPr>
        <p:spPr>
          <a:xfrm>
            <a:off x="7424928" y="3639312"/>
            <a:ext cx="3822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original Firefly block untouched</a:t>
            </a:r>
            <a:endParaRPr lang="en-US" sz="1120" dirty="0"/>
          </a:p>
        </p:txBody>
      </p:sp>
      <p:sp>
        <p:nvSpPr>
          <p:cNvPr id="30" name="Shape 26"/>
          <p:cNvSpPr/>
          <p:nvPr/>
        </p:nvSpPr>
        <p:spPr>
          <a:xfrm>
            <a:off x="5760720" y="2962656"/>
            <a:ext cx="365760" cy="384048"/>
          </a:xfrm>
          <a:prstGeom prst="chevron">
            <a:avLst/>
          </a:prstGeom>
          <a:solidFill>
            <a:srgbClr val="FF1500">
              <a:alpha val="85000"/>
            </a:srgbClr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5120640" y="376732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1500"/>
                </a:solidFill>
              </a:rPr>
              <a:t>Persist once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5074920" y="400507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B82F6"/>
                </a:solidFill>
              </a:rPr>
              <a:t>render many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868680" y="5349240"/>
            <a:ext cx="10287000" cy="0"/>
          </a:xfrm>
          <a:prstGeom prst="line">
            <a:avLst/>
          </a:prstGeom>
          <a:noFill/>
          <a:ln w="12700">
            <a:solidFill>
              <a:srgbClr val="E7E1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777240" y="5532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66666"/>
                </a:solidFill>
              </a:rPr>
              <a:t>A new folder keeps the existing Firefly block unchanged while this version stores assets inside DAM.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request path is short: authoring -&gt; byte stream -&gt; preview -&gt; DAM upload -&gt; persisted render.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1115568"/>
            <a:ext cx="11292840" cy="5102352"/>
          </a:xfrm>
          <a:prstGeom prst="roundRect">
            <a:avLst>
              <a:gd name="adj" fmla="val 2151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16152" y="2039112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21615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7840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1C1E"/>
                </a:solidFill>
              </a:rPr>
              <a:t>Author types prompt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2316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7FBFF"/>
          </a:solidFill>
          <a:ln w="12700">
            <a:solidFill>
              <a:srgbClr val="DDE8FF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770632" y="2039112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7063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3288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1C1E"/>
                </a:solidFill>
              </a:rPr>
              <a:t>ai-image.js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97764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325112" y="2039112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2511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8736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1C1E"/>
                </a:solidFill>
              </a:rPr>
              <a:t>Edge Worker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3212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7FBFF"/>
          </a:solidFill>
          <a:ln w="12700">
            <a:solidFill>
              <a:srgbClr val="DDE8FF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879592" y="2039112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7959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4184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1C1E"/>
                </a:solidFill>
              </a:rPr>
              <a:t>Inline preview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08660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434072" y="2039112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43407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19632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1C1E"/>
                </a:solidFill>
              </a:rPr>
              <a:t>DAM upload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64108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7FBFF"/>
          </a:solidFill>
          <a:ln w="12700">
            <a:solidFill>
              <a:srgbClr val="DDE8FF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988552" y="203911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98855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75080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1C1E"/>
                </a:solidFill>
              </a:rPr>
              <a:t>Patch block node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195560" y="1901952"/>
            <a:ext cx="1078992" cy="1225296"/>
          </a:xfrm>
          <a:prstGeom prst="roundRect">
            <a:avLst>
              <a:gd name="adj" fmla="val 10169"/>
            </a:avLst>
          </a:prstGeom>
          <a:solidFill>
            <a:srgbClr val="FFF9F8"/>
          </a:solidFill>
          <a:ln w="12700">
            <a:solidFill>
              <a:srgbClr val="FFD9D4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543032" y="2039112"/>
            <a:ext cx="384048" cy="384048"/>
          </a:xfrm>
          <a:prstGeom prst="ellipse">
            <a:avLst/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543032" y="206654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05288" y="2487168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1C1E"/>
                </a:solidFill>
              </a:rPr>
              <a:t>Reload and render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91109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46557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2005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57453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12901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9683496" y="2350008"/>
            <a:ext cx="365760" cy="155448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1248" y="3749040"/>
            <a:ext cx="1554480" cy="1051560"/>
          </a:xfrm>
          <a:prstGeom prst="rect">
            <a:avLst/>
          </a:prstGeom>
        </p:spPr>
      </p:pic>
      <p:pic>
        <p:nvPicPr>
          <p:cNvPr id="4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98064" y="3813048"/>
            <a:ext cx="1828800" cy="914400"/>
          </a:xfrm>
          <a:prstGeom prst="rect">
            <a:avLst/>
          </a:prstGeom>
        </p:spPr>
      </p:pic>
      <p:pic>
        <p:nvPicPr>
          <p:cNvPr id="4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03520" y="3703320"/>
            <a:ext cx="1143000" cy="1097280"/>
          </a:xfrm>
          <a:prstGeom prst="rect">
            <a:avLst/>
          </a:prstGeom>
        </p:spPr>
      </p:pic>
      <p:pic>
        <p:nvPicPr>
          <p:cNvPr id="4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223760" y="3685032"/>
            <a:ext cx="1143000" cy="1097280"/>
          </a:xfrm>
          <a:prstGeom prst="rect">
            <a:avLst/>
          </a:prstGeom>
        </p:spPr>
      </p:pic>
      <p:pic>
        <p:nvPicPr>
          <p:cNvPr id="4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0" y="3730752"/>
            <a:ext cx="1097280" cy="1005840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078992" y="4773168"/>
            <a:ext cx="10012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1C1E"/>
                </a:solidFill>
              </a:rPr>
              <a:t>The block streams image bytes from the Worker, uploads them to AEM DAM, then writes the DAM path back onto its own content node.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1508760" y="5102352"/>
            <a:ext cx="9144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66666"/>
                </a:solidFill>
              </a:rPr>
              <a:t>Later renders simply detect the persisted &lt;picture&gt; and exit early — no Firefly call is needed.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593456-1BD8-554C-DC28-4E0A73111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986054" cy="674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1683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Authoring Model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 + aspect ratio shape as the original block, with a writable image reference field.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78992"/>
            <a:ext cx="3977640" cy="49834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1078992"/>
            <a:ext cx="694944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89888"/>
            <a:ext cx="914400" cy="8686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28800" y="138988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</a:rPr>
              <a:t>Model fields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41248" y="1965960"/>
            <a:ext cx="3310128" cy="512064"/>
          </a:xfrm>
          <a:prstGeom prst="roundRect">
            <a:avLst>
              <a:gd name="adj" fmla="val 21429"/>
            </a:avLst>
          </a:prstGeom>
          <a:solidFill>
            <a:srgbClr val="F7F7F8"/>
          </a:solidFill>
          <a:ln w="12700">
            <a:solidFill>
              <a:srgbClr val="E4E0DB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987552" y="2075688"/>
            <a:ext cx="841248" cy="201168"/>
          </a:xfrm>
          <a:prstGeom prst="roundRect">
            <a:avLst>
              <a:gd name="adj" fmla="val 36364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987552" y="2080260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1965960" y="2066544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1E"/>
                </a:solidFill>
              </a:rPr>
              <a:t>Prompt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965960" y="2249424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666666"/>
                </a:solidFill>
              </a:rPr>
              <a:t>required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841248" y="2615184"/>
            <a:ext cx="3310128" cy="512064"/>
          </a:xfrm>
          <a:prstGeom prst="roundRect">
            <a:avLst>
              <a:gd name="adj" fmla="val 21429"/>
            </a:avLst>
          </a:prstGeom>
          <a:solidFill>
            <a:srgbClr val="F7F7F8"/>
          </a:solidFill>
          <a:ln w="12700">
            <a:solidFill>
              <a:srgbClr val="E4E0DB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987552" y="2724912"/>
            <a:ext cx="841248" cy="201168"/>
          </a:xfrm>
          <a:prstGeom prst="roundRect">
            <a:avLst>
              <a:gd name="adj" fmla="val 36364"/>
            </a:avLst>
          </a:prstGeom>
          <a:solidFill>
            <a:srgbClr val="1C1C1E"/>
          </a:solidFill>
          <a:ln w="12700">
            <a:solidFill>
              <a:srgbClr val="1C1C1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87552" y="272948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aspectRatio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965960" y="271576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1E"/>
                </a:solidFill>
              </a:rPr>
              <a:t>Aspect ratio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965960" y="2898648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666666"/>
                </a:solidFill>
              </a:rPr>
              <a:t>1024x1024 | 1344x768 | 768x1344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841248" y="3264408"/>
            <a:ext cx="3310128" cy="512064"/>
          </a:xfrm>
          <a:prstGeom prst="roundRect">
            <a:avLst>
              <a:gd name="adj" fmla="val 21429"/>
            </a:avLst>
          </a:prstGeom>
          <a:solidFill>
            <a:srgbClr val="FFF7F6"/>
          </a:solidFill>
          <a:ln w="12700">
            <a:solidFill>
              <a:srgbClr val="FFD4CF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987552" y="3374136"/>
            <a:ext cx="841248" cy="201168"/>
          </a:xfrm>
          <a:prstGeom prst="roundRect">
            <a:avLst>
              <a:gd name="adj" fmla="val 36364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987552" y="337870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1965960" y="3364992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C1C1E"/>
                </a:solidFill>
              </a:rPr>
              <a:t>Generated image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965960" y="3547872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666666"/>
                </a:solidFill>
              </a:rPr>
              <a:t>reference field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841248" y="406908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i="1" dirty="0">
                <a:solidFill>
                  <a:srgbClr val="666666"/>
                </a:solidFill>
              </a:rPr>
              <a:t>Written programmatically, but still manually overridable in the asset picker UI.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5029200" y="1417320"/>
            <a:ext cx="6263640" cy="3566160"/>
          </a:xfrm>
          <a:prstGeom prst="roundRect">
            <a:avLst>
              <a:gd name="adj" fmla="val 2051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blurRad="12700" dist="127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175504" y="1527048"/>
            <a:ext cx="59710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blocks/ai-image/_ai-image.json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"models": [{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"ai-image",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"fields": [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"component": "richtext", "name": "prompt", "label": "Prompt" },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"component": "select", "name": "aspectRatio", "label": "Aspect ratio" },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 "component": "reference", "name": "image", "label": "Generated image" }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10" dirty="0"/>
          </a:p>
        </p:txBody>
      </p:sp>
      <p:sp>
        <p:nvSpPr>
          <p:cNvPr id="30" name="Shape 27"/>
          <p:cNvSpPr/>
          <p:nvPr/>
        </p:nvSpPr>
        <p:spPr>
          <a:xfrm>
            <a:off x="5029200" y="5166360"/>
            <a:ext cx="62636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7E1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5230368" y="5376672"/>
            <a:ext cx="5806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dirty="0">
                <a:solidFill>
                  <a:srgbClr val="1C1C1E"/>
                </a:solidFill>
              </a:rPr>
              <a:t>The model stays close to the original Firefly block, with the image asset slot added for persistence.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Edge Worker: Stream Image Bytes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 the same IMS auth, but return the image bytes directly rather than a presigned URL.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4572000" cy="4983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303520" y="1097280"/>
            <a:ext cx="635508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1248" y="1508760"/>
            <a:ext cx="1280160" cy="7315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194560" y="14904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C1E"/>
                </a:solidFill>
              </a:rPr>
              <a:t>Shared auth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" y="202996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3" name="Text 10"/>
          <p:cNvSpPr/>
          <p:nvPr/>
        </p:nvSpPr>
        <p:spPr>
          <a:xfrm>
            <a:off x="1115568" y="202082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the same getFireflyToken helper as the original block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914400" y="25786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5" name="Text 12"/>
          <p:cNvSpPr/>
          <p:nvPr/>
        </p:nvSpPr>
        <p:spPr>
          <a:xfrm>
            <a:off x="1115568" y="25694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is cached in-isolate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914400" y="312724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15568" y="311810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duplicated auth logic</a:t>
            </a:r>
            <a:endParaRPr lang="en-US" sz="1080" dirty="0"/>
          </a:p>
        </p:txBody>
      </p:sp>
      <p:sp>
        <p:nvSpPr>
          <p:cNvPr id="18" name="Text 15"/>
          <p:cNvSpPr/>
          <p:nvPr/>
        </p:nvSpPr>
        <p:spPr>
          <a:xfrm>
            <a:off x="877824" y="393192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1500"/>
                </a:solidFill>
              </a:rPr>
              <a:t>Route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1353312" y="3895344"/>
            <a:ext cx="2267712" cy="237744"/>
          </a:xfrm>
          <a:prstGeom prst="roundRect">
            <a:avLst>
              <a:gd name="adj" fmla="val 30769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1353312" y="38999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/api/firefly/generate-image</a:t>
            </a:r>
            <a:endParaRPr lang="en-US" sz="830" dirty="0"/>
          </a:p>
        </p:txBody>
      </p:sp>
      <p:sp>
        <p:nvSpPr>
          <p:cNvPr id="21" name="Shape 18"/>
          <p:cNvSpPr/>
          <p:nvPr/>
        </p:nvSpPr>
        <p:spPr>
          <a:xfrm>
            <a:off x="5623560" y="14173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blurRad="12700" dist="127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769864" y="1527048"/>
            <a:ext cx="528523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handleFireflyGenerateImage(request, env, cors) {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{ prompt, size } = parsePromptAndSize(await request.json());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url = await fireflyGenerate(prompt, size, env);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imageRes = await fetch(url);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new Response(imageRes.body, {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status: 200,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headers: { 'Content-Type': imageRes.headers.get('Content-Type') || 'image/png', ...cors },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742432" y="53949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dirty="0">
                <a:solidFill>
                  <a:srgbClr val="666666"/>
                </a:solidFill>
              </a:rPr>
              <a:t>The Worker fetches the image server-side, which avoids S3 CORS uncertainty and the presigned URL expiry window.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 — Detecting Universal Editor Context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block wrapper attribute; do not guess by hostname or page type.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5029200" cy="4983480"/>
          </a:xfrm>
          <a:prstGeom prst="roundRect">
            <a:avLst>
              <a:gd name="adj" fmla="val 2202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715000" y="1097280"/>
            <a:ext cx="594360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4672" y="1417320"/>
            <a:ext cx="1554480" cy="1005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542032" y="14264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</a:rPr>
              <a:t>Universal Editor canvas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96112" y="2560320"/>
            <a:ext cx="2103120" cy="274320"/>
          </a:xfrm>
          <a:prstGeom prst="roundRect">
            <a:avLst>
              <a:gd name="adj" fmla="val 2666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896112" y="25648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data-aue-resource present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3108960" y="2560320"/>
            <a:ext cx="1508760" cy="274320"/>
          </a:xfrm>
          <a:prstGeom prst="roundRect">
            <a:avLst>
              <a:gd name="adj" fmla="val 2666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108960" y="256489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canvas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868680" y="2999232"/>
            <a:ext cx="4315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1C1C1E"/>
                </a:solidFill>
              </a:rPr>
              <a:t>If the attribute exists, strip the urn prefix to get the Sling resource path that later gets patched.</a:t>
            </a:r>
            <a:endParaRPr lang="en-US" sz="1120" dirty="0"/>
          </a:p>
        </p:txBody>
      </p:sp>
      <p:sp>
        <p:nvSpPr>
          <p:cNvPr id="17" name="Shape 14"/>
          <p:cNvSpPr/>
          <p:nvPr/>
        </p:nvSpPr>
        <p:spPr>
          <a:xfrm>
            <a:off x="868680" y="3657600"/>
            <a:ext cx="4297680" cy="1828800"/>
          </a:xfrm>
          <a:prstGeom prst="roundRect">
            <a:avLst>
              <a:gd name="adj" fmla="val 4000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blurRad="12700" dist="127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1014984" y="3767328"/>
            <a:ext cx="40050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resource = block.getAttribute('data-aue-resource');</a:t>
            </a:r>
            <a:endParaRPr lang="en-US" sz="770" dirty="0"/>
          </a:p>
          <a:p>
            <a:pPr marL="0" indent="0">
              <a:buNone/>
            </a:pP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Published page: absent -&gt; return immediately.</a:t>
            </a: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(!resource) return;</a:t>
            </a:r>
            <a:endParaRPr lang="en-US" sz="770" dirty="0"/>
          </a:p>
          <a:p>
            <a:pPr marL="0" indent="0">
              <a:buNone/>
            </a:pP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resourcePath = resource.replace('urn:aemconnection:', '');</a:t>
            </a: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→ /content/.../jcr:content/root/.../firefly</a:t>
            </a:r>
            <a:endParaRPr lang="en-US" sz="77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9320" y="1481328"/>
            <a:ext cx="1005840" cy="10058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223760" y="14813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C1C1E"/>
                </a:solidFill>
              </a:rPr>
              <a:t>Published page behavior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6035040" y="203911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236208" y="2029968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attribute is absent entirely on published pages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035040" y="266090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6236208" y="265176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call Firefly there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035040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236208" y="3273552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render an already-persisted &lt;picture&gt;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 — Auto-Generate on Prompt Entry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1.2s debounce keeps the authoring flow responsive while preventing redundant requests.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5486400" cy="4983480"/>
          </a:xfrm>
          <a:prstGeom prst="roundRect">
            <a:avLst>
              <a:gd name="adj" fmla="val 2202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5440680" cy="4983480"/>
          </a:xfrm>
          <a:prstGeom prst="roundRect">
            <a:avLst>
              <a:gd name="adj" fmla="val 2202"/>
            </a:avLst>
          </a:prstGeom>
          <a:solidFill>
            <a:srgbClr val="FBFBFC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481328"/>
            <a:ext cx="914400" cy="914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65960" y="14813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</a:rPr>
              <a:t>No Generate button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914400" y="201168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3" name="Text 10"/>
          <p:cNvSpPr/>
          <p:nvPr/>
        </p:nvSpPr>
        <p:spPr>
          <a:xfrm>
            <a:off x="1115568" y="2002536"/>
            <a:ext cx="427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version had a button, but it felt clunky for this flow</a:t>
            </a:r>
            <a:endParaRPr lang="en-US" sz="1080" dirty="0"/>
          </a:p>
        </p:txBody>
      </p:sp>
      <p:sp>
        <p:nvSpPr>
          <p:cNvPr id="14" name="Text 11"/>
          <p:cNvSpPr/>
          <p:nvPr/>
        </p:nvSpPr>
        <p:spPr>
          <a:xfrm>
            <a:off x="914400" y="267004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5" name="Text 12"/>
          <p:cNvSpPr/>
          <p:nvPr/>
        </p:nvSpPr>
        <p:spPr>
          <a:xfrm>
            <a:off x="1115568" y="2660904"/>
            <a:ext cx="427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decorate() reruns on each properties-rail edit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914400" y="332841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7" name="Text 14"/>
          <p:cNvSpPr/>
          <p:nvPr/>
        </p:nvSpPr>
        <p:spPr>
          <a:xfrm>
            <a:off x="1115568" y="3319272"/>
            <a:ext cx="4279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debounce, a single prompt would trigger many Firefly calls</a:t>
            </a:r>
            <a:endParaRPr lang="en-US" sz="1080" dirty="0"/>
          </a:p>
        </p:txBody>
      </p:sp>
      <p:sp>
        <p:nvSpPr>
          <p:cNvPr id="18" name="Shape 15"/>
          <p:cNvSpPr/>
          <p:nvPr/>
        </p:nvSpPr>
        <p:spPr>
          <a:xfrm>
            <a:off x="868680" y="3931920"/>
            <a:ext cx="4526280" cy="694944"/>
          </a:xfrm>
          <a:prstGeom prst="roundRect">
            <a:avLst>
              <a:gd name="adj" fmla="val 10526"/>
            </a:avLst>
          </a:prstGeom>
          <a:solidFill>
            <a:srgbClr val="FFF8EB"/>
          </a:solidFill>
          <a:ln w="12700">
            <a:solidFill>
              <a:srgbClr val="F3D6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051560" y="4142232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A76800"/>
                </a:solidFill>
              </a:rPr>
              <a:t>1.2 seconds after the last edit, generation starts.</a:t>
            </a:r>
            <a:endParaRPr lang="en-US" sz="1120" dirty="0"/>
          </a:p>
        </p:txBody>
      </p:sp>
      <p:sp>
        <p:nvSpPr>
          <p:cNvPr id="20" name="Shape 17"/>
          <p:cNvSpPr/>
          <p:nvPr/>
        </p:nvSpPr>
        <p:spPr>
          <a:xfrm>
            <a:off x="6382512" y="1417320"/>
            <a:ext cx="5120640" cy="3566160"/>
          </a:xfrm>
          <a:prstGeom prst="roundRect">
            <a:avLst>
              <a:gd name="adj" fmla="val 2051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blurRad="12700" dist="127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528816" y="1527048"/>
            <a:ext cx="482803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pendingTimers = new Map();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inFlight = new Set();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DEBOUNCE_MS = 1200;</a:t>
            </a:r>
            <a:endParaRPr lang="en-US" sz="780" dirty="0"/>
          </a:p>
          <a:p>
            <a:pPr marL="0" indent="0">
              <a:buNone/>
            </a:pP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(pendingTimers.has(resource)) clearTimeout(pendingTimers.get(resource));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(inFlight.has(resource)) return;</a:t>
            </a:r>
            <a:endParaRPr lang="en-US" sz="780" dirty="0"/>
          </a:p>
          <a:p>
            <a:pPr marL="0" indent="0">
              <a:buNone/>
            </a:pP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timerId = setTimeout(async () =&gt; {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inFlight.add(resource);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generateAndPersist(preview, prompt, aspectRatio, resource);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window.location.reload();</a:t>
            </a:r>
            <a:endParaRPr lang="en-US" sz="780" dirty="0"/>
          </a:p>
          <a:p>
            <a:pPr marL="0" indent="0">
              <a:buNone/>
            </a:pPr>
            <a:r>
              <a:rPr lang="en-US" sz="78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DEBOUNCE_MS);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6400800" y="5230368"/>
            <a:ext cx="1097280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0" y="52349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debounce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7616952" y="5230368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616952" y="523494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guard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8979408" y="5230368"/>
            <a:ext cx="1298448" cy="256032"/>
          </a:xfrm>
          <a:prstGeom prst="roundRect">
            <a:avLst>
              <a:gd name="adj" fmla="val 2857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8979408" y="523494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reload once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 — Upload to AEM DAM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supported 3-step direct binary upload flow with CSRF and same-origin credentials.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78992"/>
            <a:ext cx="11109960" cy="5001768"/>
          </a:xfrm>
          <a:prstGeom prst="roundRect">
            <a:avLst>
              <a:gd name="adj" fmla="val 2194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7160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828800" y="138988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</a:rPr>
              <a:t>3-step flow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68680" y="1965960"/>
            <a:ext cx="2423160" cy="1920240"/>
          </a:xfrm>
          <a:prstGeom prst="roundRect">
            <a:avLst>
              <a:gd name="adj" fmla="val 5714"/>
            </a:avLst>
          </a:prstGeom>
          <a:solidFill>
            <a:srgbClr val="FFFDFC"/>
          </a:solidFill>
          <a:ln w="12700">
            <a:solidFill>
              <a:srgbClr val="E7E1DA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987552" y="2084832"/>
            <a:ext cx="384048" cy="38404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87552" y="21122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463040" y="21031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</a:rPr>
              <a:t>initiateUpload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33272" y="25420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666666"/>
                </a:solidFill>
              </a:rPr>
              <a:t>Create the upload record and get a token</a:t>
            </a:r>
            <a:endParaRPr lang="en-US" sz="1040" dirty="0"/>
          </a:p>
        </p:txBody>
      </p:sp>
      <p:sp>
        <p:nvSpPr>
          <p:cNvPr id="16" name="Shape 13"/>
          <p:cNvSpPr/>
          <p:nvPr/>
        </p:nvSpPr>
        <p:spPr>
          <a:xfrm>
            <a:off x="3355848" y="2697480"/>
            <a:ext cx="384048" cy="256032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069080" y="1965960"/>
            <a:ext cx="2423160" cy="1920240"/>
          </a:xfrm>
          <a:prstGeom prst="roundRect">
            <a:avLst>
              <a:gd name="adj" fmla="val 5714"/>
            </a:avLst>
          </a:prstGeom>
          <a:solidFill>
            <a:srgbClr val="F7FCFD"/>
          </a:solidFill>
          <a:ln w="12700">
            <a:solidFill>
              <a:srgbClr val="D4EFF3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87952" y="2084832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87952" y="21122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63440" y="21031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</a:rPr>
              <a:t>PUT blob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233672" y="25420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666666"/>
                </a:solidFill>
              </a:rPr>
              <a:t>Upload the bytes to blob storage</a:t>
            </a:r>
            <a:endParaRPr lang="en-US" sz="1040" dirty="0"/>
          </a:p>
        </p:txBody>
      </p:sp>
      <p:sp>
        <p:nvSpPr>
          <p:cNvPr id="22" name="Shape 19"/>
          <p:cNvSpPr/>
          <p:nvPr/>
        </p:nvSpPr>
        <p:spPr>
          <a:xfrm>
            <a:off x="6556248" y="2697480"/>
            <a:ext cx="384048" cy="256032"/>
          </a:xfrm>
          <a:prstGeom prst="chevron">
            <a:avLst/>
          </a:prstGeom>
          <a:solidFill>
            <a:srgbClr val="C9C3BC"/>
          </a:solidFill>
          <a:ln w="12700">
            <a:solidFill>
              <a:srgbClr val="C9C3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7269480" y="1965960"/>
            <a:ext cx="2423160" cy="1920240"/>
          </a:xfrm>
          <a:prstGeom prst="roundRect">
            <a:avLst>
              <a:gd name="adj" fmla="val 5714"/>
            </a:avLst>
          </a:prstGeom>
          <a:solidFill>
            <a:srgbClr val="FFFDFC"/>
          </a:solidFill>
          <a:ln w="12700">
            <a:solidFill>
              <a:srgbClr val="E7E1DA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7388352" y="2084832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388352" y="2112264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1031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1C1E"/>
                </a:solidFill>
              </a:rPr>
              <a:t>completeUpload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7434072" y="2542032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40" dirty="0">
                <a:solidFill>
                  <a:srgbClr val="666666"/>
                </a:solidFill>
              </a:rPr>
              <a:t>Finalize the asset and attach metadata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868680" y="4251960"/>
            <a:ext cx="10378440" cy="1143000"/>
          </a:xfrm>
          <a:prstGeom prst="roundRect">
            <a:avLst>
              <a:gd name="adj" fmla="val 6400"/>
            </a:avLst>
          </a:prstGeom>
          <a:solidFill>
            <a:srgbClr val="FBFBFB"/>
          </a:solidFill>
          <a:ln w="12700">
            <a:solidFill>
              <a:srgbClr val="E7E1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1097280" y="4535424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1097280" y="453999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credentials: 'include'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2651760" y="4535424"/>
            <a:ext cx="1188720" cy="256032"/>
          </a:xfrm>
          <a:prstGeom prst="roundRect">
            <a:avLst>
              <a:gd name="adj" fmla="val 28571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2651760" y="453999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token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3968496" y="4535424"/>
            <a:ext cx="1554480" cy="256032"/>
          </a:xfrm>
          <a:prstGeom prst="roundRect">
            <a:avLst>
              <a:gd name="adj" fmla="val 28571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3968496" y="453999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same-origin fetch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5687568" y="4535424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5687568" y="45399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 auto-create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7333488" y="4535424"/>
            <a:ext cx="1234440" cy="256032"/>
          </a:xfrm>
          <a:prstGeom prst="roundRect">
            <a:avLst>
              <a:gd name="adj" fmla="val 285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7333488" y="453999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service token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8778240" y="46085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666666"/>
                </a:solidFill>
              </a:rPr>
              <a:t>The upload target folder auto-creates on first use if missing; every mutating call carries the Granite CSRF token.</a:t>
            </a:r>
            <a:endParaRPr lang="en-US" sz="89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6 — Patch the Block's Own Content Node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DAM path back onto the block resource using a same-origin Sling POST.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78992"/>
            <a:ext cx="11109960" cy="5001768"/>
          </a:xfrm>
          <a:prstGeom prst="roundRect">
            <a:avLst>
              <a:gd name="adj" fmla="val 2194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1248" y="1417320"/>
            <a:ext cx="914400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920240" y="14173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1C1E"/>
                </a:solidFill>
              </a:rPr>
              <a:t>Additive write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14400" y="199339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2" name="Text 9"/>
          <p:cNvSpPr/>
          <p:nvPr/>
        </p:nvSpPr>
        <p:spPr>
          <a:xfrm>
            <a:off x="1115568" y="1984248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form fields named after JCR properties update the target node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914400" y="2596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4" name="Text 11"/>
          <p:cNvSpPr/>
          <p:nvPr/>
        </p:nvSpPr>
        <p:spPr>
          <a:xfrm>
            <a:off x="1115568" y="2587752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CSRF token and same-origin credentials are reused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914400" y="320040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80" dirty="0"/>
          </a:p>
        </p:txBody>
      </p:sp>
      <p:sp>
        <p:nvSpPr>
          <p:cNvPr id="16" name="Text 13"/>
          <p:cNvSpPr/>
          <p:nvPr/>
        </p:nvSpPr>
        <p:spPr>
          <a:xfrm>
            <a:off x="1115568" y="3191256"/>
            <a:ext cx="4187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image property changes — prompt and aspectRatio remain intact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6355080" y="1417320"/>
            <a:ext cx="5074920" cy="3657600"/>
          </a:xfrm>
          <a:prstGeom prst="roundRect">
            <a:avLst>
              <a:gd name="adj" fmla="val 2000"/>
            </a:avLst>
          </a:prstGeom>
          <a:solidFill>
            <a:srgbClr val="F6F4F1"/>
          </a:solidFill>
          <a:ln w="12700">
            <a:solidFill>
              <a:srgbClr val="D9D4CD"/>
            </a:solidFill>
            <a:prstDash val="solid"/>
          </a:ln>
          <a:effectLst>
            <a:outerShdw blurRad="12700" dist="127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501384" y="1527048"/>
            <a:ext cx="47823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fetch(resourcePath, {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method: 'POST',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credentials: 'include',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headers: { 'Content-Type': 'application/x-www-form-urlencoded', 'CSRF-Token': csrfToken },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body: new URLSearchParams({ image: assetPath }),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810" dirty="0"/>
          </a:p>
          <a:p>
            <a:pPr marL="0" indent="0">
              <a:buNone/>
            </a:pP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resourcePath = /content/.../firefly</a:t>
            </a:r>
            <a:endParaRPr lang="en-US" sz="810" dirty="0"/>
          </a:p>
          <a:p>
            <a:pPr marL="0" indent="0">
              <a:buNone/>
            </a:pPr>
            <a:r>
              <a:rPr lang="en-US" sz="81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assetPath    = /content/dam/.../generated/firefly-&lt;timestamp&gt;.jpg</a:t>
            </a:r>
            <a:endParaRPr lang="en-US" sz="810" dirty="0"/>
          </a:p>
        </p:txBody>
      </p:sp>
      <p:sp>
        <p:nvSpPr>
          <p:cNvPr id="19" name="Shape 16"/>
          <p:cNvSpPr/>
          <p:nvPr/>
        </p:nvSpPr>
        <p:spPr>
          <a:xfrm>
            <a:off x="6355080" y="5285232"/>
            <a:ext cx="5074920" cy="420624"/>
          </a:xfrm>
          <a:prstGeom prst="roundRect">
            <a:avLst>
              <a:gd name="adj" fmla="val 17391"/>
            </a:avLst>
          </a:prstGeom>
          <a:solidFill>
            <a:srgbClr val="F6FBF8"/>
          </a:solidFill>
          <a:ln w="12700">
            <a:solidFill>
              <a:srgbClr val="D9ED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537960" y="5431536"/>
            <a:ext cx="4709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90" b="1" dirty="0">
                <a:solidFill>
                  <a:srgbClr val="10B981"/>
                </a:solidFill>
              </a:rPr>
              <a:t>This writes only the persisted DAM reference, never the original authoring inputs.</a:t>
            </a:r>
            <a:endParaRPr lang="en-US" sz="89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Bugs Hit Along the Way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compact debugging log: symptom, root cause, fix.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2944368" cy="438912"/>
          </a:xfrm>
          <a:prstGeom prst="roundRect">
            <a:avLst>
              <a:gd name="adj" fmla="val 250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12648" y="15361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Symptom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069080" y="1417320"/>
            <a:ext cx="2944368" cy="438912"/>
          </a:xfrm>
          <a:prstGeom prst="roundRect">
            <a:avLst>
              <a:gd name="adj" fmla="val 250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78808" y="15361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Root cause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35240" y="1417320"/>
            <a:ext cx="2944368" cy="438912"/>
          </a:xfrm>
          <a:prstGeom prst="roundRect">
            <a:avLst>
              <a:gd name="adj" fmla="val 25000"/>
            </a:avLst>
          </a:prstGeom>
          <a:solidFill>
            <a:srgbClr val="141414"/>
          </a:solidFill>
          <a:ln w="12700">
            <a:solidFill>
              <a:srgbClr val="14141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44968" y="1536192"/>
            <a:ext cx="2560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Fix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196596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069080" y="196596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635240" y="196596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209397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1C1C1E"/>
                </a:solidFill>
              </a:rPr>
              <a:t>Broken image icon before generation</a:t>
            </a:r>
            <a:endParaRPr lang="en-US" sz="1010" dirty="0"/>
          </a:p>
        </p:txBody>
      </p:sp>
      <p:sp>
        <p:nvSpPr>
          <p:cNvPr id="18" name="Text 16"/>
          <p:cNvSpPr/>
          <p:nvPr/>
        </p:nvSpPr>
        <p:spPr>
          <a:xfrm>
            <a:off x="4187952" y="20939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6666"/>
                </a:solidFill>
              </a:rPr>
              <a:t>.ai-image-preview display:block overrode hidden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7754112" y="20939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C1C1E"/>
                </a:solidFill>
              </a:rPr>
              <a:t>Add .ai-image-preview[hidden]{ display:none; }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069080" y="3090672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635240" y="3090672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1792" y="3218688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1C1C1E"/>
                </a:solidFill>
              </a:rPr>
              <a:t>Generate button had invisible text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4187952" y="32186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6666"/>
                </a:solidFill>
              </a:rPr>
              <a:t>Global button{} rule set color to background color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7754112" y="32186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C1C1E"/>
                </a:solidFill>
              </a:rPr>
              <a:t>Explicitly set button text color; later remove the button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02920" y="420624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069080" y="420624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635240" y="4206240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1792" y="4334256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1C1C1E"/>
                </a:solidFill>
              </a:rPr>
              <a:t>“Something went wrong…” with no detail</a:t>
            </a:r>
            <a:endParaRPr lang="en-US" sz="1010" dirty="0"/>
          </a:p>
        </p:txBody>
      </p:sp>
      <p:sp>
        <p:nvSpPr>
          <p:cNvPr id="30" name="Text 28"/>
          <p:cNvSpPr/>
          <p:nvPr/>
        </p:nvSpPr>
        <p:spPr>
          <a:xfrm>
            <a:off x="4187952" y="433425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6666"/>
                </a:solidFill>
              </a:rPr>
              <a:t>Catch block swallowed the real error</a:t>
            </a:r>
            <a:endParaRPr lang="en-US" sz="920" dirty="0"/>
          </a:p>
        </p:txBody>
      </p:sp>
      <p:sp>
        <p:nvSpPr>
          <p:cNvPr id="31" name="Text 29"/>
          <p:cNvSpPr/>
          <p:nvPr/>
        </p:nvSpPr>
        <p:spPr>
          <a:xfrm>
            <a:off x="7754112" y="433425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C1C1E"/>
                </a:solidFill>
              </a:rPr>
              <a:t>Surface e.message in status and console.error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502920" y="5321808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069080" y="5321808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635240" y="5321808"/>
            <a:ext cx="2944368" cy="914400"/>
          </a:xfrm>
          <a:prstGeom prst="roundRect">
            <a:avLst>
              <a:gd name="adj" fmla="val 12000"/>
            </a:avLst>
          </a:prstGeom>
          <a:solidFill>
            <a:srgbClr val="FBFBFB"/>
          </a:solidFill>
          <a:ln w="12700">
            <a:solidFill>
              <a:srgbClr val="E5E0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1792" y="54498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10" b="1" dirty="0">
                <a:solidFill>
                  <a:srgbClr val="1C1C1E"/>
                </a:solidFill>
              </a:rPr>
              <a:t>Failed to fetch from the editor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4187952" y="54498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66666"/>
                </a:solidFill>
              </a:rPr>
              <a:t>CORS allowlist missed the AEM author origin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7754112" y="54498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C1C1E"/>
                </a:solidFill>
              </a:rPr>
              <a:t>Add the author domain to ALLOWED_ORIGINS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713232" y="5577840"/>
            <a:ext cx="10771632" cy="365760"/>
          </a:xfrm>
          <a:prstGeom prst="roundRect">
            <a:avLst>
              <a:gd name="adj" fmla="val 20000"/>
            </a:avLst>
          </a:prstGeom>
          <a:solidFill>
            <a:srgbClr val="FFF7F6"/>
          </a:solidFill>
          <a:ln w="12700">
            <a:solidFill>
              <a:srgbClr val="F1DD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14400" y="5687568"/>
            <a:ext cx="10378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1500"/>
                </a:solidFill>
              </a:rPr>
              <a:t>The same small set of culprits kept recurring: CSS, error handling, and CORS on the Worker route.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Status &amp; Open Issue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works now, and what still needs investigation.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02920" y="1097280"/>
            <a:ext cx="5303520" cy="4983480"/>
          </a:xfrm>
          <a:prstGeom prst="roundRect">
            <a:avLst>
              <a:gd name="adj" fmla="val 2202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5440680" cy="4983480"/>
          </a:xfrm>
          <a:prstGeom prst="roundRect">
            <a:avLst>
              <a:gd name="adj" fmla="val 2202"/>
            </a:avLst>
          </a:prstGeom>
          <a:solidFill>
            <a:srgbClr val="FFF9F7"/>
          </a:solidFill>
          <a:ln w="12700">
            <a:solidFill>
              <a:srgbClr val="FFD9D2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04672" y="1371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</a:rPr>
              <a:t>Working today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18745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1865376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entry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45973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450592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Debounced auto-generate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30449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15568" y="3035808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preview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363016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5568" y="3621024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token fetch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21538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5568" y="4206240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 upload initiateUpload step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36792" y="1371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1500"/>
                </a:solidFill>
              </a:rPr>
              <a:t>Open issue</a:t>
            </a:r>
            <a:endParaRPr lang="en-US" sz="16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5080" y="1719072"/>
            <a:ext cx="713232" cy="7132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269480" y="17373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130" b="1" dirty="0">
                <a:solidFill>
                  <a:srgbClr val="1C1C1E"/>
                </a:solidFill>
              </a:rPr>
              <a:t>After completeUpload succeeds, the asset-processing workflow starts and has been observed to fail.</a:t>
            </a:r>
            <a:endParaRPr lang="en-US" sz="1130" dirty="0"/>
          </a:p>
        </p:txBody>
      </p:sp>
      <p:sp>
        <p:nvSpPr>
          <p:cNvPr id="24" name="Shape 21"/>
          <p:cNvSpPr/>
          <p:nvPr/>
        </p:nvSpPr>
        <p:spPr>
          <a:xfrm>
            <a:off x="6400800" y="2697480"/>
            <a:ext cx="4663440" cy="1316736"/>
          </a:xfrm>
          <a:prstGeom prst="roundRect">
            <a:avLst>
              <a:gd name="adj" fmla="val 5556"/>
            </a:avLst>
          </a:prstGeom>
          <a:solidFill>
            <a:srgbClr val="FFF1EF"/>
          </a:solidFill>
          <a:ln w="12700">
            <a:solidFill>
              <a:srgbClr val="F0D1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583680" y="2907792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40" dirty="0">
                <a:solidFill>
                  <a:srgbClr val="1C1C1E"/>
                </a:solidFill>
              </a:rPr>
              <a:t>This appears to be server-side AEM workflow behavior, not block code. Next check: Tools → Operations → Workflow → Failures, or the Assets UI, for the actual processing error.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6492240" y="4462272"/>
            <a:ext cx="1234440" cy="274320"/>
          </a:xfrm>
          <a:prstGeom prst="roundRect">
            <a:avLst>
              <a:gd name="adj" fmla="val 26667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6492240" y="44668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7827264" y="4462272"/>
            <a:ext cx="1444752" cy="274320"/>
          </a:xfrm>
          <a:prstGeom prst="roundRect">
            <a:avLst>
              <a:gd name="adj" fmla="val 26667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827264" y="446684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/ launcher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9400032" y="4462272"/>
            <a:ext cx="1078992" cy="274320"/>
          </a:xfrm>
          <a:prstGeom prst="roundRect">
            <a:avLst>
              <a:gd name="adj" fmla="val 2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9400032" y="4466844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folder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6629400" y="4892040"/>
            <a:ext cx="4160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40" dirty="0">
                <a:solidFill>
                  <a:srgbClr val="666666"/>
                </a:solidFill>
              </a:rPr>
              <a:t>The folder was auto-created by code, so it may not inherit the same ACLs or workflow launcher config as a normal authored DAM folder.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F1500"/>
          </a:solidFill>
          <a:ln w="12700">
            <a:solidFill>
              <a:srgbClr val="FF15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2194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1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 &amp; Summary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676656"/>
            <a:ext cx="11155680" cy="0"/>
          </a:xfrm>
          <a:prstGeom prst="line">
            <a:avLst/>
          </a:prstGeom>
          <a:noFill/>
          <a:ln w="12700">
            <a:solidFill>
              <a:srgbClr val="D8D3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29768" y="749808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concise checklist for the final implementation.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11480" y="6419088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45936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94360" y="1188720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1344168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2960" y="134874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Model</a:t>
            </a:r>
            <a:endParaRPr lang="en-US" sz="770" dirty="0"/>
          </a:p>
        </p:txBody>
      </p:sp>
      <p:sp>
        <p:nvSpPr>
          <p:cNvPr id="11" name="Text 9"/>
          <p:cNvSpPr/>
          <p:nvPr/>
        </p:nvSpPr>
        <p:spPr>
          <a:xfrm>
            <a:off x="1783080" y="1298448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b="1" dirty="0">
                <a:solidFill>
                  <a:srgbClr val="1C1C1E"/>
                </a:solidFill>
              </a:rPr>
              <a:t>prompt, aspectRatio, image</a:t>
            </a:r>
            <a:endParaRPr lang="en-US" sz="1040" dirty="0"/>
          </a:p>
        </p:txBody>
      </p:sp>
      <p:sp>
        <p:nvSpPr>
          <p:cNvPr id="12" name="Text 10"/>
          <p:cNvSpPr/>
          <p:nvPr/>
        </p:nvSpPr>
        <p:spPr>
          <a:xfrm>
            <a:off x="6309360" y="1298448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66666"/>
                </a:solidFill>
              </a:rPr>
              <a:t>image is written programmatically, not picked</a:t>
            </a:r>
            <a:endParaRPr lang="en-US" sz="910" dirty="0"/>
          </a:p>
        </p:txBody>
      </p:sp>
      <p:sp>
        <p:nvSpPr>
          <p:cNvPr id="13" name="Shape 11"/>
          <p:cNvSpPr/>
          <p:nvPr/>
        </p:nvSpPr>
        <p:spPr>
          <a:xfrm>
            <a:off x="594360" y="1883664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BFBFB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22960" y="2039112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2043684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Worker route</a:t>
            </a:r>
            <a:endParaRPr lang="en-US" sz="770" dirty="0"/>
          </a:p>
        </p:txBody>
      </p:sp>
      <p:sp>
        <p:nvSpPr>
          <p:cNvPr id="16" name="Text 14"/>
          <p:cNvSpPr/>
          <p:nvPr/>
        </p:nvSpPr>
        <p:spPr>
          <a:xfrm>
            <a:off x="1783080" y="199339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b="1" dirty="0">
                <a:solidFill>
                  <a:srgbClr val="1C1C1E"/>
                </a:solidFill>
              </a:rPr>
              <a:t>Stream bytes instead of a presigned URL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6309360" y="1993392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66666"/>
                </a:solidFill>
              </a:rPr>
              <a:t>Reuse existing IMS auth — do not duplicate it</a:t>
            </a:r>
            <a:endParaRPr lang="en-US" sz="910" dirty="0"/>
          </a:p>
        </p:txBody>
      </p:sp>
      <p:sp>
        <p:nvSpPr>
          <p:cNvPr id="18" name="Shape 16"/>
          <p:cNvSpPr/>
          <p:nvPr/>
        </p:nvSpPr>
        <p:spPr>
          <a:xfrm>
            <a:off x="594360" y="2578608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22960" y="2734056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22960" y="2738628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Author context</a:t>
            </a:r>
            <a:endParaRPr lang="en-US" sz="770" dirty="0"/>
          </a:p>
        </p:txBody>
      </p:sp>
      <p:sp>
        <p:nvSpPr>
          <p:cNvPr id="21" name="Text 19"/>
          <p:cNvSpPr/>
          <p:nvPr/>
        </p:nvSpPr>
        <p:spPr>
          <a:xfrm>
            <a:off x="1783080" y="2688336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b="1" dirty="0">
                <a:solidFill>
                  <a:srgbClr val="1C1C1E"/>
                </a:solidFill>
              </a:rPr>
              <a:t>Check data-aue-resource on the block</a:t>
            </a:r>
            <a:endParaRPr lang="en-US" sz="1040" dirty="0"/>
          </a:p>
        </p:txBody>
      </p:sp>
      <p:sp>
        <p:nvSpPr>
          <p:cNvPr id="22" name="Text 20"/>
          <p:cNvSpPr/>
          <p:nvPr/>
        </p:nvSpPr>
        <p:spPr>
          <a:xfrm>
            <a:off x="6309360" y="2688336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66666"/>
                </a:solidFill>
              </a:rPr>
              <a:t>Absent on published pages — never call Firefly there</a:t>
            </a:r>
            <a:endParaRPr lang="en-US" sz="910" dirty="0"/>
          </a:p>
        </p:txBody>
      </p:sp>
      <p:sp>
        <p:nvSpPr>
          <p:cNvPr id="23" name="Shape 21"/>
          <p:cNvSpPr/>
          <p:nvPr/>
        </p:nvSpPr>
        <p:spPr>
          <a:xfrm>
            <a:off x="594360" y="3273552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BFBFB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22960" y="3429000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22960" y="3433572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Auto-generate</a:t>
            </a:r>
            <a:endParaRPr lang="en-US" sz="770" dirty="0"/>
          </a:p>
        </p:txBody>
      </p:sp>
      <p:sp>
        <p:nvSpPr>
          <p:cNvPr id="26" name="Text 24"/>
          <p:cNvSpPr/>
          <p:nvPr/>
        </p:nvSpPr>
        <p:spPr>
          <a:xfrm>
            <a:off x="1783080" y="338328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b="1" dirty="0">
                <a:solidFill>
                  <a:srgbClr val="1C1C1E"/>
                </a:solidFill>
              </a:rPr>
              <a:t>Debounce + in-flight guard</a:t>
            </a:r>
            <a:endParaRPr lang="en-US" sz="1040" dirty="0"/>
          </a:p>
        </p:txBody>
      </p:sp>
      <p:sp>
        <p:nvSpPr>
          <p:cNvPr id="27" name="Text 25"/>
          <p:cNvSpPr/>
          <p:nvPr/>
        </p:nvSpPr>
        <p:spPr>
          <a:xfrm>
            <a:off x="6309360" y="3383280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66666"/>
                </a:solidFill>
              </a:rPr>
              <a:t>Prevents redundant calls while the author is editing</a:t>
            </a:r>
            <a:endParaRPr lang="en-US" sz="910" dirty="0"/>
          </a:p>
        </p:txBody>
      </p:sp>
      <p:sp>
        <p:nvSpPr>
          <p:cNvPr id="28" name="Shape 26"/>
          <p:cNvSpPr/>
          <p:nvPr/>
        </p:nvSpPr>
        <p:spPr>
          <a:xfrm>
            <a:off x="594360" y="3968496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22960" y="4123944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" y="412851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DAM upload</a:t>
            </a:r>
            <a:endParaRPr lang="en-US" sz="770" dirty="0"/>
          </a:p>
        </p:txBody>
      </p:sp>
      <p:sp>
        <p:nvSpPr>
          <p:cNvPr id="31" name="Text 29"/>
          <p:cNvSpPr/>
          <p:nvPr/>
        </p:nvSpPr>
        <p:spPr>
          <a:xfrm>
            <a:off x="1783080" y="4078224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b="1" dirty="0">
                <a:solidFill>
                  <a:srgbClr val="1C1C1E"/>
                </a:solidFill>
              </a:rPr>
              <a:t>initiateUpload / PUT / completeUpload + CSRF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6309360" y="4078224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66666"/>
                </a:solidFill>
              </a:rPr>
              <a:t>Same-origin, cookie auth — no extra service token</a:t>
            </a:r>
            <a:endParaRPr lang="en-US" sz="910" dirty="0"/>
          </a:p>
        </p:txBody>
      </p:sp>
      <p:sp>
        <p:nvSpPr>
          <p:cNvPr id="33" name="Shape 31"/>
          <p:cNvSpPr/>
          <p:nvPr/>
        </p:nvSpPr>
        <p:spPr>
          <a:xfrm>
            <a:off x="594360" y="4663440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BFBFB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22960" y="4818888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482346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Persist</a:t>
            </a:r>
            <a:endParaRPr lang="en-US" sz="770" dirty="0"/>
          </a:p>
        </p:txBody>
      </p:sp>
      <p:sp>
        <p:nvSpPr>
          <p:cNvPr id="36" name="Text 34"/>
          <p:cNvSpPr/>
          <p:nvPr/>
        </p:nvSpPr>
        <p:spPr>
          <a:xfrm>
            <a:off x="1783080" y="4773168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b="1" dirty="0">
                <a:solidFill>
                  <a:srgbClr val="1C1C1E"/>
                </a:solidFill>
              </a:rPr>
              <a:t>Sling POST the block’s own resource path</a:t>
            </a:r>
            <a:endParaRPr lang="en-US" sz="1040" dirty="0"/>
          </a:p>
        </p:txBody>
      </p:sp>
      <p:sp>
        <p:nvSpPr>
          <p:cNvPr id="37" name="Text 35"/>
          <p:cNvSpPr/>
          <p:nvPr/>
        </p:nvSpPr>
        <p:spPr>
          <a:xfrm>
            <a:off x="6309360" y="4773168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66666"/>
                </a:solidFill>
              </a:rPr>
              <a:t>Additive — only touches the image property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594360" y="5358384"/>
            <a:ext cx="1097280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4DFD8"/>
            </a:solidFill>
            <a:prstDash val="solid"/>
          </a:ln>
          <a:effectLst>
            <a:outerShdw blurRad="19050" dist="12700" dir="27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22960" y="5513832"/>
            <a:ext cx="786384" cy="201168"/>
          </a:xfrm>
          <a:prstGeom prst="roundRect">
            <a:avLst>
              <a:gd name="adj" fmla="val 36364"/>
            </a:avLst>
          </a:prstGeom>
          <a:solidFill>
            <a:srgbClr val="FF1500"/>
          </a:solidFill>
          <a:ln w="12700">
            <a:solidFill>
              <a:srgbClr val="FF15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22960" y="5518404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Debug</a:t>
            </a:r>
            <a:endParaRPr lang="en-US" sz="770" dirty="0"/>
          </a:p>
        </p:txBody>
      </p:sp>
      <p:sp>
        <p:nvSpPr>
          <p:cNvPr id="41" name="Text 39"/>
          <p:cNvSpPr/>
          <p:nvPr/>
        </p:nvSpPr>
        <p:spPr>
          <a:xfrm>
            <a:off x="1783080" y="5468112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40" b="1" dirty="0">
                <a:solidFill>
                  <a:srgbClr val="1C1C1E"/>
                </a:solidFill>
              </a:rPr>
              <a:t>Surface real error text, not a generic message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309360" y="5468112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10" dirty="0">
                <a:solidFill>
                  <a:srgbClr val="666666"/>
                </a:solidFill>
              </a:rPr>
              <a:t>CORS / CSRF / workflow failures can look identical</a:t>
            </a:r>
            <a:endParaRPr lang="en-US" sz="9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685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96548" y="3017520"/>
            <a:ext cx="14630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Adobe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1683</Words>
  <Application>Microsoft Macintosh PowerPoint</Application>
  <PresentationFormat>Widescreen</PresentationFormat>
  <Paragraphs>329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Adobe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ai-image Block — Illustrated Redesign</dc:title>
  <dc:subject>AI image block redesign</dc:subject>
  <dc:creator>OpenAI</dc:creator>
  <cp:lastModifiedBy>Franck Sevin</cp:lastModifiedBy>
  <cp:revision>1</cp:revision>
  <dcterms:created xsi:type="dcterms:W3CDTF">2026-08-10T07:20:37Z</dcterms:created>
  <dcterms:modified xsi:type="dcterms:W3CDTF">2026-08-24T08:21:13Z</dcterms:modified>
</cp:coreProperties>
</file>