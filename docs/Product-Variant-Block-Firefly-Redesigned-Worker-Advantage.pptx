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6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7620"/>
  </p:normalViewPr>
  <p:slideViewPr>
    <p:cSldViewPr snapToGrid="0" snapToObjects="1">
      <p:cViewPr varScale="1">
        <p:scale>
          <a:sx n="104" d="100"/>
          <a:sy n="104" d="100"/>
        </p:scale>
        <p:origin x="240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k Sevin" userId="82d950c0-7bb5-4310-a4fc-a877d4bbe588" providerId="ADAL" clId="{EB9E244D-3F8B-59DF-801C-03BB392BC6F1}"/>
    <pc:docChg chg="custSel modSld sldOrd">
      <pc:chgData name="Franck Sevin" userId="82d950c0-7bb5-4310-a4fc-a877d4bbe588" providerId="ADAL" clId="{EB9E244D-3F8B-59DF-801C-03BB392BC6F1}" dt="2026-08-17T15:16:31.671" v="7" actId="14100"/>
      <pc:docMkLst>
        <pc:docMk/>
      </pc:docMkLst>
      <pc:sldChg chg="modSp mod">
        <pc:chgData name="Franck Sevin" userId="82d950c0-7bb5-4310-a4fc-a877d4bbe588" providerId="ADAL" clId="{EB9E244D-3F8B-59DF-801C-03BB392BC6F1}" dt="2026-08-17T15:16:31.671" v="7" actId="14100"/>
        <pc:sldMkLst>
          <pc:docMk/>
          <pc:sldMk cId="0" sldId="256"/>
        </pc:sldMkLst>
        <pc:spChg chg="mod">
          <ac:chgData name="Franck Sevin" userId="82d950c0-7bb5-4310-a4fc-a877d4bbe588" providerId="ADAL" clId="{EB9E244D-3F8B-59DF-801C-03BB392BC6F1}" dt="2026-08-17T14:28:35.203" v="1" actId="27636"/>
          <ac:spMkLst>
            <pc:docMk/>
            <pc:sldMk cId="0" sldId="256"/>
            <ac:spMk id="4" creationId="{00000000-0000-0000-0000-000000000000}"/>
          </ac:spMkLst>
        </pc:spChg>
        <pc:spChg chg="mod">
          <ac:chgData name="Franck Sevin" userId="82d950c0-7bb5-4310-a4fc-a877d4bbe588" providerId="ADAL" clId="{EB9E244D-3F8B-59DF-801C-03BB392BC6F1}" dt="2026-08-17T14:28:42.296" v="3" actId="27636"/>
          <ac:spMkLst>
            <pc:docMk/>
            <pc:sldMk cId="0" sldId="256"/>
            <ac:spMk id="6" creationId="{00000000-0000-0000-0000-000000000000}"/>
          </ac:spMkLst>
        </pc:spChg>
        <pc:picChg chg="mod">
          <ac:chgData name="Franck Sevin" userId="82d950c0-7bb5-4310-a4fc-a877d4bbe588" providerId="ADAL" clId="{EB9E244D-3F8B-59DF-801C-03BB392BC6F1}" dt="2026-08-17T15:16:31.671" v="7" actId="14100"/>
          <ac:picMkLst>
            <pc:docMk/>
            <pc:sldMk cId="0" sldId="256"/>
            <ac:picMk id="2" creationId="{00000000-0000-0000-0000-000000000000}"/>
          </ac:picMkLst>
        </pc:picChg>
      </pc:sldChg>
      <pc:sldChg chg="ord">
        <pc:chgData name="Franck Sevin" userId="82d950c0-7bb5-4310-a4fc-a877d4bbe588" providerId="ADAL" clId="{EB9E244D-3F8B-59DF-801C-03BB392BC6F1}" dt="2026-08-17T14:29:13.189" v="6" actId="20578"/>
        <pc:sldMkLst>
          <pc:docMk/>
          <pc:sldMk cId="0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5528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Source: uploaded Product-Variant-Block-Build-Guide.pptx (user-provided)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Source: uploaded Product-Variant-Block-Build-Guide.pptx (user-provided)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Source: uploaded Product-Variant-Block-Build-Guide.pptx (user-provided)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Source: uploaded Product-Variant-Block-Build-Guide.pptx (user-provided)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Source: uploaded Product-Variant-Block-Build-Guide.pptx (user-provided)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Source: uploaded Product-Variant-Block-Build-Guide.pptx (user-provided)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Source: uploaded Product-Variant-Block-Build-Guide.pptx (user-provided)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Source: uploaded Product-Variant-Block-Build-Guide.pptx (user-provided)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Source: uploaded Product-Variant-Block-Build-Guide.pptx (user-provided)
Assets reused from the user-provided source deck.[/Sources]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Source: uploaded Product-Variant-Block-Build-Guide.pptx (user-provided)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641908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281160" y="641908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• Experience Manager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32336" y="640994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32336" y="640994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g"/><Relationship Id="rId4" Type="http://schemas.openxmlformats.org/officeDocument/2006/relationships/image" Target="../media/image9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firefly_variant_work/assets/hero.png"/>
          <p:cNvPicPr>
            <a:picLocks noChangeAspect="1"/>
          </p:cNvPicPr>
          <p:nvPr/>
        </p:nvPicPr>
        <p:blipFill>
          <a:blip r:embed="rId3"/>
          <a:srcRect l="6333" r="6333"/>
          <a:stretch/>
        </p:blipFill>
        <p:spPr>
          <a:xfrm>
            <a:off x="5995686" y="0"/>
            <a:ext cx="619326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502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Adobe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58368" y="1078992"/>
            <a:ext cx="5166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</a:rPr>
              <a:t>THE PRODUCT-VARIANT BLOCK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883664"/>
            <a:ext cx="4892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Contextual product photo variants via Firefly Structure Reference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58368" y="2962656"/>
            <a:ext cx="4800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</a:rPr>
              <a:t>AEM Edge Delivery Services • internal developer walkthrough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58368" y="5074920"/>
            <a:ext cx="2331720" cy="310896"/>
          </a:xfrm>
          <a:prstGeom prst="roundRect">
            <a:avLst>
              <a:gd name="adj" fmla="val 47059"/>
            </a:avLst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31520" y="5129784"/>
            <a:ext cx="2185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SOURCE → VARIANT → DAM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58368" y="555955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i="1" dirty="0">
                <a:solidFill>
                  <a:srgbClr val="E5E7EB"/>
                </a:solidFill>
              </a:rPr>
              <a:t>Keep the product recognizable. Change the context.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1 •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9966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11111"/>
                </a:solidFill>
              </a:rPr>
              <a:t>Turn one product photo into many contextual variants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</a:rPr>
              <a:t>The source image anchors shape + composition while the prompt controls the scene.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3017520" cy="39776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2700" dist="63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/mnt/data/firefly_variant_work/media/ppt/media/image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2066544"/>
            <a:ext cx="2267712" cy="22677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451713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7280"/>
                </a:solidFill>
              </a:rPr>
              <a:t>SOURCE PRODUCT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49808" y="481888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111"/>
                </a:solidFill>
              </a:rPr>
              <a:t>Existing product photo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49808" y="523951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Required reference field in the block.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813048" y="3383280"/>
            <a:ext cx="594360" cy="594360"/>
          </a:xfrm>
          <a:prstGeom prst="chevron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498848" y="1874520"/>
            <a:ext cx="3246120" cy="3977640"/>
          </a:xfrm>
          <a:prstGeom prst="roundRect">
            <a:avLst>
              <a:gd name="adj" fmla="val 5070"/>
            </a:avLst>
          </a:prstGeom>
          <a:solidFill>
            <a:srgbClr val="FFF8F7"/>
          </a:solidFill>
          <a:ln w="12700">
            <a:solidFill>
              <a:srgbClr val="FECACA"/>
            </a:solidFill>
            <a:prstDash val="solid"/>
          </a:ln>
          <a:effectLst>
            <a:outerShdw blurRad="12700" dist="63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736592" y="2139696"/>
            <a:ext cx="2377440" cy="310896"/>
          </a:xfrm>
          <a:prstGeom prst="roundRect">
            <a:avLst>
              <a:gd name="adj" fmla="val 47059"/>
            </a:avLst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809744" y="2194560"/>
            <a:ext cx="2231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FIREFLY STRUCTURE REFERENCE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736592" y="2761488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11111"/>
                </a:solidFill>
              </a:rPr>
              <a:t>Preserve the silhouette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111111"/>
                </a:solidFill>
              </a:rPr>
              <a:t>Change the context</a:t>
            </a:r>
            <a:endParaRPr lang="en-US" sz="2300" dirty="0"/>
          </a:p>
        </p:txBody>
      </p:sp>
      <p:sp>
        <p:nvSpPr>
          <p:cNvPr id="15" name="Shape 12"/>
          <p:cNvSpPr/>
          <p:nvPr/>
        </p:nvSpPr>
        <p:spPr>
          <a:xfrm>
            <a:off x="4736592" y="3895344"/>
            <a:ext cx="82296" cy="82296"/>
          </a:xfrm>
          <a:prstGeom prst="ellipse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901184" y="3822192"/>
            <a:ext cx="2532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</a:rPr>
              <a:t>Seasonal / promotional scenes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736592" y="4407408"/>
            <a:ext cx="82296" cy="82296"/>
          </a:xfrm>
          <a:prstGeom prst="ellipse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4901184" y="4334256"/>
            <a:ext cx="2532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</a:rPr>
              <a:t>Regional / lifestyle scenes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736592" y="4919472"/>
            <a:ext cx="82296" cy="82296"/>
          </a:xfrm>
          <a:prstGeom prst="ellipse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4901184" y="4846320"/>
            <a:ext cx="2532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</a:rPr>
              <a:t>Same Firefly credentials as ai-image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046720" y="1874520"/>
            <a:ext cx="3584448" cy="3977640"/>
          </a:xfrm>
          <a:prstGeom prst="roundRect">
            <a:avLst>
              <a:gd name="adj" fmla="val 459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2700" dist="63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8284464" y="2139696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7280"/>
                </a:solidFill>
              </a:rPr>
              <a:t>WHAT THE AUTHOR GETS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8284464" y="2651760"/>
            <a:ext cx="420624" cy="42062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284464" y="2724912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887968" y="26700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</a:rPr>
              <a:t>Pick product photo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8284464" y="3520440"/>
            <a:ext cx="420624" cy="42062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8284464" y="3593592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887968" y="35387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</a:rPr>
              <a:t>Write a variation prompt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8284464" y="4389120"/>
            <a:ext cx="420624" cy="42062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8284464" y="4462272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887968" y="44074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</a:rPr>
              <a:t>Preview + persist result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8284464" y="523951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</a:rPr>
              <a:t>V1 explicitly chose Structure Reference. Generative Fill + Photoshop API was rejected for a separate entitlement/credential path.</a:t>
            </a:r>
            <a:endParaRPr lang="en-US" sz="105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32336" y="640994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2 •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9966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11111"/>
                </a:solidFill>
              </a:rPr>
              <a:t>The browser supplies the image; the Worker owns the Firefly call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</a:rPr>
              <a:t>The critical boundary: multipart upload in, image bytes out.</a:t>
            </a:r>
            <a:endParaRPr lang="en-US" sz="1400" dirty="0"/>
          </a:p>
        </p:txBody>
      </p:sp>
      <p:pic>
        <p:nvPicPr>
          <p:cNvPr id="5" name="Image 0" descr="/mnt/data/firefly_variant_work/assets/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804" y="1847088"/>
            <a:ext cx="10822488" cy="4389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5486400"/>
            <a:ext cx="914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Key detail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719072" y="5486400"/>
            <a:ext cx="9546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</a:rPr>
              <a:t>The Worker uploads the source photo to Firefly storage first, receives an uploadId, then passes that id as structure.imageReference.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32336" y="640994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4008"/>
          </a:xfrm>
          <a:prstGeom prst="rect">
            <a:avLst/>
          </a:prstGeom>
          <a:solidFill>
            <a:srgbClr val="E12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1251B"/>
                </a:solidFill>
                <a:latin typeface="Arial"/>
              </a:rPr>
              <a:t>ARCHITECTURE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F172A"/>
                </a:solidFill>
                <a:latin typeface="Arial"/>
              </a:rPr>
              <a:t>Why use a Worker for the Firefly integration?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926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75569"/>
                </a:solidFill>
                <a:latin typeface="Arial"/>
              </a:rPr>
              <a:t>The Worker is the secure integration boundary between the EDS block and Firefly Services.</a:t>
            </a:r>
          </a:p>
        </p:txBody>
      </p:sp>
      <p:pic>
        <p:nvPicPr>
          <p:cNvPr id="6" name="Picture 5" descr="worker_advan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417320"/>
            <a:ext cx="11155680" cy="543839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6199632"/>
            <a:ext cx="10789920" cy="4114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Key tradeoff: EDS and Worker are separate deploy targets — git push does not redeploy the Worker.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3 • STEP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9966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11111"/>
                </a:solidFill>
              </a:rPr>
              <a:t>Keep the authoring model intentionally small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</a:rPr>
              <a:t>xwalk caps a block at four top-level fields; fold advanced guidance into the prompt rather than adding more controls.</a:t>
            </a:r>
            <a:endParaRPr lang="en-US" sz="1400" dirty="0"/>
          </a:p>
        </p:txBody>
      </p:sp>
      <p:pic>
        <p:nvPicPr>
          <p:cNvPr id="5" name="Image 0" descr="/mnt/data/firefly_variant_work/assets/autho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556967"/>
            <a:ext cx="5532120" cy="302422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382512" y="1828800"/>
            <a:ext cx="5230368" cy="448056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2700" dist="63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638544" y="2084832"/>
            <a:ext cx="1097280" cy="310896"/>
          </a:xfrm>
          <a:prstGeom prst="roundRect">
            <a:avLst>
              <a:gd name="adj" fmla="val 47059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711696" y="2139696"/>
            <a:ext cx="950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4 FIELDS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656832" y="257860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</a:rPr>
              <a:t>productImage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558784" y="25786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</a:rPr>
              <a:t>reference • required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656832" y="28346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source product photo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656832" y="332841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</a:rPr>
              <a:t>prompt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558784" y="33284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</a:rPr>
              <a:t>richtext • required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656832" y="358444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what should change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656832" y="407822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</a:rPr>
              <a:t>aspectRatio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558784" y="407822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</a:rPr>
              <a:t>select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656832" y="433425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1024×1024 / 1344×768 / 768×1344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6656832" y="482803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</a:rPr>
              <a:t>resultImage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558784" y="482803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A0F00"/>
                </a:solidFill>
              </a:rPr>
              <a:t>reference • programmatic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656832" y="50840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generated variant; never picked by author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656832" y="56692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Design lesson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708392" y="563270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</a:rPr>
              <a:t>variationType + strength were removed from the authoring UI to stay under the four-cell limit.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32336" y="640994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4 • STEP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9966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11111"/>
                </a:solidFill>
              </a:rPr>
              <a:t>Upload once, then generate with Structure Reference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</a:rPr>
              <a:t>The route differs from the JSON-based ai-image route because the source photo travels as multipart form data.</a:t>
            </a:r>
            <a:endParaRPr lang="en-US" sz="1400" dirty="0"/>
          </a:p>
        </p:txBody>
      </p:sp>
      <p:pic>
        <p:nvPicPr>
          <p:cNvPr id="5" name="Image 0" descr="/mnt/data/firefly_variant_work/assets/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6425" y="1856232"/>
            <a:ext cx="6805246" cy="1965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96512"/>
            <a:ext cx="11064240" cy="1664208"/>
          </a:xfrm>
          <a:prstGeom prst="roundRect">
            <a:avLst>
              <a:gd name="adj" fmla="val 8791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4206240"/>
            <a:ext cx="1073505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uploadImageToFirefly(bytes, mimeType, env)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token = await getFireflyToken(env);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res = await fetch('https://firefly-api.adobe.io/v2/storage/image',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method: 'POST',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headers: { 'Content-Type': mimeType,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Authorization: `Bearer ${token}`, 'x-api-key': env.FIREFLY_CLIENT_ID },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body: bytes,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(await res.json()).images[0].id; // uploadId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generate: structure.imageReference.source.uploadId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94944" y="5943600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</a:rPr>
              <a:t>Reuse getFireflyToken() — do not duplicate the IMS auth flow.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144768" y="5943600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A0F00"/>
                </a:solidFill>
              </a:rPr>
              <a:t>Security boundary: client_secret remains in Worker secrets; only the rendered image bytes return to the browser.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32336" y="640994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5 • STEP 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9966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11111"/>
                </a:solidFill>
              </a:rPr>
              <a:t>Render the right state: source, result, or neither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</a:rPr>
              <a:t>Two image reference fields mean the block must distinguish the persisted result from the original product photo.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856232"/>
            <a:ext cx="3401568" cy="3566160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25400">
            <a:solidFill>
              <a:srgbClr val="16A34A"/>
            </a:solidFill>
            <a:prstDash val="solid"/>
          </a:ln>
          <a:effectLst>
            <a:outerShdw blurRad="12700" dist="63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68096" y="2084832"/>
            <a:ext cx="1481328" cy="310896"/>
          </a:xfrm>
          <a:prstGeom prst="roundRect">
            <a:avLst>
              <a:gd name="adj" fmla="val 4705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41248" y="2139696"/>
            <a:ext cx="13350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RESULT EXISTS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8096" y="263347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11111"/>
                </a:solidFill>
              </a:rPr>
              <a:t>Show persisted variant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68096" y="3429000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</a:rPr>
              <a:t>render resultImage and stop — this is also what published pages use.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68096" y="490118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resultPicture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1856232"/>
            <a:ext cx="3401568" cy="3566160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blurRad="12700" dist="63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498848" y="2084832"/>
            <a:ext cx="1481328" cy="310896"/>
          </a:xfrm>
          <a:prstGeom prst="roundRect">
            <a:avLst>
              <a:gd name="adj" fmla="val 47059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0" y="2139696"/>
            <a:ext cx="13350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EDITOR / NO RESULT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498848" y="263347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11111"/>
                </a:solidFill>
              </a:rPr>
              <a:t>Generate from source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498848" y="3429000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</a:rPr>
              <a:t>read productImage + prompt + size, then call the Worker.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498848" y="490118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sourcePicture → Worker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28432" y="1856232"/>
            <a:ext cx="3401568" cy="3566160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25400">
            <a:solidFill>
              <a:srgbClr val="D97706"/>
            </a:solidFill>
            <a:prstDash val="solid"/>
          </a:ln>
          <a:effectLst>
            <a:outerShdw blurRad="12700" dist="63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229600" y="2084832"/>
            <a:ext cx="1481328" cy="310896"/>
          </a:xfrm>
          <a:prstGeom prst="roundRect">
            <a:avLst>
              <a:gd name="adj" fmla="val 4705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302752" y="2139696"/>
            <a:ext cx="13350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PUBLISHED / NO RESULT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263347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11111"/>
                </a:solidFill>
              </a:rPr>
              <a:t>Show original product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229600" y="3429000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</a:rPr>
              <a:t>no UE resource → fall back to source so the page is never empty.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0" y="490118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sourcePicture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8368" y="57150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Implementation detail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792224" y="5669280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</a:rPr>
              <a:t>Field lookup is positional: productImage = 1, prompt = 2, aspectRatio = 3, resultImage = 4.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32336" y="640994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6 • STEP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9966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11111"/>
                </a:solidFill>
              </a:rPr>
              <a:t>Auto-generate, then persist to AEM DAM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</a:rPr>
              <a:t>A 1.2s debounce prevents a Firefly call on every keystroke; shared DAM helpers remove duplicate code.</a:t>
            </a:r>
            <a:endParaRPr lang="en-US" sz="1400" dirty="0"/>
          </a:p>
        </p:txBody>
      </p:sp>
      <p:pic>
        <p:nvPicPr>
          <p:cNvPr id="5" name="Image 0" descr="/mnt/data/firefly_variant_work/assets/pers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6425" y="1828800"/>
            <a:ext cx="6805246" cy="1965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41648"/>
            <a:ext cx="5486400" cy="1700784"/>
          </a:xfrm>
          <a:prstGeom prst="roundRect">
            <a:avLst>
              <a:gd name="adj" fmla="val 8602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4151376"/>
            <a:ext cx="5157216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sourceBlob = await (await fetch(sourceImg.src,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credentials: 'include' })).blob();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form = new FormData();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form.append('image', sourceBlob, 'product.jpg');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form.append('prompt', prompt);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form.append('size', size);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44768" y="4041648"/>
            <a:ext cx="5486400" cy="1700784"/>
          </a:xfrm>
          <a:prstGeom prst="roundRect">
            <a:avLst>
              <a:gd name="adj" fmla="val 8602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309360" y="4151376"/>
            <a:ext cx="5157216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blob = await (await fetch(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`${EDGE_ORIGIN}/api/firefly/generate-variant`,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method: 'POST', body: form })).blob();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assetPath = await uploadToDam(blob, mimeType,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csrfToken, 'product-variant');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patchBlockImage(resourcePath, 'resultImage',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assetPath, csrfToken);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94944" y="6007608"/>
            <a:ext cx="10469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Shared helper extraction: getCsrfToken(), uploadToDam(), patchBlockImage() now live in scripts/dam-persist.js.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32336" y="640994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7 • STEPS 5–6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9966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11111"/>
                </a:solidFill>
              </a:rPr>
              <a:t>Registration and deployment are two different paths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</a:rPr>
              <a:t>A push updates the EDS code bus. A Worker route update requires wrangler deploy.</a:t>
            </a:r>
            <a:endParaRPr lang="en-US" sz="1400" dirty="0"/>
          </a:p>
        </p:txBody>
      </p:sp>
      <p:pic>
        <p:nvPicPr>
          <p:cNvPr id="5" name="Image 0" descr="/mnt/data/firefly_variant_work/assets/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5634" y="1828800"/>
            <a:ext cx="7846828" cy="1874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31920"/>
            <a:ext cx="5321808" cy="1664208"/>
          </a:xfrm>
          <a:prstGeom prst="roundRect">
            <a:avLst>
              <a:gd name="adj" fmla="val 989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415137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REGISTER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86384" y="4105656"/>
            <a:ext cx="1078992" cy="329184"/>
          </a:xfrm>
          <a:prstGeom prst="roundRect">
            <a:avLst>
              <a:gd name="adj" fmla="val 41667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22960" y="417880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REGISTER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" y="461772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</a:rPr>
              <a:t>• Exact block id: product-variant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</a:rPr>
              <a:t>• Add id to each relevant section filter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</a:rPr>
              <a:t>• npm run build:json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63056" y="3931920"/>
            <a:ext cx="5468112" cy="1664208"/>
          </a:xfrm>
          <a:prstGeom prst="roundRect">
            <a:avLst>
              <a:gd name="adj" fmla="val 9890"/>
            </a:avLst>
          </a:prstGeom>
          <a:solidFill>
            <a:srgbClr val="FFF8F7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00800" y="4105656"/>
            <a:ext cx="914400" cy="329184"/>
          </a:xfrm>
          <a:prstGeom prst="roundRect">
            <a:avLst>
              <a:gd name="adj" fmla="val 41667"/>
            </a:avLst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46520" y="4178808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DEPLOY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400800" y="4617720"/>
            <a:ext cx="4663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</a:rPr>
              <a:t>• git push → EDS code bus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</a:rPr>
              <a:t>• npm run deploy:edge → Cloudflare Worker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</a:rPr>
              <a:t>• curl Worker route before UE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32336" y="640994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8 • REAL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9966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11111"/>
                </a:solidFill>
              </a:rPr>
              <a:t>One racquet, two product stories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</a:rPr>
              <a:t>The source silhouette stays recognizable while the context shifts from holiday retail to summer lifestyle.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3017520" cy="416052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2700" dist="63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/mnt/data/firefly_variant_work/media/ppt/media/image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084832"/>
            <a:ext cx="2468880" cy="2468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8096" y="4773168"/>
            <a:ext cx="749808" cy="310896"/>
          </a:xfrm>
          <a:prstGeom prst="roundRect">
            <a:avLst>
              <a:gd name="adj" fmla="val 47059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41248" y="4828032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SOURCE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68096" y="519379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111"/>
                </a:solidFill>
              </a:rPr>
              <a:t>Original product photo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3867912" y="1874520"/>
            <a:ext cx="3657600" cy="41605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2700" dist="63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/mnt/data/firefly_variant_work/media/ppt/media/image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2084832"/>
            <a:ext cx="2468880" cy="24688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078224" y="4773168"/>
            <a:ext cx="987552" cy="310896"/>
          </a:xfrm>
          <a:prstGeom prst="roundRect">
            <a:avLst>
              <a:gd name="adj" fmla="val 47059"/>
            </a:avLst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4151376" y="4828032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VARIANT A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078224" y="5193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</a:rPr>
              <a:t>“Christmas edition with festive wrapping”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7927848" y="1874520"/>
            <a:ext cx="3657600" cy="41605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2700" dist="63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/mnt/data/firefly_variant_work/media/ppt/media/image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2208" y="2084832"/>
            <a:ext cx="2468880" cy="24688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138160" y="4773168"/>
            <a:ext cx="987552" cy="310896"/>
          </a:xfrm>
          <a:prstGeom prst="roundRect">
            <a:avLst>
              <a:gd name="adj" fmla="val 47059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/>
          <p:nvPr/>
        </p:nvSpPr>
        <p:spPr>
          <a:xfrm>
            <a:off x="8211312" y="4828032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VARIANT B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8138160" y="5193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</a:rPr>
              <a:t>“On a beach in summer with sunshine and palm trees”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32336" y="640994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9 • LESSONS LEARNED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9966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11111"/>
                </a:solidFill>
              </a:rPr>
              <a:t>Where the implementation actually failed — and what fixed it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</a:rPr>
              <a:t>The highest-value lessons are about boundaries: field limits, code sync, exact ids, and separate Worker deployment.</a:t>
            </a:r>
            <a:endParaRPr lang="en-US" sz="1400" dirty="0"/>
          </a:p>
        </p:txBody>
      </p:sp>
      <p:pic>
        <p:nvPicPr>
          <p:cNvPr id="5" name="Image 0" descr="/mnt/data/firefly_variant_work/assets/issu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984248"/>
            <a:ext cx="6720840" cy="40325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16368" y="1828800"/>
            <a:ext cx="411480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2700" dist="635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7754112" y="2084832"/>
            <a:ext cx="2103120" cy="310896"/>
          </a:xfrm>
          <a:prstGeom prst="roundRect">
            <a:avLst>
              <a:gd name="adj" fmla="val 47059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827264" y="2139696"/>
            <a:ext cx="19568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BEST-PRACTICE CHECKLIST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772400" y="2642616"/>
            <a:ext cx="128016" cy="128016"/>
          </a:xfrm>
          <a:prstGeom prst="ellipse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001000" y="261518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</a:rPr>
              <a:t>≤ 4 authoring fields</a:t>
            </a:r>
            <a:endParaRPr lang="en-US" sz="1220" dirty="0"/>
          </a:p>
        </p:txBody>
      </p:sp>
      <p:sp>
        <p:nvSpPr>
          <p:cNvPr id="11" name="Shape 8"/>
          <p:cNvSpPr/>
          <p:nvPr/>
        </p:nvSpPr>
        <p:spPr>
          <a:xfrm>
            <a:off x="7772400" y="3008376"/>
            <a:ext cx="128016" cy="128016"/>
          </a:xfrm>
          <a:prstGeom prst="ellipse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001000" y="298094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</a:rPr>
              <a:t>Reuse cached IMS auth</a:t>
            </a:r>
            <a:endParaRPr lang="en-US" sz="1220" dirty="0"/>
          </a:p>
        </p:txBody>
      </p:sp>
      <p:sp>
        <p:nvSpPr>
          <p:cNvPr id="13" name="Shape 10"/>
          <p:cNvSpPr/>
          <p:nvPr/>
        </p:nvSpPr>
        <p:spPr>
          <a:xfrm>
            <a:off x="7772400" y="3374136"/>
            <a:ext cx="128016" cy="128016"/>
          </a:xfrm>
          <a:prstGeom prst="ellipse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001000" y="334670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</a:rPr>
              <a:t>Use field positions for dual-image state</a:t>
            </a:r>
            <a:endParaRPr lang="en-US" sz="1220" dirty="0"/>
          </a:p>
        </p:txBody>
      </p:sp>
      <p:sp>
        <p:nvSpPr>
          <p:cNvPr id="15" name="Shape 12"/>
          <p:cNvSpPr/>
          <p:nvPr/>
        </p:nvSpPr>
        <p:spPr>
          <a:xfrm>
            <a:off x="7772400" y="3739896"/>
            <a:ext cx="128016" cy="128016"/>
          </a:xfrm>
          <a:prstGeom prst="ellipse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001000" y="371246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</a:rPr>
              <a:t>Debounce + in-flight guard</a:t>
            </a:r>
            <a:endParaRPr lang="en-US" sz="1220" dirty="0"/>
          </a:p>
        </p:txBody>
      </p:sp>
      <p:sp>
        <p:nvSpPr>
          <p:cNvPr id="17" name="Shape 14"/>
          <p:cNvSpPr/>
          <p:nvPr/>
        </p:nvSpPr>
        <p:spPr>
          <a:xfrm>
            <a:off x="7772400" y="4105656"/>
            <a:ext cx="128016" cy="128016"/>
          </a:xfrm>
          <a:prstGeom prst="ellipse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001000" y="407822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</a:rPr>
              <a:t>Share DAM persistence helpers</a:t>
            </a:r>
            <a:endParaRPr lang="en-US" sz="1220" dirty="0"/>
          </a:p>
        </p:txBody>
      </p:sp>
      <p:sp>
        <p:nvSpPr>
          <p:cNvPr id="19" name="Shape 16"/>
          <p:cNvSpPr/>
          <p:nvPr/>
        </p:nvSpPr>
        <p:spPr>
          <a:xfrm>
            <a:off x="7772400" y="4471416"/>
            <a:ext cx="128016" cy="128016"/>
          </a:xfrm>
          <a:prstGeom prst="ellipse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8001000" y="444398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</a:rPr>
              <a:t>Exact block id in every filter</a:t>
            </a:r>
            <a:endParaRPr lang="en-US" sz="1220" dirty="0"/>
          </a:p>
        </p:txBody>
      </p:sp>
      <p:sp>
        <p:nvSpPr>
          <p:cNvPr id="21" name="Shape 18"/>
          <p:cNvSpPr/>
          <p:nvPr/>
        </p:nvSpPr>
        <p:spPr>
          <a:xfrm>
            <a:off x="7772400" y="4837176"/>
            <a:ext cx="128016" cy="128016"/>
          </a:xfrm>
          <a:prstGeom prst="ellipse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8001000" y="480974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</a:rPr>
              <a:t>git push AND wrangler deploy</a:t>
            </a:r>
            <a:endParaRPr lang="en-US" sz="1220" dirty="0"/>
          </a:p>
        </p:txBody>
      </p:sp>
      <p:sp>
        <p:nvSpPr>
          <p:cNvPr id="23" name="Shape 20"/>
          <p:cNvSpPr/>
          <p:nvPr/>
        </p:nvSpPr>
        <p:spPr>
          <a:xfrm>
            <a:off x="7772400" y="5202936"/>
            <a:ext cx="128016" cy="128016"/>
          </a:xfrm>
          <a:prstGeom prst="ellipse">
            <a:avLst/>
          </a:prstGeom>
          <a:solidFill>
            <a:srgbClr val="FA0F00"/>
          </a:solidFill>
          <a:ln w="12700">
            <a:solidFill>
              <a:srgbClr val="FA0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001000" y="517550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</a:rPr>
              <a:t>curl Worker before UE</a:t>
            </a:r>
            <a:endParaRPr lang="en-US" sz="1220" dirty="0"/>
          </a:p>
        </p:txBody>
      </p:sp>
      <p:sp>
        <p:nvSpPr>
          <p:cNvPr id="25" name="Text 22"/>
          <p:cNvSpPr/>
          <p:nvPr/>
        </p:nvSpPr>
        <p:spPr>
          <a:xfrm>
            <a:off x="7772400" y="5559552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A0F00"/>
                </a:solidFill>
              </a:rPr>
              <a:t>Outcome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613648" y="5522976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 dirty="0">
                <a:solidFill>
                  <a:srgbClr val="111111"/>
                </a:solidFill>
              </a:rPr>
              <a:t>A reusable EDS pattern for turning existing product imagery into contextual variants without exposing Firefly credentials.</a:t>
            </a:r>
            <a:endParaRPr lang="en-US" sz="112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32336" y="640994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a7b1b5a-7b34-4387-94ae-d2c178decee1}" enabled="0" method="" siteId="{fa7b1b5a-7b34-4387-94ae-d2c178decee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1179</Words>
  <Application>Microsoft Macintosh PowerPoint</Application>
  <PresentationFormat>Widescreen</PresentationFormat>
  <Paragraphs>169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Adobe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product-variant Block — Firefly Structure Reference</dc:title>
  <dc:subject>Product Variant EDS block using Firefly Structure Reference</dc:subject>
  <dc:creator>Adobe</dc:creator>
  <cp:lastModifiedBy>Franck Sevin</cp:lastModifiedBy>
  <cp:revision>1</cp:revision>
  <dcterms:created xsi:type="dcterms:W3CDTF">2026-08-17T12:37:36Z</dcterms:created>
  <dcterms:modified xsi:type="dcterms:W3CDTF">2026-08-17T15:16:41Z</dcterms:modified>
</cp:coreProperties>
</file>