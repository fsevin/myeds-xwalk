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AA69F7-E821-0C41-AA98-889505C1569F}" v="1" dt="2026-08-20T07:29:18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551"/>
  </p:normalViewPr>
  <p:slideViewPr>
    <p:cSldViewPr snapToGrid="0" snapToObjects="1">
      <p:cViewPr varScale="1">
        <p:scale>
          <a:sx n="111" d="100"/>
          <a:sy n="111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custSel addSld modSld sldOrd">
      <pc:chgData name="Franck Sevin" userId="82d950c0-7bb5-4310-a4fc-a877d4bbe588" providerId="ADAL" clId="{EB9E244D-3F8B-59DF-801C-03BB392BC6F1}" dt="2026-08-20T07:29:39.905" v="22" actId="1076"/>
      <pc:docMkLst>
        <pc:docMk/>
      </pc:docMkLst>
      <pc:sldChg chg="modSp mod">
        <pc:chgData name="Franck Sevin" userId="82d950c0-7bb5-4310-a4fc-a877d4bbe588" providerId="ADAL" clId="{EB9E244D-3F8B-59DF-801C-03BB392BC6F1}" dt="2026-08-20T07:29:18.400" v="17" actId="27636"/>
        <pc:sldMkLst>
          <pc:docMk/>
          <pc:sldMk cId="0" sldId="256"/>
        </pc:sldMkLst>
        <pc:spChg chg="mod">
          <ac:chgData name="Franck Sevin" userId="82d950c0-7bb5-4310-a4fc-a877d4bbe588" providerId="ADAL" clId="{EB9E244D-3F8B-59DF-801C-03BB392BC6F1}" dt="2026-08-17T14:28:35.203" v="1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20T07:29:18.400" v="17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17T14:28:42.296" v="3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20T07:29:18.399" v="16" actId="27636"/>
          <ac:spMkLst>
            <pc:docMk/>
            <pc:sldMk cId="0" sldId="256"/>
            <ac:spMk id="9" creationId="{00000000-0000-0000-0000-000000000000}"/>
          </ac:spMkLst>
        </pc:spChg>
        <pc:picChg chg="mod">
          <ac:chgData name="Franck Sevin" userId="82d950c0-7bb5-4310-a4fc-a877d4bbe588" providerId="ADAL" clId="{EB9E244D-3F8B-59DF-801C-03BB392BC6F1}" dt="2026-08-17T15:16:31.671" v="7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Franck Sevin" userId="82d950c0-7bb5-4310-a4fc-a877d4bbe588" providerId="ADAL" clId="{EB9E244D-3F8B-59DF-801C-03BB392BC6F1}" dt="2026-08-20T07:29:18.404" v="20" actId="27636"/>
        <pc:sldMkLst>
          <pc:docMk/>
          <pc:sldMk cId="0" sldId="257"/>
        </pc:sldMkLst>
        <pc:spChg chg="mod">
          <ac:chgData name="Franck Sevin" userId="82d950c0-7bb5-4310-a4fc-a877d4bbe588" providerId="ADAL" clId="{EB9E244D-3F8B-59DF-801C-03BB392BC6F1}" dt="2026-08-20T07:29:18.404" v="20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20T07:29:18.402" v="18" actId="276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20T07:29:18.403" v="19" actId="27636"/>
          <ac:spMkLst>
            <pc:docMk/>
            <pc:sldMk cId="0" sldId="257"/>
            <ac:spMk id="32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0T07:29:18.406" v="21" actId="27636"/>
        <pc:sldMkLst>
          <pc:docMk/>
          <pc:sldMk cId="0" sldId="258"/>
        </pc:sldMkLst>
        <pc:spChg chg="mod">
          <ac:chgData name="Franck Sevin" userId="82d950c0-7bb5-4310-a4fc-a877d4bbe588" providerId="ADAL" clId="{EB9E244D-3F8B-59DF-801C-03BB392BC6F1}" dt="2026-08-20T07:29:18.406" v="21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0T07:29:18.380" v="10" actId="27636"/>
        <pc:sldMkLst>
          <pc:docMk/>
          <pc:sldMk cId="0" sldId="259"/>
        </pc:sldMkLst>
        <pc:spChg chg="mod">
          <ac:chgData name="Franck Sevin" userId="82d950c0-7bb5-4310-a4fc-a877d4bbe588" providerId="ADAL" clId="{EB9E244D-3F8B-59DF-801C-03BB392BC6F1}" dt="2026-08-20T07:29:18.380" v="10" actId="27636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0T07:29:18.387" v="12" actId="27636"/>
        <pc:sldMkLst>
          <pc:docMk/>
          <pc:sldMk cId="0" sldId="260"/>
        </pc:sldMkLst>
        <pc:spChg chg="mod">
          <ac:chgData name="Franck Sevin" userId="82d950c0-7bb5-4310-a4fc-a877d4bbe588" providerId="ADAL" clId="{EB9E244D-3F8B-59DF-801C-03BB392BC6F1}" dt="2026-08-20T07:29:18.386" v="11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20T07:29:18.387" v="12" actId="2763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0T07:29:18.390" v="13" actId="27636"/>
        <pc:sldMkLst>
          <pc:docMk/>
          <pc:sldMk cId="0" sldId="261"/>
        </pc:sldMkLst>
        <pc:spChg chg="mod">
          <ac:chgData name="Franck Sevin" userId="82d950c0-7bb5-4310-a4fc-a877d4bbe588" providerId="ADAL" clId="{EB9E244D-3F8B-59DF-801C-03BB392BC6F1}" dt="2026-08-20T07:29:18.390" v="13" actId="27636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Franck Sevin" userId="82d950c0-7bb5-4310-a4fc-a877d4bbe588" providerId="ADAL" clId="{EB9E244D-3F8B-59DF-801C-03BB392BC6F1}" dt="2026-08-20T07:29:18.397" v="15" actId="27636"/>
        <pc:sldMkLst>
          <pc:docMk/>
          <pc:sldMk cId="0" sldId="265"/>
        </pc:sldMkLst>
        <pc:spChg chg="mod">
          <ac:chgData name="Franck Sevin" userId="82d950c0-7bb5-4310-a4fc-a877d4bbe588" providerId="ADAL" clId="{EB9E244D-3F8B-59DF-801C-03BB392BC6F1}" dt="2026-08-20T07:29:18.395" v="14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Franck Sevin" userId="82d950c0-7bb5-4310-a4fc-a877d4bbe588" providerId="ADAL" clId="{EB9E244D-3F8B-59DF-801C-03BB392BC6F1}" dt="2026-08-20T07:29:18.397" v="15" actId="27636"/>
          <ac:spMkLst>
            <pc:docMk/>
            <pc:sldMk cId="0" sldId="265"/>
            <ac:spMk id="26" creationId="{00000000-0000-0000-0000-000000000000}"/>
          </ac:spMkLst>
        </pc:spChg>
      </pc:sldChg>
      <pc:sldChg chg="ord">
        <pc:chgData name="Franck Sevin" userId="82d950c0-7bb5-4310-a4fc-a877d4bbe588" providerId="ADAL" clId="{EB9E244D-3F8B-59DF-801C-03BB392BC6F1}" dt="2026-08-17T14:29:13.189" v="6" actId="20578"/>
        <pc:sldMkLst>
          <pc:docMk/>
          <pc:sldMk cId="0" sldId="266"/>
        </pc:sldMkLst>
      </pc:sldChg>
      <pc:sldChg chg="addSp modSp new mod">
        <pc:chgData name="Franck Sevin" userId="82d950c0-7bb5-4310-a4fc-a877d4bbe588" providerId="ADAL" clId="{EB9E244D-3F8B-59DF-801C-03BB392BC6F1}" dt="2026-08-20T07:29:39.905" v="22" actId="1076"/>
        <pc:sldMkLst>
          <pc:docMk/>
          <pc:sldMk cId="3637365301" sldId="267"/>
        </pc:sldMkLst>
        <pc:picChg chg="add mod">
          <ac:chgData name="Franck Sevin" userId="82d950c0-7bb5-4310-a4fc-a877d4bbe588" providerId="ADAL" clId="{EB9E244D-3F8B-59DF-801C-03BB392BC6F1}" dt="2026-08-20T07:29:39.905" v="22" actId="1076"/>
          <ac:picMkLst>
            <pc:docMk/>
            <pc:sldMk cId="3637365301" sldId="267"/>
            <ac:picMk id="2" creationId="{264DAC97-E772-9403-343E-5B1F7C03A3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52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Assets reused from the user-provided source deck.[/Sources]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uploaded Product-Variant-Block-Build-Guide.pptx (user-provided)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81160" y="64190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• Experience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refly_variant_work/assets/hero.png"/>
          <p:cNvPicPr>
            <a:picLocks noChangeAspect="1"/>
          </p:cNvPicPr>
          <p:nvPr/>
        </p:nvPicPr>
        <p:blipFill>
          <a:blip r:embed="rId3"/>
          <a:srcRect l="6333" r="6333"/>
          <a:stretch/>
        </p:blipFill>
        <p:spPr>
          <a:xfrm>
            <a:off x="5995686" y="0"/>
            <a:ext cx="619326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02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Adobe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8368" y="1078992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PRODUCT-VARIANT BLOCK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88366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Contextual product photo variants via Firefly Structure Reference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296265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AEM Edge Delivery Services • internal developer walkthrough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5074920"/>
            <a:ext cx="2331720" cy="310896"/>
          </a:xfrm>
          <a:prstGeom prst="roundRect">
            <a:avLst>
              <a:gd name="adj" fmla="val 47059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512978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 → VARIANT → DAM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" y="55595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E5E7EB"/>
                </a:solidFill>
              </a:rPr>
              <a:t>Keep the product recognizable. Change the context.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1 •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Turn one product photo into many contextual variants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source image anchors shape + composition while the prompt controls the scene.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017520" cy="3977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firefly_variant_work/media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66544"/>
            <a:ext cx="2267712" cy="2267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45171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SOURCE PRODUCT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4818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Existing product photo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5239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Required reference field in the block.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13048" y="3383280"/>
            <a:ext cx="594360" cy="594360"/>
          </a:xfrm>
          <a:prstGeom prst="chevron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98848" y="1874520"/>
            <a:ext cx="3246120" cy="3977640"/>
          </a:xfrm>
          <a:prstGeom prst="roundRect">
            <a:avLst>
              <a:gd name="adj" fmla="val 5070"/>
            </a:avLst>
          </a:prstGeom>
          <a:solidFill>
            <a:srgbClr val="FFF8F7"/>
          </a:solidFill>
          <a:ln w="12700">
            <a:solidFill>
              <a:srgbClr val="FECAC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36592" y="2139696"/>
            <a:ext cx="2377440" cy="310896"/>
          </a:xfrm>
          <a:prstGeom prst="roundRect">
            <a:avLst>
              <a:gd name="adj" fmla="val 47059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9744" y="2194560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FIREFLY STRUCTURE REFERENCE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36592" y="27614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</a:rPr>
              <a:t>Preserve the silhouette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</a:rPr>
              <a:t>Change the context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736592" y="3895344"/>
            <a:ext cx="82296" cy="8229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01184" y="38221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Seasonal / promotional scenes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36592" y="4407408"/>
            <a:ext cx="82296" cy="8229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01184" y="4334256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Regional / lifestyle scenes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36592" y="4919472"/>
            <a:ext cx="82296" cy="8229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01184" y="484632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Same Firefly credentials as ai-image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6720" y="1874520"/>
            <a:ext cx="3584448" cy="397764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84464" y="21396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WHAT THE AUTHOR GETS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84464" y="2651760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84464" y="27249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887968" y="2670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Pick product photo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84464" y="3520440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84464" y="35935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887968" y="3538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Write a variation prompt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84464" y="4389120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284464" y="44622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887968" y="4407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Preview + persist result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84464" y="52395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V1 explicitly chose Structure Reference. Generative Fill + Photoshop API was rejected for a separate entitlement/credential path.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2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The browser supplies the image; the Worker owns the Firefly 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critical boundary: multipart upload in, image bytes out.</a:t>
            </a:r>
            <a:endParaRPr lang="en-US" sz="1400" dirty="0"/>
          </a:p>
        </p:txBody>
      </p:sp>
      <p:pic>
        <p:nvPicPr>
          <p:cNvPr id="5" name="Image 0" descr="/mnt/data/firefly_variant_work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04" y="1847088"/>
            <a:ext cx="10822488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48640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Key detail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19072" y="5486400"/>
            <a:ext cx="954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The Worker uploads the source photo to Firefly storage first, receives an uploadId, then passes that id as structure.imageReference.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1251B"/>
                </a:solidFill>
                <a:latin typeface="Arial"/>
              </a:rPr>
              <a:t>ARCHITECTURE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Arial"/>
              </a:rPr>
              <a:t>Why use a Worker for the Firefly integration?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Arial"/>
              </a:rPr>
              <a:t>The Worker is the secure integration boundary between the EDS block and Firefly Services.</a:t>
            </a:r>
          </a:p>
        </p:txBody>
      </p:sp>
      <p:pic>
        <p:nvPicPr>
          <p:cNvPr id="6" name="Picture 5" descr="worker_adva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7320"/>
            <a:ext cx="11155680" cy="54383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6199632"/>
            <a:ext cx="1078992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Key tradeoff: EDS and Worker are separate deploy targets — git push does not redeploy the Worker.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4DAC97-E772-9403-343E-5B1F7C03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86" y="429016"/>
            <a:ext cx="10367319" cy="583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6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3 • STEP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Keep the authoring model intentionally small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xwalk caps a block at four top-level fields; fold advanced guidance into the prompt rather than adding more controls.</a:t>
            </a:r>
            <a:endParaRPr lang="en-US" sz="1400" dirty="0"/>
          </a:p>
        </p:txBody>
      </p:sp>
      <p:pic>
        <p:nvPicPr>
          <p:cNvPr id="5" name="Image 0" descr="/mnt/data/firefly_variant_work/assets/auth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56967"/>
            <a:ext cx="5532120" cy="30242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82512" y="1828800"/>
            <a:ext cx="5230368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38544" y="2084832"/>
            <a:ext cx="1097280" cy="310896"/>
          </a:xfrm>
          <a:prstGeom prst="roundRect">
            <a:avLst>
              <a:gd name="adj" fmla="val 4705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11696" y="213969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 FIELDS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56832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productImage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58784" y="25786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reference • required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56832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source product photo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56832" y="33284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prompt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58784" y="33284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richtext • required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56832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what should change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56832" y="40782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aspectRatio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58784" y="40782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select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56832" y="43342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1024×1024 / 1344×768 / 768×1344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56832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resultImage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58784" y="4828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A0F00"/>
                </a:solidFill>
              </a:rPr>
              <a:t>reference • programmatic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56832" y="5084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generated variant; never picked by author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656832" y="5669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Design lesson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08392" y="56327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variationType + strength were removed from the authoring UI to stay under the four-cell limit.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4 • STEP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Upload once, then generate with Structure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route differs from the JSON-based ai-image route because the source photo travels as multipart form data.</a:t>
            </a:r>
            <a:endParaRPr lang="en-US" sz="1400" dirty="0"/>
          </a:p>
        </p:txBody>
      </p:sp>
      <p:pic>
        <p:nvPicPr>
          <p:cNvPr id="5" name="Image 0" descr="/mnt/data/firefly_variant_work/assets/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425" y="1856232"/>
            <a:ext cx="6805246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96512"/>
            <a:ext cx="11064240" cy="1664208"/>
          </a:xfrm>
          <a:prstGeom prst="roundRect">
            <a:avLst>
              <a:gd name="adj" fmla="val 87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107350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uploadImageToFirefly(bytes, mimeType, env)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await getFireflyToken(env);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fetch('https://firefly-api.adobe.io/v2/storage/image',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'POST',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'Content-Type': mimeType,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Authorization: `Bearer ${token}`, 'x-api-key': env.FIREFLY_CLIENT_ID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bytes,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(await res.json()).images[0].id; // uploadId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generate: structure.imageReference.source.uploadId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" y="5943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Reuse getFireflyToken() — do not duplicate the IMS auth flow.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44768" y="59436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A0F00"/>
                </a:solidFill>
              </a:rPr>
              <a:t>Security boundary: client_secret remains in Worker secrets; only the rendered image bytes return to the browser.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5 • STEP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Render the right state: source, result, or neither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Two image reference fields mean the block must distinguish the persisted result from the original product photo.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56232"/>
            <a:ext cx="3401568" cy="356616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0848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1396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 EXISTS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Show persisted variant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" y="342900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render resultImage and stop — this is also what published pages use.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resultPicture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56232"/>
            <a:ext cx="3401568" cy="356616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8848" y="20848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1396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EDITOR / NO 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98848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Generate from source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98848" y="342900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read productImage + prompt + size, then call the Worker.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sourcePicture → Worker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28432" y="1856232"/>
            <a:ext cx="3401568" cy="356616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20848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2752" y="21396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PUBLISHED / NO RESULT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Show original product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342900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no UE resource → fall back to source so the page is never empty.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901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sourcePicture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Implementation detail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92224" y="566928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Field lookup is positional: productImage = 1, prompt = 2, aspectRatio = 3, resultImage = 4.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6 • STEP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Auto-generate, then persist to AEM DAM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1.2s debounce prevents a Firefly call on every keystroke; shared DAM helpers remove duplicate code.</a:t>
            </a:r>
            <a:endParaRPr lang="en-US" sz="1400" dirty="0"/>
          </a:p>
        </p:txBody>
      </p:sp>
      <p:pic>
        <p:nvPicPr>
          <p:cNvPr id="5" name="Image 0" descr="/mnt/data/firefly_variant_work/assets/pers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425" y="1828800"/>
            <a:ext cx="6805246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41648"/>
            <a:ext cx="5486400" cy="1700784"/>
          </a:xfrm>
          <a:prstGeom prst="roundRect">
            <a:avLst>
              <a:gd name="adj" fmla="val 86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151376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sourceBlob = await (await fetch(sourceImg.src,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credentials: 'include' })).blob();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new FormData();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form.append('image', sourceBlob, 'product.jpg');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form.append('prompt', prompt);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form.append('size', size);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44768" y="4041648"/>
            <a:ext cx="5486400" cy="1700784"/>
          </a:xfrm>
          <a:prstGeom prst="roundRect">
            <a:avLst>
              <a:gd name="adj" fmla="val 86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4151376"/>
            <a:ext cx="51572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blob = await (await fetch(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`${EDGE_ORIGIN}/api/firefly/generate-variant`,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method: 'POST', body: form })).blob();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assetPath = await uploadToDam(blob, mimeType,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csrfToken, 'product-variant');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patchBlockImage(resourcePath, 'resultImage',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assetPath, csrfToken);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" y="600760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Shared helper extraction: getCsrfToken(), uploadToDam(), patchBlockImage() now live in scripts/dam-persist.js.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7 • STEPS 5–6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Registration and deployment are two different paths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push updates the EDS code bus. A Worker route update requires wrangler deploy.</a:t>
            </a:r>
            <a:endParaRPr lang="en-US" sz="1400" dirty="0"/>
          </a:p>
        </p:txBody>
      </p:sp>
      <p:pic>
        <p:nvPicPr>
          <p:cNvPr id="5" name="Image 0" descr="/mnt/data/firefly_variant_work/assets/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34" y="1828800"/>
            <a:ext cx="7846828" cy="1874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5321808" cy="166420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6384" y="4105656"/>
            <a:ext cx="1078992" cy="329184"/>
          </a:xfrm>
          <a:prstGeom prst="roundRect">
            <a:avLst>
              <a:gd name="adj" fmla="val 41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4178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REGISTER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Exact block id: product-variant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Add id to each relevant section filter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npm run build:json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63056" y="3931920"/>
            <a:ext cx="5468112" cy="1664208"/>
          </a:xfrm>
          <a:prstGeom prst="roundRect">
            <a:avLst>
              <a:gd name="adj" fmla="val 9890"/>
            </a:avLst>
          </a:prstGeom>
          <a:solidFill>
            <a:srgbClr val="FFF8F7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0" y="4105656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4178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461772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git push → EDS code bus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npm run deploy:edge → Cloudflare Worker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curl Worker route before 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8 • REAL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One racquet, two product stories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source silhouette stays recognizable while the context shifts from holiday retail to summer lifestyle.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017520" cy="4160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firefly_variant_work/media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84832"/>
            <a:ext cx="246888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" y="4773168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482803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" y="5193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Original product photo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867912" y="1874520"/>
            <a:ext cx="36576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firefly_variant_work/media/ppt/media/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84832"/>
            <a:ext cx="2468880" cy="2468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78224" y="4773168"/>
            <a:ext cx="987552" cy="310896"/>
          </a:xfrm>
          <a:prstGeom prst="roundRect">
            <a:avLst>
              <a:gd name="adj" fmla="val 47059"/>
            </a:avLst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51376" y="48280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VARIANT 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078224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“Christmas edition with festive wrapping”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927848" y="1874520"/>
            <a:ext cx="36576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mnt/data/firefly_variant_work/media/ppt/media/image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84832"/>
            <a:ext cx="2468880" cy="2468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38160" y="4773168"/>
            <a:ext cx="987552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211312" y="48280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VARIANT B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138160" y="5193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“On a beach in summer with sunshine and palm trees”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9 • LESSONS LEARNED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Where the implementation actually failed — and what fixed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The highest-value lessons are about boundaries: field limits, code sync, exact ids, and separate Worker deployment.</a:t>
            </a:r>
            <a:endParaRPr lang="en-US" sz="1400" dirty="0"/>
          </a:p>
        </p:txBody>
      </p:sp>
      <p:pic>
        <p:nvPicPr>
          <p:cNvPr id="5" name="Image 0" descr="/mnt/data/firefly_variant_work/assets/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84248"/>
            <a:ext cx="6720840" cy="40325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16368" y="1828800"/>
            <a:ext cx="411480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54112" y="2084832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27264" y="2139696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BEST-PRACTICE CHECKLIST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0" y="264261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01000" y="26151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≤ 4 authoring fields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7772400" y="300837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01000" y="29809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Reuse cached IMS auth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772400" y="337413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01000" y="33467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Use field positions for dual-image state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373989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01000" y="37124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Debounce + in-flight guard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772400" y="410565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01000" y="40782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Share DAM persistence helpers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7772400" y="447141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001000" y="44439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Exact block id in every filter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772400" y="483717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01000" y="48097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git push AND wrangler deploy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772400" y="5202936"/>
            <a:ext cx="128016" cy="128016"/>
          </a:xfrm>
          <a:prstGeom prst="ellipse">
            <a:avLst/>
          </a:prstGeom>
          <a:solidFill>
            <a:srgbClr val="FA0F00"/>
          </a:solidFill>
          <a:ln w="12700">
            <a:solidFill>
              <a:srgbClr val="FA0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001000" y="51755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curl Worker before UE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7772400" y="5559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0F00"/>
                </a:solidFill>
              </a:rPr>
              <a:t>Outcome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13648" y="552297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</a:rPr>
              <a:t>A reusable EDS pattern for turning existing product imagery into contextual variants without exposing Firefly credentials.</a:t>
            </a:r>
            <a:endParaRPr lang="en-US" sz="11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1179</Words>
  <Application>Microsoft Macintosh PowerPoint</Application>
  <PresentationFormat>Widescreen</PresentationFormat>
  <Paragraphs>169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product-variant Block — Firefly Structure Reference</dc:title>
  <dc:subject>Product Variant EDS block using Firefly Structure Reference</dc:subject>
  <dc:creator>Adobe</dc:creator>
  <cp:lastModifiedBy>Franck Sevin</cp:lastModifiedBy>
  <cp:revision>1</cp:revision>
  <dcterms:created xsi:type="dcterms:W3CDTF">2026-08-17T12:37:36Z</dcterms:created>
  <dcterms:modified xsi:type="dcterms:W3CDTF">2026-08-20T07:29:49Z</dcterms:modified>
</cp:coreProperties>
</file>