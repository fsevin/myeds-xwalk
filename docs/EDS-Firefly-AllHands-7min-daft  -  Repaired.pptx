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3.jpg" ContentType="image/jpg"/>
  <Override PartName="/ppt/media/image4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87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tennis generated hero image: /mnt/data/eds_firefly_work/tennis-generated-hero.png
Story framing based on user-provided EDS + Firefly use-case and implementation decks.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authoring screenshot: /mnt/data/Screenshot 2026-09-11 at 14.05.14.png
User-provided ai-image implementation states that prompt + aspect ratio drive generation and the generated image is persisted in AEM DAM: uploaded ai-image Block deck, lines 227–251 and 133–164.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EDS Edge Function guide describes the Worker as a secure API proxy, handling CORS, caching and secrets: uploaded EDS-EdgeFunction-Guide deck, lines 51–62.
User-provided ai-image implementation describes request path authoring → Worker → preview → DAM → persisted render: uploaded ai-image deck, lines 171–217.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business use cases: e-commerce/retail, marketing personalization, multi-market localization, editorial, A/B testing, real-time events: uploaded adobe-eds-firefly-use-cases deck, lines 36–54, 64–96, 106–110.
User-provided product-variant visuals: uploaded Product-Variant-Block-Firefly-Redesigned deck, lines 253–270.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ai-image implementation explicitly contrasts persist-once rendering with calling Firefly on every render: uploaded ai-image Block deck, lines 133–164.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Product Variant deck: source image becomes a Firefly Structure Reference and the Worker owns the Firefly call; uploaded deck, lines 86–90.
User-provided example shows one racquet generating Christmas and summer variants; uploaded deck, lines 253–270.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live authoring screenshot from the tennis sample page: /mnt/data/Screenshot 2026-09-11 at 14.05.14.png
Demo flow grounded in the user-provided ai-image implementation deck and Product Variant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OB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0914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685800"/>
            <a:ext cx="73152" cy="10972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9808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EDS + FIREFLY API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2344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From prompt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to publish.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49808" y="3108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8D8D8"/>
                </a:solidFill>
              </a:rPr>
              <a:t>A simple idea for the contributor.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D8D8D8"/>
                </a:solidFill>
              </a:rPr>
              <a:t>A reusable integration pattern for the customer.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9808" y="56509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Prompt → Firefly → DAM → EDS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2520" y="61447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TENNIS CLUB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E4DBA5-BDFD-C245-1876-8166175D5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7800"/>
            <a:ext cx="65024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E50914"/>
                </a:solidFill>
              </a:rPr>
              <a:t>THE 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</a:rPr>
              <a:t>The contributor writes the prompt — right where the page is authored.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F6F6F"/>
                </a:solidFill>
              </a:rPr>
              <a:t>No hand-off to a creative tool. No asset hunting. The visual is generated inside the block.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10972800" cy="4187952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Screenshot 2026-09-11 at 14.05.14.png"/>
          <p:cNvPicPr>
            <a:picLocks noChangeAspect="1"/>
          </p:cNvPicPr>
          <p:nvPr/>
        </p:nvPicPr>
        <p:blipFill>
          <a:blip r:embed="rId3"/>
          <a:srcRect t="15958" b="15958"/>
          <a:stretch/>
        </p:blipFill>
        <p:spPr>
          <a:xfrm>
            <a:off x="713232" y="1938528"/>
            <a:ext cx="10735056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2212848"/>
            <a:ext cx="3035808" cy="502920"/>
          </a:xfrm>
          <a:prstGeom prst="roundRect">
            <a:avLst>
              <a:gd name="adj" fmla="val 21818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62672" y="235915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CONTRIBUTOR PROMPT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98080" y="2697480"/>
            <a:ext cx="0" cy="548640"/>
          </a:xfrm>
          <a:prstGeom prst="line">
            <a:avLst/>
          </a:prstGeom>
          <a:noFill/>
          <a:ln w="2921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29000" y="4800600"/>
            <a:ext cx="29718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</a:rPr>
              <a:t>02  FIREFLY GENERATED IMAGE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92040" y="4782312"/>
            <a:ext cx="274320" cy="0"/>
          </a:xfrm>
          <a:prstGeom prst="line">
            <a:avLst/>
          </a:prstGeom>
          <a:noFill/>
          <a:ln w="2921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3232" y="61996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</a:rPr>
              <a:t>The author sees the result immediately.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24928" y="6108192"/>
            <a:ext cx="324612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16368" y="61722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</a:rPr>
              <a:t>PROMPT → GENERATE → PREVIEW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E50914"/>
                </a:solidFill>
              </a:rPr>
              <a:t>THE RALLY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</a:rPr>
              <a:t>Five touches. One clean integration boundary.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F6F6F"/>
                </a:solidFill>
              </a:rPr>
              <a:t>The browser never owns the Firefly secret — the Edge Function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1755648" cy="1353312"/>
          </a:xfrm>
          <a:prstGeom prst="roundRect">
            <a:avLst>
              <a:gd name="adj" fmla="val 8108"/>
            </a:avLst>
          </a:prstGeom>
          <a:solidFill>
            <a:srgbClr val="F7F7F7"/>
          </a:solidFill>
          <a:ln w="1524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" y="2404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</a:rPr>
              <a:t>1  EDS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" y="295351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F6F6F"/>
                </a:solidFill>
              </a:rPr>
              <a:t>prompt + page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916936"/>
            <a:ext cx="457200" cy="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80360" y="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2240280"/>
            <a:ext cx="1755648" cy="1353312"/>
          </a:xfrm>
          <a:prstGeom prst="roundRect">
            <a:avLst>
              <a:gd name="adj" fmla="val 8108"/>
            </a:avLst>
          </a:prstGeom>
          <a:solidFill>
            <a:srgbClr val="FFF5F5"/>
          </a:solidFill>
          <a:ln w="25400">
            <a:solidFill>
              <a:srgbClr val="E50914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6664" y="2404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0914"/>
                </a:solidFill>
              </a:rPr>
              <a:t>2  EDGE FUNCTION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6664" y="295351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F6F6F"/>
                </a:solidFill>
              </a:rPr>
              <a:t>secure API boundary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916936"/>
            <a:ext cx="457200" cy="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57800" y="2240280"/>
            <a:ext cx="1755648" cy="1353312"/>
          </a:xfrm>
          <a:prstGeom prst="roundRect">
            <a:avLst>
              <a:gd name="adj" fmla="val 8108"/>
            </a:avLst>
          </a:prstGeom>
          <a:solidFill>
            <a:srgbClr val="F7F7F7"/>
          </a:solidFill>
          <a:ln w="1524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04104" y="2404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400"/>
                </a:solidFill>
              </a:rPr>
              <a:t>3  FIREFLY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04104" y="295351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F6F6F"/>
                </a:solidFill>
              </a:rPr>
              <a:t>generate image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2916936"/>
            <a:ext cx="457200" cy="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2240280"/>
            <a:ext cx="1755648" cy="1353312"/>
          </a:xfrm>
          <a:prstGeom prst="roundRect">
            <a:avLst>
              <a:gd name="adj" fmla="val 8108"/>
            </a:avLst>
          </a:prstGeom>
          <a:solidFill>
            <a:srgbClr val="F7F7F7"/>
          </a:solidFill>
          <a:ln w="1524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81544" y="2404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8F5A"/>
                </a:solidFill>
              </a:rPr>
              <a:t>4  AEM DAM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81544" y="295351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F6F6F"/>
                </a:solidFill>
              </a:rPr>
              <a:t>persist the asset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18320" y="2916936"/>
            <a:ext cx="457200" cy="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12680" y="0"/>
            <a:ext cx="0" cy="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12680" y="2240280"/>
            <a:ext cx="1755648" cy="1353312"/>
          </a:xfrm>
          <a:prstGeom prst="roundRect">
            <a:avLst>
              <a:gd name="adj" fmla="val 8108"/>
            </a:avLst>
          </a:prstGeom>
          <a:solidFill>
            <a:srgbClr val="F7F7F7"/>
          </a:solidFill>
          <a:ln w="1524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58984" y="2404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75B9"/>
                </a:solidFill>
              </a:rPr>
              <a:t>5  EDS PAGE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58984" y="295351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F6F6F"/>
                </a:solidFill>
              </a:rPr>
              <a:t>render the hero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97480" y="4069080"/>
            <a:ext cx="2157984" cy="713232"/>
          </a:xfrm>
          <a:prstGeom prst="roundRect">
            <a:avLst>
              <a:gd name="adj" fmla="val 17949"/>
            </a:avLst>
          </a:prstGeom>
          <a:solidFill>
            <a:srgbClr val="FFF5F5"/>
          </a:solidFill>
          <a:ln w="1778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43784" y="4224528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0914"/>
                </a:solidFill>
              </a:rPr>
              <a:t>SECRET STAYS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50914"/>
                </a:solidFill>
              </a:rPr>
              <a:t>IMS / client credentials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4069080"/>
            <a:ext cx="0" cy="0"/>
          </a:xfrm>
          <a:prstGeom prst="line">
            <a:avLst/>
          </a:prstGeom>
          <a:noFill/>
          <a:ln w="2159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52852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E1E"/>
                </a:solidFill>
              </a:rPr>
              <a:t>Same pattern works for hero generation, product variants, localization and campaign moments.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3246120" y="5815584"/>
            <a:ext cx="5705856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37560" y="5879592"/>
            <a:ext cx="5522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0914"/>
                </a:solidFill>
              </a:rPr>
              <a:t>EDGE = SECURITY + CORS + API ORCHESTRATION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E50914"/>
                </a:solidFill>
              </a:rPr>
              <a:t>WHY CUSTOMERS CARE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</a:rPr>
              <a:t>One workflow. Many commercial plays.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F6F6F"/>
                </a:solidFill>
              </a:rPr>
              <a:t>The same integration pattern turns creative production into something closer to self-service.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450592" cy="33649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4041648"/>
            <a:ext cx="123444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0914"/>
                </a:solidFill>
              </a:rPr>
              <a:t>HERO IMAGE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3232" y="4507992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1E1E"/>
                </a:solidFill>
              </a:rPr>
              <a:t>Launch faster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" y="49011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Create the visual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where the page is built.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38144" y="1965960"/>
            <a:ext cx="2450592" cy="33649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mnt/data/eds_firefly_visual/ppt/media/image8.jpg"/>
          <p:cNvPicPr>
            <a:picLocks noChangeAspect="1"/>
          </p:cNvPicPr>
          <p:nvPr/>
        </p:nvPicPr>
        <p:blipFill>
          <a:blip r:embed="rId3"/>
          <a:srcRect t="11194" b="11194"/>
          <a:stretch/>
        </p:blipFill>
        <p:spPr>
          <a:xfrm>
            <a:off x="3438144" y="1965960"/>
            <a:ext cx="2450592" cy="19019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584448" y="4041648"/>
            <a:ext cx="123444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675888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</a:rPr>
              <a:t>MERCHANDISING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84448" y="4507992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1E1E"/>
                </a:solidFill>
              </a:rPr>
              <a:t>More variants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84448" y="49011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Seasonal or regional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without a new shoot.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965960"/>
            <a:ext cx="2450592" cy="33649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mnt/data/eds_firefly_visual/ppt/media/image9.jpg"/>
          <p:cNvPicPr>
            <a:picLocks noChangeAspect="1"/>
          </p:cNvPicPr>
          <p:nvPr/>
        </p:nvPicPr>
        <p:blipFill>
          <a:blip r:embed="rId4"/>
          <a:srcRect t="11194" b="11194"/>
          <a:stretch/>
        </p:blipFill>
        <p:spPr>
          <a:xfrm>
            <a:off x="6309360" y="1965960"/>
            <a:ext cx="2450592" cy="190195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55664" y="4041648"/>
            <a:ext cx="123444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547104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</a:rPr>
              <a:t>LOCALIZATION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55664" y="4507992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1E1E"/>
                </a:solidFill>
              </a:rPr>
              <a:t>Localize the scene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55664" y="49011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Same page structure.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Different visual context.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180576" y="1965960"/>
            <a:ext cx="2450592" cy="33649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326879" y="4041648"/>
            <a:ext cx="1334421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418320" y="4105656"/>
            <a:ext cx="11424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</a:rPr>
              <a:t>EXPERIMENTATION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326880" y="4507992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1E1E"/>
                </a:solidFill>
              </a:rPr>
              <a:t>Test more ideas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326880" y="49011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Generate creative variants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</a:rPr>
              <a:t>before the next campaign.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66928" y="5605272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F7F7F7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58952" y="5797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</a:rPr>
              <a:t>Business result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965960" y="57424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E1E"/>
                </a:solidFill>
              </a:rPr>
              <a:t>lower visual production cost  •  faster time-to-market  •  more relevance per visitor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3497003-4046-9A12-88D3-BE54D9278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12" y="1975902"/>
            <a:ext cx="1855239" cy="18554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D6B6A6B-73B2-A5BE-EBBF-6CC998031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0209" y="1955486"/>
            <a:ext cx="1854071" cy="1854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E50914"/>
                </a:solidFill>
              </a:rPr>
              <a:t>THE KEY 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</a:rPr>
              <a:t>Generate once. Persist once. Render many.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F6F6F"/>
                </a:solidFill>
              </a:rPr>
              <a:t>That changes the economics of AI generation on a real website.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880360" cy="3200400"/>
          </a:xfrm>
          <a:prstGeom prst="roundRect">
            <a:avLst>
              <a:gd name="adj" fmla="val 5079"/>
            </a:avLst>
          </a:prstGeom>
          <a:solidFill>
            <a:srgbClr val="FFF8F8"/>
          </a:solidFill>
          <a:ln w="2032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E50914"/>
                </a:solidFill>
              </a:rPr>
              <a:t>AUTHORING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6334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</a:rPr>
              <a:t>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953512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6F6F"/>
                </a:solidFill>
              </a:rPr>
              <a:t>“Photorealistic tennis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F6F6F"/>
                </a:solidFill>
              </a:rPr>
              <a:t>hero at golden hour…”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0" cy="45720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</a:rPr>
              <a:t>Firefly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99432" y="2286000"/>
            <a:ext cx="2880360" cy="2468880"/>
          </a:xfrm>
          <a:prstGeom prst="roundRect">
            <a:avLst>
              <a:gd name="adj" fmla="val 5926"/>
            </a:avLst>
          </a:prstGeom>
          <a:solidFill>
            <a:srgbClr val="F7FBF7"/>
          </a:solidFill>
          <a:ln w="22860">
            <a:solidFill>
              <a:srgbClr val="4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02352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8F5A"/>
                </a:solidFill>
              </a:rPr>
              <a:t>AEM DAM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64608" y="437083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F6F"/>
                </a:solidFill>
              </a:rPr>
              <a:t>real asset • reusable • publishable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11880" y="3474720"/>
            <a:ext cx="987552" cy="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79792" y="3474720"/>
            <a:ext cx="859536" cy="0"/>
          </a:xfrm>
          <a:prstGeom prst="line">
            <a:avLst/>
          </a:prstGeom>
          <a:noFill/>
          <a:ln w="3048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339328" y="1920240"/>
            <a:ext cx="3200400" cy="3200400"/>
          </a:xfrm>
          <a:prstGeom prst="roundRect">
            <a:avLst>
              <a:gd name="adj" fmla="val 4571"/>
            </a:avLst>
          </a:prstGeom>
          <a:solidFill>
            <a:srgbClr val="F5F8FF"/>
          </a:solidFill>
          <a:ln w="19050">
            <a:solidFill>
              <a:srgbClr val="1D75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32520" y="22128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1D75B9"/>
                </a:solidFill>
              </a:rPr>
              <a:t>PUBLISHED PAGE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732520" y="4315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E1E"/>
                </a:solidFill>
              </a:rPr>
              <a:t>No Firefly call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1E1E"/>
                </a:solidFill>
              </a:rPr>
              <a:t>on every page view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3419856" y="5650992"/>
            <a:ext cx="534924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511296" y="571500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</a:rPr>
              <a:t>PERSIST ONCE → RENDER MANY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59F49CC-6943-1E07-0352-D6A798FC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75" y="2953512"/>
            <a:ext cx="1396442" cy="13964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8C159D-C582-B0BE-0A18-C9838AD41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2594523"/>
            <a:ext cx="1396442" cy="13964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E50914"/>
                </a:solidFill>
              </a:rPr>
              <a:t>A PATTERN — NOT A ONE-OFF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</a:rPr>
              <a:t>Start simple. Then add context.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F6F6F"/>
                </a:solidFill>
              </a:rPr>
              <a:t>The first win is a generated hero. The next step is product-aware generation with Structure Reference.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9184" y="1794133"/>
            <a:ext cx="365760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E50914"/>
                </a:solidFill>
              </a:rPr>
              <a:t>STEP 1 — HERO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</a:rPr>
              <a:t>Contributor writes a prompt.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</a:rPr>
              <a:t>The block generates the page hero.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53712" y="1874520"/>
            <a:ext cx="7040880" cy="4160520"/>
          </a:xfrm>
          <a:prstGeom prst="roundRect">
            <a:avLst>
              <a:gd name="adj" fmla="val 3077"/>
            </a:avLst>
          </a:prstGeom>
          <a:solidFill>
            <a:srgbClr val="F9F9F9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8032" y="21488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1E1E1E"/>
                </a:solidFill>
              </a:rPr>
              <a:t>STEP 2 — PRODUCT-AWARE VARIANT</a:t>
            </a:r>
            <a:endParaRPr lang="en-US" sz="1100" dirty="0"/>
          </a:p>
        </p:txBody>
      </p:sp>
      <p:pic>
        <p:nvPicPr>
          <p:cNvPr id="11" name="Image 1" descr="/mnt/data/eds_firefly_visual/ppt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8032" y="2542032"/>
            <a:ext cx="1993392" cy="1993392"/>
          </a:xfrm>
          <a:prstGeom prst="rect">
            <a:avLst/>
          </a:prstGeom>
        </p:spPr>
      </p:pic>
      <p:pic>
        <p:nvPicPr>
          <p:cNvPr id="12" name="Image 2" descr="/mnt/data/eds_firefly_visual/ppt/media/image8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0880" y="2542032"/>
            <a:ext cx="1993392" cy="1993392"/>
          </a:xfrm>
          <a:prstGeom prst="rect">
            <a:avLst/>
          </a:prstGeom>
        </p:spPr>
      </p:pic>
      <p:pic>
        <p:nvPicPr>
          <p:cNvPr id="13" name="Image 3" descr="/mnt/data/eds_firefly_visual/ppt/media/image9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53728" y="2542032"/>
            <a:ext cx="1993392" cy="199339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839712" y="3538728"/>
            <a:ext cx="201168" cy="0"/>
          </a:xfrm>
          <a:prstGeom prst="line">
            <a:avLst/>
          </a:prstGeom>
          <a:noFill/>
          <a:ln w="2667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9052560" y="3538728"/>
            <a:ext cx="201168" cy="0"/>
          </a:xfrm>
          <a:prstGeom prst="line">
            <a:avLst/>
          </a:prstGeom>
          <a:noFill/>
          <a:ln w="26670">
            <a:solidFill>
              <a:srgbClr val="E509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7077456" y="47183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</a:rPr>
              <a:t>Same product silhouette.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</a:rPr>
              <a:t>New story for the campaign.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7662672" y="5532120"/>
            <a:ext cx="2057400" cy="347472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651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54112" y="5596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0914"/>
                </a:solidFill>
              </a:rPr>
              <a:t>STRUCTURE REFERENCE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D74A50-D996-06BB-9525-CEC1B8040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85" y="2575769"/>
            <a:ext cx="2017357" cy="20173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50914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Tennis Club: let’s play it live.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D8D8"/>
                </a:solidFill>
              </a:rPr>
              <a:t>Watch for three moments: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2148840"/>
            <a:ext cx="438912" cy="43891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224942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21396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777"/>
                </a:solidFill>
              </a:rPr>
              <a:t>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67712" y="2139696"/>
            <a:ext cx="2866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</a:rPr>
              <a:t>contributor describes the hero or variant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" y="3136392"/>
            <a:ext cx="438912" cy="438912"/>
          </a:xfrm>
          <a:prstGeom prst="ellipse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" y="3236976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3127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31272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</a:rPr>
              <a:t>Firefly returns the visual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" y="4123944"/>
            <a:ext cx="438912" cy="438912"/>
          </a:xfrm>
          <a:prstGeom prst="ellipse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" y="4224528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67712" y="4114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</a:rPr>
              <a:t>AEM DAM becomes the source of truth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42432" y="868680"/>
            <a:ext cx="5879592" cy="4709160"/>
          </a:xfrm>
          <a:prstGeom prst="roundRect">
            <a:avLst>
              <a:gd name="adj" fmla="val 2718"/>
            </a:avLst>
          </a:prstGeom>
          <a:solidFill>
            <a:srgbClr val="181A1F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/mnt/data/Screenshot 2026-09-11 at 14.05.14.png"/>
          <p:cNvPicPr>
            <a:picLocks noChangeAspect="1"/>
          </p:cNvPicPr>
          <p:nvPr/>
        </p:nvPicPr>
        <p:blipFill>
          <a:blip r:embed="rId3"/>
          <a:srcRect l="13867" r="13867"/>
          <a:stretch/>
        </p:blipFill>
        <p:spPr>
          <a:xfrm>
            <a:off x="5870448" y="987552"/>
            <a:ext cx="5623560" cy="391363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79208" y="5010912"/>
            <a:ext cx="2651760" cy="347472"/>
          </a:xfrm>
          <a:prstGeom prst="roundRect">
            <a:avLst>
              <a:gd name="adj" fmla="val 36842"/>
            </a:avLst>
          </a:prstGeom>
          <a:solidFill>
            <a:srgbClr val="0F1115"/>
          </a:solidFill>
          <a:ln w="1651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70648" y="5074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0914"/>
                </a:solidFill>
              </a:rPr>
              <a:t>PROMPT → FIREFLY → DAM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61888" y="57332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Then we’ll switch to the live EDS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0548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dobe Clean"/>
                <a:ea typeface="Adobe Clean"/>
                <a:cs typeface="Adobe Cle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dobe Cle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dobe Cle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782</Words>
  <Application>Microsoft Macintosh PowerPoint</Application>
  <PresentationFormat>Widescreen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Adobe Clean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EDS + Firefly API — From Prompt to Publish</dc:title>
  <dc:subject>EDS + Firefly API</dc:subject>
  <dc:creator>Adobe</dc:creator>
  <cp:lastModifiedBy>Franck Sevin</cp:lastModifiedBy>
  <cp:revision>3</cp:revision>
  <dcterms:created xsi:type="dcterms:W3CDTF">2026-09-11T12:14:20Z</dcterms:created>
  <dcterms:modified xsi:type="dcterms:W3CDTF">2026-09-11T13:17:22Z</dcterms:modified>
</cp:coreProperties>
</file>